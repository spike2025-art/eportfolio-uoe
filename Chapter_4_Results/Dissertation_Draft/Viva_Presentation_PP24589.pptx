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[00:00–00:30]
Open with a direct statement, not a preamble:
"This dissertation asks one question: why do machine learning models for banking crisis prediction fail when tested under genuinely prospective conditions? Not whether they fail — we know they do — but precisely how and through what mechanism. I will show you the answer using a model class that makes the failure directly visible."
Timing: 30 seconds. Move immediately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(The Problem) [00:30–01:30]
"The EWS literature established a clear empirical fact: ML models fail under prospective validation. Beutel and colleagues set the benchmark at AUROC 0.75 — models trained exclusively on pre-crisis data consistently miss it. But the literature stopped at documenting the failure. It did not explain the mechanism, and it did not test whether interpretable models behave differently from opaque ones.
That is the gap this dissertation fills. Three specific absences motivated the design: no mechanism account, no interpretability test, and no clean separation of algorithm from sentiment.
GRAPH TO ADD: A simple timeline or two-panel schematic showing expanding-window vs strict temporal validation designs — showing how expanding-window allows GFC data to leak into training folds."
Timing: 60 seconds. Do not read bullets — summarise.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 &amp; Design) [01:30–02:30]
"The dataset is the JST Macrohistory Database R6 — 18 advanced economies, 1985 to 2020. After lag construction and burn-in, Stage 1 covers 569 country-year observations with 37 crisis events at a base rate of 6.5 percent. Stage 2 — where FinBERT speech sentiment is available — covers 2003 to 2020, 26 crisis events at 8.15 percent.
The key design decision is the model sequence. M1 and M2 are standard benchmarks. M3 adds FinBERT sentiment. But the novel addition is M2.5 — the Explainable Boosting Machine. EBM sits between M2 and M3: it uses the same 41 macro features as M2 but a fundamentally different algorithm that learns shape functions rather than trees. This allows me to isolate the algorithm effect from the sentiment effect — and crucially, to make the failure mechanism directly visible, which no other model in the sequence can do.
GRAPH TO ADD: Figure showing the two-stage pipeline structure — extending panel 1985–2020 for Stage 1, 2003–2020 for Stage 2 with FinBERT overlap."
Timing: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(Main Results) [02:30–04:00]
"Here is the central empirical paradox. In expanding-window evaluation, EBM leads every other model: Stage 1 AUROC 0.753, Stage 2 AUPRC 0.532 — the highest point estimate of any model in any stage. It appears to have solved the trade-off between interpretability and performance. Then I apply strict temporal validation — training exclusively on pre-GFC data, testing on 2003 to 2011 — and EBM collapses to AUROC 0.333. Not just below the 0.75 benchmark. Below random. And worse than Random Forest, which reaches 0.481.
This is not a numerical curiosity. It is the most important finding in the dissertation: the model with the highest in-sample interpretability and performance fails most severely when the regime changes. The question is why — and the answer is on the next slide.
Important caveat: Split B has only 6 training positives. The collapse is diagnostic, not conclusive. But it is consistent with a structural explanation, not just sample thinness.
GRAPH TO ADD: Figure 4.1 (ROC/PR curves Stage 1 and Stage 2) or a simple two-panel bar chart comparing expanding-window vs strict temporal AUROC for M2 and EBM."
Timing: 90 seconds. Pause on the 0.333 figure.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(Shape Functions) [04:00–05:30]
"This slide contains the dissertation's most theoretically significant finding. I trained EBM twice — on a pre-GFC window 2003 to 2006, and on a GFC-inclusive window 2003 to 2010. I then plotted the shape functions for the same features side by side.
Look at term_spread_lag3 — the single highest-ranked EBM feature with native importance of 1.717. In the pre-GFC window, the model learns a monotonically increasing risk relationship: higher spreads signal higher crisis risk. In the GFC-inclusive window, that relationship reverses at high spread values. The two curves cross. The same feature value is associated with reduced risk in one regime and increased risk in the other.
Now — this matters precisely BECAUSE it is EBM. If I had done this with SHAP on a Random Forest, I would not know whether the difference reflects genuine model change or SHAP approximation error. With EBM, there is no approximation. The shape function IS the model parameter. So this instability is direct evidence of non-stationarity in the data-generating process.
And here is the critical link to the AUROC collapse: the model trained on pre-GFC data applies the blue-line relationships to GFC observations. It gets the sign wrong on the dominant feature. Systematic errors follow. AUROC falls to 0.333.
The panel logistic regression confirms this from a completely independent framework — sign reversal at exactly the same lag horizons.
GRAPH TO ADD: Figure 4.7 directly. This slide is designed to hold it on the left. Paste the six-panel figure directly — it is the most important visual in the dissertation."
Timing: 90 seconds. Point to the crossing of the curves. This is the one slide where you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(Sentiment &amp; Ensemble) [05:30–07:00]
"Three hypotheses, three verdicts.
H1: M3 achieves AUPRC 0.411 against M2-matched's 0.343 — directionally positive. But the bootstrap confidence interval spans zero, and the more important comparison is EBM macro-only at 0.532 versus M3 at 0.411. The interpretable macro-only model outperforms the sentiment-augmented one. This tells us the Stage 2 differences are at least as sensitive to algorithm choice as to the sentiment signal.
H2: No sentiment feature appears in the top 20 by EBM native importance. SHAP attributes 73.8 percent of aggregate importance to macro features. Sentiment is a sample-specific correlation within the 2007 cross-section — not a stable predictive channel.
H3: This is the most refined finding. The trade-off is not binary within the non-linear class. EBM achieves higher in-sample metrics than RF. But under prospective evaluation it collapses more severely. The same mechanism — representational flexibility — enables both the interpretability and the regime-specific overfitting. This is not a standard trade-off. It is a unified structural explanation.
The ensemble's best result is calibration: Brier Score 0.056, lowest of any configuration. But AUPRC falls below EBM standalone because averaging with the lower-performing M2-matched dilutes the signal.
GRAPH TO ADD: A simplified bar chart of AUPRC values across models: M2-matched 0.343, M3 0.411, EBM 0.532, E1-EBM 0.433. Simple horizontal bars, clearly shows EBM macro-only beats sentiment-augmented M3."
Timing: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(Conclusions) [07:00–08:30]
"Four conclusions that together form a single structural argument.
First: more data does not fix the problem. This is established by the strict temporal validation. Fifteen additional pre-GFC years including the Nordic crisis do not produce a model that generalises to the GFC.
Second: interpretability does not confer robustness. EBM is simultaneously more interpretable and better in-sample than RF, yet worse prospectively. This refines H3 — the trade-off is not a frontier you can navigate. Under regime shift, the very property that enables interpretability becomes a liability.
Third — and most importantly — EBM makes the failure mechanism directly visible. The shape function analysis converts an opaque performance collapse into a legible mechanistic explanation. This is the dissertation's novel contribution to the methodology of EWS research.
Fourth: sentiment is directional but unstable. The 6.8 percentage point AUPRC gain does not survive zero-crossing of the bootstrap CI, and the algorithm effect is at least as large as the sentiment effect.
The overarching conclusion: the binding constraint on EWS performance is structural non-stationarity in the data-generating process. Not model choice. Not feature engineering. Not data quantity.
GRAPH TO ADD: The 2007 case study ranking chart from §4.10.3 — showing EBM ranking by crisis type (Fundamental 0.695, No crisis 0.417, Contagion 0.298) illustrates the heterogeneity argument powerfully."
Timing: 90 seconds. Deliver the overarching conclusion slowly and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(Implications &amp; Close) [08:30–10:00]
"Four practical implications follow, each qualified by the evaluation constraints established in Chapter 4.
First: a single static classifier is not sufficient for an operational EWS. The regime discontinuity evidence implies a regime-classification layer is needed before a crisis-classification layer.
Second: EBM's value is diagnostic. Even if it cannot predict prospectively, it can tell a regulator that the model's learned mapping has shifted — which is information that SHAP on a black-box model cannot provide cleanly.
Third: the ensemble's main value is calibration. Brier Score 0.056 — the best of any configuration. This matters for systems that assign probability thresholds to trigger policy review.
Fourth: sentiment augmentation is not ready for operational deployment. The evidence is interesting and warrants further investigation across multiple structurally distinct crisis episodes.
The closing sentence of this dissertation captures everything: 'The central limitation of EWS is the absence of a stable mapping between predictors and crisis outcomes across regimes.' ML does not solve this problem. But used correctly — through EBM shape functions — it makes the problem directly visible. And that is a genuine contribution.
Thank you. I am happy to take questions."
Timing: 90 seconds. Deliver the closing sentence without looking at the slide. Memorise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REFERENCE — Full answers for 5-minute response window
════════════════════════════════════════════════════════════
Q1: "Split B has only 6 training positives. How can you draw meaningful conclusions?"
ANSWER: Acknowledge it directly — this is stated explicitly in the dissertation. Split B with 6 training positives cannot deliver statistically reliable estimates. The result is diagnostic and exploratory, not confirmatory. What it does is establish a direction consistent with the regime instability argument that the shape function analysis provides on entirely independent grounds. The shape functions do not depend on the Split B sample size — they are estimated from the full pre-GFC and GFC-inclusive panels. The two findings converge on the same structural explanation. I am not claiming Split B proves regime-specific overfitting. I am claiming it is consistent with it, and that the shape function evidence is the primary argument.
════════════════════════════════════════════════════════════
Q2: "EBM AUROC 0.333 could simply reflect sample thinness rather than regime shift — how do you distinguish between these two explanations?"
ANSWER: You cannot fully distinguish them with a single split. This is stated in Section 4.5.1. However, three pieces of evidence point toward regime shift rather than pure sample thinness. First, RF also has only 6 training positives in Split B, yet achieves 0.481 — above chance — while EBM falls to 0.333. If sample thinness were the sole driver, both models should fail similarly. The differential collapse is consistent with EBM's higher representational flexibility encoding the pre-GFC crisis signature more aggressively. Second, the shape function analysis is independent of Split B entirely — it shows the feature-risk mapping is genuinely non-stationary across sub-periods. Third, Split A shows EBM meeting the 0.75 benchmark, which would be unlikely under pure sample thinness. The combination of evidence is consistent with regime shift, not simply thinness.
════════════════════════════════════════════════════════════
Q3: "You cannot separate the sentiment signal from the algorithm effect in Stage 2. Does H1 have any validity?"
ANSWER: This is the dissertation's own criticism of H1, stated explicitly in Section 4.2 and the hypothesis assessment. The M3 versus M2-matched comparison confounds algorithm, regularisation, and features simultaneously. This is why EBM was introduced as M2.5 — it holds features constant at 41 macro variables while changing the algorithm, enabling a cleaner test. The result: EBM macro-only AUPRC 0.532 versus M3 macro-plus-sentiment 0.411. The interpretable macro-only model outperforms the sentiment-augmented one. H1 is therefore directionally supported only within the M3 vs M2-matched pair, and that comparison cannot isolate the sentiment contribution. The dissertation is transparent about this limitation. H1 is characterised as directional evidence, not confirmatory.
════════════════════════════════════════════════════════════
Q4: "Your Stage 2 AUROC figures of 0.93–0.96 inflate due to GFC concentration — are they informative at all?"
ANSWER: Yes — but only as in-crisis discrimination measures within the 2007 GFC cross-section, which is stated explicitly from Section 4.1 onward. The Stage 2 evaluation is a cross-sectional case study of one episode. What these figures tell you is how well each model ranked 18 countries by crisis probability in 2007. That is a meaningful question, even if it is not a generalisation claim. The more important numbers are the strict temporal validation figures and the Stage 1 multi-episode AUROC — where EBM achieves 0.753 on 37 events across 1988–2020. The dissertation explicitly labels all Stage 2 metrics as upper bounds on prospective performance.
════════════════════════════════════════════════════════════
Q5: "Why not use a regime-switching model directly to address non-stationarity rather than documenting that a static model fails?"
ANSWER: Three reasons. First, regime-conditional modelling requires sufficient crisis episodes per regime to estimate stable parameters. Appendix B shows this constraint binding immediately: EBM-R1 on pre-GFC data achieves AUROC 0.410, indistinguishable from random, because there are too few positives per regime. The extension is identified as a future research direction precisely because the data cannot currently support it. Second, the dissertation's contribution is not to solve non-stationarity — it is to characterise the failure mechanism precisely enough that future solutions can be designed with correct targets. Third, EBM's role is diagnostic: it identifies which features have unstable relationships across regimes, which is input the regime-switching model would need to specify correctly.
════════════════════════════════════════════════════════════
Q6: "SHAP already shows feature importance variation across time — what does EBM add that SHAP cannot provide?"
ANSWER: SHAP applied to Random Forest or XGBoost produces approximate attributions. The approximation depends on assumptions about feature independence and the distribution of the evaluation sample. When the evaluation distribution shifts — as it does between pre-GFC and GFC-inclusive windows — SHAP attributions can change for two distinct reasons: the model genuinely learned different relationships, or the approximation behaved differently under the new distribution. These two explanations are indistinguishable in SHAP output. EBM shape functions have no approximation step — they are the model's fitted parameters directly. Any change in shape functions across training windows reflects a change in the model's learned mapping, full stop. This is what allows the shape function evidence to constitute genuine evidence about the data-generating process rather than about the attribution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A020"/>
          </a:solidFill>
          <a:ln w="12700">
            <a:solidFill>
              <a:srgbClr val="E8A020"/>
            </a:solidFill>
            <a:prstDash val="solid"/>
          </a:ln>
        </p:spPr>
      </p:sp>
      <p:sp>
        <p:nvSpPr>
          <p:cNvPr id="3" name="Text 1"/>
          <p:cNvSpPr/>
          <p:nvPr/>
        </p:nvSpPr>
        <p:spPr>
          <a:xfrm>
            <a:off x="365760" y="502920"/>
            <a:ext cx="8412480" cy="118872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Early Warning Systems for Banking Crises</a:t>
            </a:r>
            <a:endParaRPr lang="en-US" sz="3600" dirty="0"/>
          </a:p>
        </p:txBody>
      </p:sp>
      <p:sp>
        <p:nvSpPr>
          <p:cNvPr id="4" name="Text 2"/>
          <p:cNvSpPr/>
          <p:nvPr/>
        </p:nvSpPr>
        <p:spPr>
          <a:xfrm>
            <a:off x="365760" y="1691640"/>
            <a:ext cx="8412480" cy="914400"/>
          </a:xfrm>
          <a:prstGeom prst="rect">
            <a:avLst/>
          </a:prstGeom>
          <a:noFill/>
          <a:ln/>
        </p:spPr>
        <p:txBody>
          <a:bodyPr wrap="square" lIns="0" tIns="0" rIns="0" bIns="0" rtlCol="0" anchor="t"/>
          <a:lstStyle/>
          <a:p>
            <a:pPr algn="l" indent="0" marL="0">
              <a:buNone/>
            </a:pPr>
            <a:r>
              <a:rPr lang="en-US" sz="1900" dirty="0">
                <a:solidFill>
                  <a:srgbClr val="CADCFC"/>
                </a:solidFill>
                <a:latin typeface="Calibri" pitchFamily="34" charset="0"/>
                <a:ea typeface="Calibri" pitchFamily="34" charset="-122"/>
                <a:cs typeface="Calibri" pitchFamily="34" charset="-120"/>
              </a:rPr>
              <a:t>Evaluating the Interpretability–Performance Trade-off</a:t>
            </a:r>
            <a:endParaRPr lang="en-US" sz="1900" dirty="0"/>
          </a:p>
          <a:p>
            <a:pPr algn="l" indent="0" marL="0">
              <a:buNone/>
            </a:pPr>
            <a:r>
              <a:rPr lang="en-US" sz="1900" dirty="0">
                <a:solidFill>
                  <a:srgbClr val="CADCFC"/>
                </a:solidFill>
                <a:latin typeface="Calibri" pitchFamily="34" charset="0"/>
                <a:ea typeface="Calibri" pitchFamily="34" charset="-122"/>
                <a:cs typeface="Calibri" pitchFamily="34" charset="-120"/>
              </a:rPr>
              <a:t>Under Structural Non-Stationarity</a:t>
            </a:r>
            <a:endParaRPr lang="en-US" sz="1900" dirty="0"/>
          </a:p>
        </p:txBody>
      </p:sp>
      <p:sp>
        <p:nvSpPr>
          <p:cNvPr id="5" name="Shape 3"/>
          <p:cNvSpPr/>
          <p:nvPr/>
        </p:nvSpPr>
        <p:spPr>
          <a:xfrm>
            <a:off x="365760" y="2697480"/>
            <a:ext cx="8229600" cy="0"/>
          </a:xfrm>
          <a:prstGeom prst="line">
            <a:avLst/>
          </a:prstGeom>
          <a:noFill/>
          <a:ln w="19050">
            <a:solidFill>
              <a:srgbClr val="E8A020"/>
            </a:solidFill>
            <a:prstDash val="solid"/>
          </a:ln>
        </p:spPr>
      </p:sp>
      <p:sp>
        <p:nvSpPr>
          <p:cNvPr id="6" name="Text 4"/>
          <p:cNvSpPr/>
          <p:nvPr/>
        </p:nvSpPr>
        <p:spPr>
          <a:xfrm>
            <a:off x="365760" y="2880360"/>
            <a:ext cx="6400800" cy="1280160"/>
          </a:xfrm>
          <a:prstGeom prst="rect">
            <a:avLst/>
          </a:prstGeom>
          <a:noFill/>
          <a:ln/>
        </p:spPr>
        <p:txBody>
          <a:bodyPr wrap="square" lIns="0" tIns="0" rIns="0" bIns="0" rtlCol="0" anchor="t"/>
          <a:lstStyle/>
          <a:p>
            <a:pPr algn="l" indent="0" marL="0">
              <a:buNone/>
            </a:pPr>
            <a:r>
              <a:rPr lang="en-US" sz="1400" b="1" dirty="0">
                <a:solidFill>
                  <a:srgbClr val="CADCFC"/>
                </a:solidFill>
                <a:latin typeface="Calibri" pitchFamily="34" charset="0"/>
                <a:ea typeface="Calibri" pitchFamily="34" charset="-122"/>
                <a:cs typeface="Calibri" pitchFamily="34" charset="-120"/>
              </a:rPr>
              <a:t>Pavlos Papachristos  |  PP24589</a:t>
            </a:r>
            <a:endParaRPr lang="en-US" sz="1400" dirty="0"/>
          </a:p>
          <a:p>
            <a:pPr algn="l" indent="0" marL="0">
              <a:buNone/>
            </a:pPr>
            <a:r>
              <a:rPr lang="en-US" sz="1400" dirty="0">
                <a:solidFill>
                  <a:srgbClr val="CADCFC"/>
                </a:solidFill>
                <a:latin typeface="Calibri" pitchFamily="34" charset="0"/>
                <a:ea typeface="Calibri" pitchFamily="34" charset="-122"/>
                <a:cs typeface="Calibri" pitchFamily="34" charset="-120"/>
              </a:rPr>
              <a:t>MSc Artificial Intelligence — University of Essex</a:t>
            </a:r>
            <a:endParaRPr lang="en-US" sz="1400" dirty="0"/>
          </a:p>
          <a:p>
            <a:pPr algn="l" indent="0" marL="0">
              <a:buNone/>
            </a:pPr>
            <a:r>
              <a:rPr lang="en-US" sz="1400" i="1" dirty="0">
                <a:solidFill>
                  <a:srgbClr val="CADCFC"/>
                </a:solidFill>
                <a:latin typeface="Calibri" pitchFamily="34" charset="0"/>
                <a:ea typeface="Calibri" pitchFamily="34" charset="-122"/>
                <a:cs typeface="Calibri" pitchFamily="34" charset="-120"/>
              </a:rPr>
              <a:t>MSc Computing Project</a:t>
            </a:r>
            <a:endParaRPr lang="en-US" sz="1400" dirty="0"/>
          </a:p>
        </p:txBody>
      </p:sp>
      <p:sp>
        <p:nvSpPr>
          <p:cNvPr id="7" name="Shape 5"/>
          <p:cNvSpPr/>
          <p:nvPr/>
        </p:nvSpPr>
        <p:spPr>
          <a:xfrm>
            <a:off x="7132320" y="2926080"/>
            <a:ext cx="1645920" cy="457200"/>
          </a:xfrm>
          <a:prstGeom prst="rect">
            <a:avLst/>
          </a:prstGeom>
          <a:solidFill>
            <a:srgbClr val="E8A020"/>
          </a:solidFill>
          <a:ln w="12700">
            <a:solidFill>
              <a:srgbClr val="E8A020"/>
            </a:solidFill>
            <a:prstDash val="solid"/>
          </a:ln>
          <a:effectLst>
            <a:outerShdw sx="100000" sy="100000" kx="0" ky="0" algn="bl" rotWithShape="0" blurRad="101600" dist="38100" dir="8100000">
              <a:srgbClr val="000000">
                <a:alpha val="13000"/>
              </a:srgbClr>
            </a:outerShdw>
          </a:effectLst>
        </p:spPr>
      </p:sp>
      <p:sp>
        <p:nvSpPr>
          <p:cNvPr id="8" name="Text 6"/>
          <p:cNvSpPr/>
          <p:nvPr/>
        </p:nvSpPr>
        <p:spPr>
          <a:xfrm>
            <a:off x="7132320" y="2926080"/>
            <a:ext cx="1645920" cy="457200"/>
          </a:xfrm>
          <a:prstGeom prst="rect">
            <a:avLst/>
          </a:prstGeom>
          <a:noFill/>
          <a:ln/>
        </p:spPr>
        <p:txBody>
          <a:bodyPr wrap="square" lIns="0" tIns="0" rIns="0" bIns="0" rtlCol="0" anchor="ctr"/>
          <a:lstStyle/>
          <a:p>
            <a:pPr algn="ctr" indent="0" marL="0">
              <a:buNone/>
            </a:pPr>
            <a:r>
              <a:rPr lang="en-US" sz="1000" b="1" dirty="0">
                <a:solidFill>
                  <a:srgbClr val="0D1B3E"/>
                </a:solidFill>
              </a:rPr>
              <a:t>10-min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The Problem: A Known Failure, Unknown Mechanism</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What the literature established before this dissertation</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Shape 4"/>
          <p:cNvSpPr/>
          <p:nvPr/>
        </p:nvSpPr>
        <p:spPr>
          <a:xfrm>
            <a:off x="256032" y="1143000"/>
            <a:ext cx="4114800" cy="338328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143000"/>
            <a:ext cx="4114800" cy="347472"/>
          </a:xfrm>
          <a:prstGeom prst="rect">
            <a:avLst/>
          </a:prstGeom>
          <a:solidFill>
            <a:srgbClr val="2E6DB4"/>
          </a:solidFill>
          <a:ln w="12700">
            <a:solidFill>
              <a:srgbClr val="2E6DB4"/>
            </a:solidFill>
            <a:prstDash val="solid"/>
          </a:ln>
        </p:spPr>
      </p:sp>
      <p:sp>
        <p:nvSpPr>
          <p:cNvPr id="8" name="Text 6"/>
          <p:cNvSpPr/>
          <p:nvPr/>
        </p:nvSpPr>
        <p:spPr>
          <a:xfrm>
            <a:off x="256032" y="1143000"/>
            <a:ext cx="411480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we knew</a:t>
            </a:r>
            <a:endParaRPr lang="en-US" sz="1300" dirty="0"/>
          </a:p>
        </p:txBody>
      </p:sp>
      <p:sp>
        <p:nvSpPr>
          <p:cNvPr id="9" name="Text 7"/>
          <p:cNvSpPr/>
          <p:nvPr/>
        </p:nvSpPr>
        <p:spPr>
          <a:xfrm>
            <a:off x="347472" y="1554480"/>
            <a:ext cx="3840480" cy="2834640"/>
          </a:xfrm>
          <a:prstGeom prst="rect">
            <a:avLst/>
          </a:prstGeom>
          <a:noFill/>
          <a:ln/>
        </p:spPr>
        <p:txBody>
          <a:bodyPr wrap="square" rtlCol="0" anchor="t"/>
          <a:lstStyle/>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ML models (RF, XGBoost) outperform logistic regression under expanding-window CV</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Under strict temporal validation, all models fall below AUROC 0.75 benchmark (Beutel et al., 2019)</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Extending training data did not resolve the problem</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Sentiment from central bank speeches provides directional signal</a:t>
            </a:r>
            <a:endParaRPr lang="en-US" sz="1300" dirty="0"/>
          </a:p>
        </p:txBody>
      </p:sp>
      <p:sp>
        <p:nvSpPr>
          <p:cNvPr id="10" name="Shape 8"/>
          <p:cNvSpPr/>
          <p:nvPr/>
        </p:nvSpPr>
        <p:spPr>
          <a:xfrm>
            <a:off x="4663440" y="1143000"/>
            <a:ext cx="4206240" cy="338328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4663440" y="1143000"/>
            <a:ext cx="4206240" cy="347472"/>
          </a:xfrm>
          <a:prstGeom prst="rect">
            <a:avLst/>
          </a:prstGeom>
          <a:solidFill>
            <a:srgbClr val="C0392B"/>
          </a:solidFill>
          <a:ln w="12700">
            <a:solidFill>
              <a:srgbClr val="C0392B"/>
            </a:solidFill>
            <a:prstDash val="solid"/>
          </a:ln>
        </p:spPr>
      </p:sp>
      <p:sp>
        <p:nvSpPr>
          <p:cNvPr id="12" name="Text 10"/>
          <p:cNvSpPr/>
          <p:nvPr/>
        </p:nvSpPr>
        <p:spPr>
          <a:xfrm>
            <a:off x="4663440" y="1143000"/>
            <a:ext cx="420624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was missing</a:t>
            </a:r>
            <a:endParaRPr lang="en-US" sz="1300" dirty="0"/>
          </a:p>
        </p:txBody>
      </p:sp>
      <p:sp>
        <p:nvSpPr>
          <p:cNvPr id="13" name="Text 11"/>
          <p:cNvSpPr/>
          <p:nvPr/>
        </p:nvSpPr>
        <p:spPr>
          <a:xfrm>
            <a:off x="4754880" y="1554480"/>
            <a:ext cx="3931920" cy="2834640"/>
          </a:xfrm>
          <a:prstGeom prst="rect">
            <a:avLst/>
          </a:prstGeom>
          <a:noFill/>
          <a:ln/>
        </p:spPr>
        <p:txBody>
          <a:bodyPr wrap="square" rtlCol="0" anchor="t"/>
          <a:lstStyle/>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No mechanism-level explanation of why failure occurs</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No test of whether interpretable models are more or less vulnerable</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No clean separation of algorithm effect from sentiment effect</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SHAP is approximate — cannot distinguish model error from attribution error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Data, Design and Model Sequence</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JST Macrohistory R6 · 18 economies · 1985–2020</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Shape 4"/>
          <p:cNvSpPr/>
          <p:nvPr/>
        </p:nvSpPr>
        <p:spPr>
          <a:xfrm>
            <a:off x="256032" y="1143000"/>
            <a:ext cx="1691640" cy="1051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143000"/>
            <a:ext cx="1691640" cy="128016"/>
          </a:xfrm>
          <a:prstGeom prst="rect">
            <a:avLst/>
          </a:prstGeom>
          <a:solidFill>
            <a:srgbClr val="2E6DB4"/>
          </a:solidFill>
          <a:ln w="12700">
            <a:solidFill>
              <a:srgbClr val="2E6DB4"/>
            </a:solidFill>
            <a:prstDash val="solid"/>
          </a:ln>
        </p:spPr>
      </p:sp>
      <p:sp>
        <p:nvSpPr>
          <p:cNvPr id="8" name="Text 6"/>
          <p:cNvSpPr/>
          <p:nvPr/>
        </p:nvSpPr>
        <p:spPr>
          <a:xfrm>
            <a:off x="256032" y="1252728"/>
            <a:ext cx="1691640" cy="548640"/>
          </a:xfrm>
          <a:prstGeom prst="rect">
            <a:avLst/>
          </a:prstGeom>
          <a:noFill/>
          <a:ln/>
        </p:spPr>
        <p:txBody>
          <a:bodyPr wrap="square" lIns="0" tIns="0" rIns="0" bIns="0" rtlCol="0" anchor="ctr"/>
          <a:lstStyle/>
          <a:p>
            <a:pPr algn="ctr" indent="0" marL="0">
              <a:buNone/>
            </a:pPr>
            <a:r>
              <a:rPr lang="en-US" sz="2600" b="1" dirty="0">
                <a:solidFill>
                  <a:srgbClr val="0D1B3E"/>
                </a:solidFill>
                <a:latin typeface="Calibri" pitchFamily="34" charset="0"/>
                <a:ea typeface="Calibri" pitchFamily="34" charset="-122"/>
                <a:cs typeface="Calibri" pitchFamily="34" charset="-120"/>
              </a:rPr>
              <a:t>569</a:t>
            </a:r>
            <a:endParaRPr lang="en-US" sz="2600" dirty="0"/>
          </a:p>
        </p:txBody>
      </p:sp>
      <p:sp>
        <p:nvSpPr>
          <p:cNvPr id="9" name="Text 7"/>
          <p:cNvSpPr/>
          <p:nvPr/>
        </p:nvSpPr>
        <p:spPr>
          <a:xfrm>
            <a:off x="256032" y="1764792"/>
            <a:ext cx="1691640" cy="38404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country-year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observations</a:t>
            </a:r>
            <a:endParaRPr lang="en-US" sz="1000" dirty="0"/>
          </a:p>
        </p:txBody>
      </p:sp>
      <p:sp>
        <p:nvSpPr>
          <p:cNvPr id="10" name="Shape 8"/>
          <p:cNvSpPr/>
          <p:nvPr/>
        </p:nvSpPr>
        <p:spPr>
          <a:xfrm>
            <a:off x="2029968" y="1143000"/>
            <a:ext cx="1691640" cy="1051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2029968" y="1143000"/>
            <a:ext cx="1691640" cy="128016"/>
          </a:xfrm>
          <a:prstGeom prst="rect">
            <a:avLst/>
          </a:prstGeom>
          <a:solidFill>
            <a:srgbClr val="E8A020"/>
          </a:solidFill>
          <a:ln w="12700">
            <a:solidFill>
              <a:srgbClr val="E8A020"/>
            </a:solidFill>
            <a:prstDash val="solid"/>
          </a:ln>
        </p:spPr>
      </p:sp>
      <p:sp>
        <p:nvSpPr>
          <p:cNvPr id="12" name="Text 10"/>
          <p:cNvSpPr/>
          <p:nvPr/>
        </p:nvSpPr>
        <p:spPr>
          <a:xfrm>
            <a:off x="2029968" y="1252728"/>
            <a:ext cx="1691640" cy="548640"/>
          </a:xfrm>
          <a:prstGeom prst="rect">
            <a:avLst/>
          </a:prstGeom>
          <a:noFill/>
          <a:ln/>
        </p:spPr>
        <p:txBody>
          <a:bodyPr wrap="square" lIns="0" tIns="0" rIns="0" bIns="0" rtlCol="0" anchor="ctr"/>
          <a:lstStyle/>
          <a:p>
            <a:pPr algn="ctr" indent="0" marL="0">
              <a:buNone/>
            </a:pPr>
            <a:r>
              <a:rPr lang="en-US" sz="2600" b="1" dirty="0">
                <a:solidFill>
                  <a:srgbClr val="0D1B3E"/>
                </a:solidFill>
                <a:latin typeface="Calibri" pitchFamily="34" charset="0"/>
                <a:ea typeface="Calibri" pitchFamily="34" charset="-122"/>
                <a:cs typeface="Calibri" pitchFamily="34" charset="-120"/>
              </a:rPr>
              <a:t>37</a:t>
            </a:r>
            <a:endParaRPr lang="en-US" sz="2600" dirty="0"/>
          </a:p>
        </p:txBody>
      </p:sp>
      <p:sp>
        <p:nvSpPr>
          <p:cNvPr id="13" name="Text 11"/>
          <p:cNvSpPr/>
          <p:nvPr/>
        </p:nvSpPr>
        <p:spPr>
          <a:xfrm>
            <a:off x="2029968" y="1764792"/>
            <a:ext cx="1691640" cy="38404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crisis events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(Stage 1, 6.5%)</a:t>
            </a:r>
            <a:endParaRPr lang="en-US" sz="1000" dirty="0"/>
          </a:p>
        </p:txBody>
      </p:sp>
      <p:sp>
        <p:nvSpPr>
          <p:cNvPr id="14" name="Shape 12"/>
          <p:cNvSpPr/>
          <p:nvPr/>
        </p:nvSpPr>
        <p:spPr>
          <a:xfrm>
            <a:off x="3803904" y="1143000"/>
            <a:ext cx="1691640" cy="1051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3803904" y="1143000"/>
            <a:ext cx="1691640" cy="128016"/>
          </a:xfrm>
          <a:prstGeom prst="rect">
            <a:avLst/>
          </a:prstGeom>
          <a:solidFill>
            <a:srgbClr val="2E6DB4"/>
          </a:solidFill>
          <a:ln w="12700">
            <a:solidFill>
              <a:srgbClr val="2E6DB4"/>
            </a:solidFill>
            <a:prstDash val="solid"/>
          </a:ln>
        </p:spPr>
      </p:sp>
      <p:sp>
        <p:nvSpPr>
          <p:cNvPr id="16" name="Text 14"/>
          <p:cNvSpPr/>
          <p:nvPr/>
        </p:nvSpPr>
        <p:spPr>
          <a:xfrm>
            <a:off x="3803904" y="1252728"/>
            <a:ext cx="1691640" cy="548640"/>
          </a:xfrm>
          <a:prstGeom prst="rect">
            <a:avLst/>
          </a:prstGeom>
          <a:noFill/>
          <a:ln/>
        </p:spPr>
        <p:txBody>
          <a:bodyPr wrap="square" lIns="0" tIns="0" rIns="0" bIns="0" rtlCol="0" anchor="ctr"/>
          <a:lstStyle/>
          <a:p>
            <a:pPr algn="ctr" indent="0" marL="0">
              <a:buNone/>
            </a:pPr>
            <a:r>
              <a:rPr lang="en-US" sz="2600" b="1" dirty="0">
                <a:solidFill>
                  <a:srgbClr val="0D1B3E"/>
                </a:solidFill>
                <a:latin typeface="Calibri" pitchFamily="34" charset="0"/>
                <a:ea typeface="Calibri" pitchFamily="34" charset="-122"/>
                <a:cs typeface="Calibri" pitchFamily="34" charset="-120"/>
              </a:rPr>
              <a:t>26</a:t>
            </a:r>
            <a:endParaRPr lang="en-US" sz="2600" dirty="0"/>
          </a:p>
        </p:txBody>
      </p:sp>
      <p:sp>
        <p:nvSpPr>
          <p:cNvPr id="17" name="Text 15"/>
          <p:cNvSpPr/>
          <p:nvPr/>
        </p:nvSpPr>
        <p:spPr>
          <a:xfrm>
            <a:off x="3803904" y="1764792"/>
            <a:ext cx="1691640" cy="38404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crisis events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(Stage 2, 8.15%)</a:t>
            </a:r>
            <a:endParaRPr lang="en-US" sz="1000" dirty="0"/>
          </a:p>
        </p:txBody>
      </p:sp>
      <p:sp>
        <p:nvSpPr>
          <p:cNvPr id="18" name="Shape 16"/>
          <p:cNvSpPr/>
          <p:nvPr/>
        </p:nvSpPr>
        <p:spPr>
          <a:xfrm>
            <a:off x="5577840" y="1143000"/>
            <a:ext cx="1691640" cy="1051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5577840" y="1143000"/>
            <a:ext cx="1691640" cy="128016"/>
          </a:xfrm>
          <a:prstGeom prst="rect">
            <a:avLst/>
          </a:prstGeom>
          <a:solidFill>
            <a:srgbClr val="E8A020"/>
          </a:solidFill>
          <a:ln w="12700">
            <a:solidFill>
              <a:srgbClr val="E8A020"/>
            </a:solidFill>
            <a:prstDash val="solid"/>
          </a:ln>
        </p:spPr>
      </p:sp>
      <p:sp>
        <p:nvSpPr>
          <p:cNvPr id="20" name="Text 18"/>
          <p:cNvSpPr/>
          <p:nvPr/>
        </p:nvSpPr>
        <p:spPr>
          <a:xfrm>
            <a:off x="5577840" y="1252728"/>
            <a:ext cx="1691640" cy="548640"/>
          </a:xfrm>
          <a:prstGeom prst="rect">
            <a:avLst/>
          </a:prstGeom>
          <a:noFill/>
          <a:ln/>
        </p:spPr>
        <p:txBody>
          <a:bodyPr wrap="square" lIns="0" tIns="0" rIns="0" bIns="0" rtlCol="0" anchor="ctr"/>
          <a:lstStyle/>
          <a:p>
            <a:pPr algn="ctr" indent="0" marL="0">
              <a:buNone/>
            </a:pPr>
            <a:r>
              <a:rPr lang="en-US" sz="2600" b="1" dirty="0">
                <a:solidFill>
                  <a:srgbClr val="0D1B3E"/>
                </a:solidFill>
                <a:latin typeface="Calibri" pitchFamily="34" charset="0"/>
                <a:ea typeface="Calibri" pitchFamily="34" charset="-122"/>
                <a:cs typeface="Calibri" pitchFamily="34" charset="-120"/>
              </a:rPr>
              <a:t>16,622</a:t>
            </a:r>
            <a:endParaRPr lang="en-US" sz="2600" dirty="0"/>
          </a:p>
        </p:txBody>
      </p:sp>
      <p:sp>
        <p:nvSpPr>
          <p:cNvPr id="21" name="Text 19"/>
          <p:cNvSpPr/>
          <p:nvPr/>
        </p:nvSpPr>
        <p:spPr>
          <a:xfrm>
            <a:off x="5577840" y="1764792"/>
            <a:ext cx="1691640" cy="38404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BIS speeches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FinBERT-processed</a:t>
            </a:r>
            <a:endParaRPr lang="en-US" sz="1000" dirty="0"/>
          </a:p>
        </p:txBody>
      </p:sp>
      <p:sp>
        <p:nvSpPr>
          <p:cNvPr id="22" name="Shape 20"/>
          <p:cNvSpPr/>
          <p:nvPr/>
        </p:nvSpPr>
        <p:spPr>
          <a:xfrm>
            <a:off x="7351776" y="1143000"/>
            <a:ext cx="1572768" cy="1051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23" name="Shape 21"/>
          <p:cNvSpPr/>
          <p:nvPr/>
        </p:nvSpPr>
        <p:spPr>
          <a:xfrm>
            <a:off x="7351776" y="1143000"/>
            <a:ext cx="1572768" cy="128016"/>
          </a:xfrm>
          <a:prstGeom prst="rect">
            <a:avLst/>
          </a:prstGeom>
          <a:solidFill>
            <a:srgbClr val="2E6DB4"/>
          </a:solidFill>
          <a:ln w="12700">
            <a:solidFill>
              <a:srgbClr val="2E6DB4"/>
            </a:solidFill>
            <a:prstDash val="solid"/>
          </a:ln>
        </p:spPr>
      </p:sp>
      <p:sp>
        <p:nvSpPr>
          <p:cNvPr id="24" name="Text 22"/>
          <p:cNvSpPr/>
          <p:nvPr/>
        </p:nvSpPr>
        <p:spPr>
          <a:xfrm>
            <a:off x="7351776" y="1252728"/>
            <a:ext cx="1572768" cy="548640"/>
          </a:xfrm>
          <a:prstGeom prst="rect">
            <a:avLst/>
          </a:prstGeom>
          <a:noFill/>
          <a:ln/>
        </p:spPr>
        <p:txBody>
          <a:bodyPr wrap="square" lIns="0" tIns="0" rIns="0" bIns="0" rtlCol="0" anchor="ctr"/>
          <a:lstStyle/>
          <a:p>
            <a:pPr algn="ctr" indent="0" marL="0">
              <a:buNone/>
            </a:pPr>
            <a:r>
              <a:rPr lang="en-US" sz="2600" b="1" dirty="0">
                <a:solidFill>
                  <a:srgbClr val="0D1B3E"/>
                </a:solidFill>
                <a:latin typeface="Calibri" pitchFamily="34" charset="0"/>
                <a:ea typeface="Calibri" pitchFamily="34" charset="-122"/>
                <a:cs typeface="Calibri" pitchFamily="34" charset="-120"/>
              </a:rPr>
              <a:t>41+14</a:t>
            </a:r>
            <a:endParaRPr lang="en-US" sz="2600" dirty="0"/>
          </a:p>
        </p:txBody>
      </p:sp>
      <p:sp>
        <p:nvSpPr>
          <p:cNvPr id="25" name="Text 23"/>
          <p:cNvSpPr/>
          <p:nvPr/>
        </p:nvSpPr>
        <p:spPr>
          <a:xfrm>
            <a:off x="7351776" y="1764792"/>
            <a:ext cx="1572768" cy="384048"/>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macro + sentiment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features</a:t>
            </a:r>
            <a:endParaRPr lang="en-US" sz="1000" dirty="0"/>
          </a:p>
        </p:txBody>
      </p:sp>
      <p:sp>
        <p:nvSpPr>
          <p:cNvPr id="26" name="Text 24"/>
          <p:cNvSpPr/>
          <p:nvPr/>
        </p:nvSpPr>
        <p:spPr>
          <a:xfrm>
            <a:off x="256032" y="2377440"/>
            <a:ext cx="2743200" cy="320040"/>
          </a:xfrm>
          <a:prstGeom prst="rect">
            <a:avLst/>
          </a:prstGeom>
          <a:noFill/>
          <a:ln/>
        </p:spPr>
        <p:txBody>
          <a:bodyPr wrap="square" lIns="0" tIns="0" rIns="0" bIns="0" rtlCol="0" anchor="ctr"/>
          <a:lstStyle/>
          <a:p>
            <a:pPr algn="l" indent="0" marL="0">
              <a:buNone/>
            </a:pPr>
            <a:r>
              <a:rPr lang="en-US" sz="1300" b="1" dirty="0">
                <a:solidFill>
                  <a:srgbClr val="0D1B3E"/>
                </a:solidFill>
                <a:latin typeface="Calibri" pitchFamily="34" charset="0"/>
                <a:ea typeface="Calibri" pitchFamily="34" charset="-122"/>
                <a:cs typeface="Calibri" pitchFamily="34" charset="-120"/>
              </a:rPr>
              <a:t>Model Sequence</a:t>
            </a:r>
            <a:endParaRPr lang="en-US" sz="1300" dirty="0"/>
          </a:p>
        </p:txBody>
      </p:sp>
      <p:sp>
        <p:nvSpPr>
          <p:cNvPr id="27" name="Shape 25"/>
          <p:cNvSpPr/>
          <p:nvPr/>
        </p:nvSpPr>
        <p:spPr>
          <a:xfrm>
            <a:off x="256032" y="2743200"/>
            <a:ext cx="2011680" cy="1417320"/>
          </a:xfrm>
          <a:prstGeom prst="rect">
            <a:avLst/>
          </a:prstGeom>
          <a:solidFill>
            <a:srgbClr val="F0F4F9"/>
          </a:solidFill>
          <a:ln w="25400">
            <a:solidFill>
              <a:srgbClr val="2E6DB4"/>
            </a:solidFill>
            <a:prstDash val="solid"/>
          </a:ln>
          <a:effectLst>
            <a:outerShdw sx="100000" sy="100000" kx="0" ky="0" algn="bl" rotWithShape="0" blurRad="101600" dist="38100" dir="8100000">
              <a:srgbClr val="000000">
                <a:alpha val="13000"/>
              </a:srgbClr>
            </a:outerShdw>
          </a:effectLst>
        </p:spPr>
      </p:sp>
      <p:sp>
        <p:nvSpPr>
          <p:cNvPr id="28" name="Shape 26"/>
          <p:cNvSpPr/>
          <p:nvPr/>
        </p:nvSpPr>
        <p:spPr>
          <a:xfrm>
            <a:off x="256032" y="2743200"/>
            <a:ext cx="2011680" cy="365760"/>
          </a:xfrm>
          <a:prstGeom prst="rect">
            <a:avLst/>
          </a:prstGeom>
          <a:solidFill>
            <a:srgbClr val="2E6DB4"/>
          </a:solidFill>
          <a:ln w="12700">
            <a:solidFill>
              <a:srgbClr val="2E6DB4"/>
            </a:solidFill>
            <a:prstDash val="solid"/>
          </a:ln>
        </p:spPr>
      </p:sp>
      <p:sp>
        <p:nvSpPr>
          <p:cNvPr id="29" name="Text 27"/>
          <p:cNvSpPr/>
          <p:nvPr/>
        </p:nvSpPr>
        <p:spPr>
          <a:xfrm>
            <a:off x="256032" y="2743200"/>
            <a:ext cx="2011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a:t>
            </a:r>
            <a:endParaRPr lang="en-US" sz="1300" dirty="0"/>
          </a:p>
        </p:txBody>
      </p:sp>
      <p:sp>
        <p:nvSpPr>
          <p:cNvPr id="30" name="Text 28"/>
          <p:cNvSpPr/>
          <p:nvPr/>
        </p:nvSpPr>
        <p:spPr>
          <a:xfrm>
            <a:off x="329184" y="3154680"/>
            <a:ext cx="1874520" cy="91440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Logistic Regression</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19 features (lag1 only)</a:t>
            </a:r>
            <a:endParaRPr lang="en-US" sz="1050" dirty="0"/>
          </a:p>
        </p:txBody>
      </p:sp>
      <p:sp>
        <p:nvSpPr>
          <p:cNvPr id="31" name="Shape 29"/>
          <p:cNvSpPr/>
          <p:nvPr/>
        </p:nvSpPr>
        <p:spPr>
          <a:xfrm>
            <a:off x="2267712" y="3447288"/>
            <a:ext cx="201168" cy="0"/>
          </a:xfrm>
          <a:prstGeom prst="line">
            <a:avLst/>
          </a:prstGeom>
          <a:noFill/>
          <a:ln w="19050">
            <a:solidFill>
              <a:srgbClr val="64748B"/>
            </a:solidFill>
            <a:prstDash val="solid"/>
          </a:ln>
        </p:spPr>
      </p:sp>
      <p:sp>
        <p:nvSpPr>
          <p:cNvPr id="32" name="Shape 30"/>
          <p:cNvSpPr/>
          <p:nvPr/>
        </p:nvSpPr>
        <p:spPr>
          <a:xfrm>
            <a:off x="2468880" y="2743200"/>
            <a:ext cx="2011680" cy="1417320"/>
          </a:xfrm>
          <a:prstGeom prst="rect">
            <a:avLst/>
          </a:prstGeom>
          <a:solidFill>
            <a:srgbClr val="F0F4F9"/>
          </a:solidFill>
          <a:ln w="25400">
            <a:solidFill>
              <a:srgbClr val="2E6DB4"/>
            </a:solidFill>
            <a:prstDash val="solid"/>
          </a:ln>
          <a:effectLst>
            <a:outerShdw sx="100000" sy="100000" kx="0" ky="0" algn="bl" rotWithShape="0" blurRad="101600" dist="38100" dir="8100000">
              <a:srgbClr val="000000">
                <a:alpha val="13000"/>
              </a:srgbClr>
            </a:outerShdw>
          </a:effectLst>
        </p:spPr>
      </p:sp>
      <p:sp>
        <p:nvSpPr>
          <p:cNvPr id="33" name="Shape 31"/>
          <p:cNvSpPr/>
          <p:nvPr/>
        </p:nvSpPr>
        <p:spPr>
          <a:xfrm>
            <a:off x="2468880" y="2743200"/>
            <a:ext cx="2011680" cy="365760"/>
          </a:xfrm>
          <a:prstGeom prst="rect">
            <a:avLst/>
          </a:prstGeom>
          <a:solidFill>
            <a:srgbClr val="2E6DB4"/>
          </a:solidFill>
          <a:ln w="12700">
            <a:solidFill>
              <a:srgbClr val="2E6DB4"/>
            </a:solidFill>
            <a:prstDash val="solid"/>
          </a:ln>
        </p:spPr>
      </p:sp>
      <p:sp>
        <p:nvSpPr>
          <p:cNvPr id="34" name="Text 32"/>
          <p:cNvSpPr/>
          <p:nvPr/>
        </p:nvSpPr>
        <p:spPr>
          <a:xfrm>
            <a:off x="2468880" y="2743200"/>
            <a:ext cx="2011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M2</a:t>
            </a:r>
            <a:endParaRPr lang="en-US" sz="1300" dirty="0"/>
          </a:p>
        </p:txBody>
      </p:sp>
      <p:sp>
        <p:nvSpPr>
          <p:cNvPr id="35" name="Text 33"/>
          <p:cNvSpPr/>
          <p:nvPr/>
        </p:nvSpPr>
        <p:spPr>
          <a:xfrm>
            <a:off x="2542032" y="3154680"/>
            <a:ext cx="1874520" cy="91440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Random Forest</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41 macro features</a:t>
            </a:r>
            <a:endParaRPr lang="en-US" sz="1050" dirty="0"/>
          </a:p>
        </p:txBody>
      </p:sp>
      <p:sp>
        <p:nvSpPr>
          <p:cNvPr id="36" name="Shape 34"/>
          <p:cNvSpPr/>
          <p:nvPr/>
        </p:nvSpPr>
        <p:spPr>
          <a:xfrm>
            <a:off x="4480560" y="3447288"/>
            <a:ext cx="201168" cy="0"/>
          </a:xfrm>
          <a:prstGeom prst="line">
            <a:avLst/>
          </a:prstGeom>
          <a:noFill/>
          <a:ln w="19050">
            <a:solidFill>
              <a:srgbClr val="64748B"/>
            </a:solidFill>
            <a:prstDash val="solid"/>
          </a:ln>
        </p:spPr>
      </p:sp>
      <p:sp>
        <p:nvSpPr>
          <p:cNvPr id="37" name="Shape 35"/>
          <p:cNvSpPr/>
          <p:nvPr/>
        </p:nvSpPr>
        <p:spPr>
          <a:xfrm>
            <a:off x="4681728" y="2743200"/>
            <a:ext cx="2011680" cy="1417320"/>
          </a:xfrm>
          <a:prstGeom prst="rect">
            <a:avLst/>
          </a:prstGeom>
          <a:solidFill>
            <a:srgbClr val="F0F4F9"/>
          </a:solidFill>
          <a:ln w="25400">
            <a:solidFill>
              <a:srgbClr val="E8A020"/>
            </a:solidFill>
            <a:prstDash val="solid"/>
          </a:ln>
          <a:effectLst>
            <a:outerShdw sx="100000" sy="100000" kx="0" ky="0" algn="bl" rotWithShape="0" blurRad="101600" dist="38100" dir="8100000">
              <a:srgbClr val="000000">
                <a:alpha val="13000"/>
              </a:srgbClr>
            </a:outerShdw>
          </a:effectLst>
        </p:spPr>
      </p:sp>
      <p:sp>
        <p:nvSpPr>
          <p:cNvPr id="38" name="Shape 36"/>
          <p:cNvSpPr/>
          <p:nvPr/>
        </p:nvSpPr>
        <p:spPr>
          <a:xfrm>
            <a:off x="4681728" y="2743200"/>
            <a:ext cx="2011680" cy="365760"/>
          </a:xfrm>
          <a:prstGeom prst="rect">
            <a:avLst/>
          </a:prstGeom>
          <a:solidFill>
            <a:srgbClr val="E8A020"/>
          </a:solidFill>
          <a:ln w="12700">
            <a:solidFill>
              <a:srgbClr val="E8A020"/>
            </a:solidFill>
            <a:prstDash val="solid"/>
          </a:ln>
        </p:spPr>
      </p:sp>
      <p:sp>
        <p:nvSpPr>
          <p:cNvPr id="39" name="Text 37"/>
          <p:cNvSpPr/>
          <p:nvPr/>
        </p:nvSpPr>
        <p:spPr>
          <a:xfrm>
            <a:off x="4681728" y="2743200"/>
            <a:ext cx="2011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M2.5</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EBM</a:t>
            </a:r>
            <a:endParaRPr lang="en-US" sz="1300" dirty="0"/>
          </a:p>
        </p:txBody>
      </p:sp>
      <p:sp>
        <p:nvSpPr>
          <p:cNvPr id="40" name="Text 38"/>
          <p:cNvSpPr/>
          <p:nvPr/>
        </p:nvSpPr>
        <p:spPr>
          <a:xfrm>
            <a:off x="4754880" y="3154680"/>
            <a:ext cx="1874520" cy="91440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Explainable Boosting</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41 macro features ★</a:t>
            </a:r>
            <a:endParaRPr lang="en-US" sz="1050" dirty="0"/>
          </a:p>
        </p:txBody>
      </p:sp>
      <p:sp>
        <p:nvSpPr>
          <p:cNvPr id="41" name="Shape 39"/>
          <p:cNvSpPr/>
          <p:nvPr/>
        </p:nvSpPr>
        <p:spPr>
          <a:xfrm>
            <a:off x="6693408" y="3447288"/>
            <a:ext cx="201168" cy="0"/>
          </a:xfrm>
          <a:prstGeom prst="line">
            <a:avLst/>
          </a:prstGeom>
          <a:noFill/>
          <a:ln w="19050">
            <a:solidFill>
              <a:srgbClr val="64748B"/>
            </a:solidFill>
            <a:prstDash val="solid"/>
          </a:ln>
        </p:spPr>
      </p:sp>
      <p:sp>
        <p:nvSpPr>
          <p:cNvPr id="42" name="Shape 40"/>
          <p:cNvSpPr/>
          <p:nvPr/>
        </p:nvSpPr>
        <p:spPr>
          <a:xfrm>
            <a:off x="6894576" y="2743200"/>
            <a:ext cx="2011680" cy="1417320"/>
          </a:xfrm>
          <a:prstGeom prst="rect">
            <a:avLst/>
          </a:prstGeom>
          <a:solidFill>
            <a:srgbClr val="F0F4F9"/>
          </a:solidFill>
          <a:ln w="25400">
            <a:solidFill>
              <a:srgbClr val="C0392B"/>
            </a:solidFill>
            <a:prstDash val="solid"/>
          </a:ln>
          <a:effectLst>
            <a:outerShdw sx="100000" sy="100000" kx="0" ky="0" algn="bl" rotWithShape="0" blurRad="101600" dist="38100" dir="8100000">
              <a:srgbClr val="000000">
                <a:alpha val="13000"/>
              </a:srgbClr>
            </a:outerShdw>
          </a:effectLst>
        </p:spPr>
      </p:sp>
      <p:sp>
        <p:nvSpPr>
          <p:cNvPr id="43" name="Shape 41"/>
          <p:cNvSpPr/>
          <p:nvPr/>
        </p:nvSpPr>
        <p:spPr>
          <a:xfrm>
            <a:off x="6894576" y="2743200"/>
            <a:ext cx="2011680" cy="365760"/>
          </a:xfrm>
          <a:prstGeom prst="rect">
            <a:avLst/>
          </a:prstGeom>
          <a:solidFill>
            <a:srgbClr val="C0392B"/>
          </a:solidFill>
          <a:ln w="12700">
            <a:solidFill>
              <a:srgbClr val="C0392B"/>
            </a:solidFill>
            <a:prstDash val="solid"/>
          </a:ln>
        </p:spPr>
      </p:sp>
      <p:sp>
        <p:nvSpPr>
          <p:cNvPr id="44" name="Text 42"/>
          <p:cNvSpPr/>
          <p:nvPr/>
        </p:nvSpPr>
        <p:spPr>
          <a:xfrm>
            <a:off x="6894576" y="2743200"/>
            <a:ext cx="2011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M3</a:t>
            </a:r>
            <a:endParaRPr lang="en-US" sz="1300" dirty="0"/>
          </a:p>
        </p:txBody>
      </p:sp>
      <p:sp>
        <p:nvSpPr>
          <p:cNvPr id="45" name="Text 43"/>
          <p:cNvSpPr/>
          <p:nvPr/>
        </p:nvSpPr>
        <p:spPr>
          <a:xfrm>
            <a:off x="6967728" y="3154680"/>
            <a:ext cx="1874520" cy="914400"/>
          </a:xfrm>
          <a:prstGeom prst="rect">
            <a:avLst/>
          </a:prstGeom>
          <a:noFill/>
          <a:ln/>
        </p:spPr>
        <p:txBody>
          <a:bodyPr wrap="square" lIns="25400" tIns="25400" rIns="25400" bIns="25400" rtlCol="0" anchor="t"/>
          <a:lstStyle/>
          <a:p>
            <a:pPr algn="l" indent="0" marL="0">
              <a:buNone/>
            </a:pPr>
            <a:r>
              <a:rPr lang="en-US" sz="1050" dirty="0">
                <a:solidFill>
                  <a:srgbClr val="2D3748"/>
                </a:solidFill>
                <a:latin typeface="Calibri" pitchFamily="34" charset="0"/>
                <a:ea typeface="Calibri" pitchFamily="34" charset="-122"/>
                <a:cs typeface="Calibri" pitchFamily="34" charset="-120"/>
              </a:rPr>
              <a:t>XGBoost + FinBERT</a:t>
            </a:r>
            <a:endParaRPr lang="en-US" sz="1050" dirty="0"/>
          </a:p>
          <a:p>
            <a:pPr algn="l" indent="0" marL="0">
              <a:buNone/>
            </a:pPr>
            <a:r>
              <a:rPr lang="en-US" sz="1050" dirty="0">
                <a:solidFill>
                  <a:srgbClr val="2D3748"/>
                </a:solidFill>
                <a:latin typeface="Calibri" pitchFamily="34" charset="0"/>
                <a:ea typeface="Calibri" pitchFamily="34" charset="-122"/>
                <a:cs typeface="Calibri" pitchFamily="34" charset="-120"/>
              </a:rPr>
              <a:t>55 features (macro+sent)</a:t>
            </a:r>
            <a:endParaRPr lang="en-US" sz="1050" dirty="0"/>
          </a:p>
        </p:txBody>
      </p:sp>
      <p:sp>
        <p:nvSpPr>
          <p:cNvPr id="46" name="Text 44"/>
          <p:cNvSpPr/>
          <p:nvPr/>
        </p:nvSpPr>
        <p:spPr>
          <a:xfrm>
            <a:off x="256032" y="4251960"/>
            <a:ext cx="8686800" cy="274320"/>
          </a:xfrm>
          <a:prstGeom prst="rect">
            <a:avLst/>
          </a:prstGeom>
          <a:noFill/>
          <a:ln/>
        </p:spPr>
        <p:txBody>
          <a:bodyPr wrap="square" lIns="0" tIns="0" rIns="0" bIns="0" rtlCol="0" anchor="ctr"/>
          <a:lstStyle/>
          <a:p>
            <a:pPr algn="l" indent="0" marL="0">
              <a:buNone/>
            </a:pPr>
            <a:r>
              <a:rPr lang="en-US" sz="1050" i="1" dirty="0">
                <a:solidFill>
                  <a:srgbClr val="64748B"/>
                </a:solidFill>
                <a:latin typeface="Calibri" pitchFamily="34" charset="0"/>
                <a:ea typeface="Calibri" pitchFamily="34" charset="-122"/>
                <a:cs typeface="Calibri" pitchFamily="34" charset="-120"/>
              </a:rPr>
              <a:t>★ Novel contribution — natively interpretable non-linear model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Main Results: EBM Leads In-Sample, Collapses Prospectively</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The central empirical paradox</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Text 4"/>
          <p:cNvSpPr/>
          <p:nvPr/>
        </p:nvSpPr>
        <p:spPr>
          <a:xfrm>
            <a:off x="256032" y="1143000"/>
            <a:ext cx="4114800" cy="274320"/>
          </a:xfrm>
          <a:prstGeom prst="rect">
            <a:avLst/>
          </a:prstGeom>
          <a:noFill/>
          <a:ln/>
        </p:spPr>
        <p:txBody>
          <a:bodyPr wrap="square" lIns="0" tIns="0" rIns="0" bIns="0" rtlCol="0" anchor="ctr"/>
          <a:lstStyle/>
          <a:p>
            <a:pPr algn="l" indent="0" marL="0">
              <a:buNone/>
            </a:pPr>
            <a:r>
              <a:rPr lang="en-US" sz="1200" b="1" dirty="0">
                <a:solidFill>
                  <a:srgbClr val="0D1B3E"/>
                </a:solidFill>
                <a:latin typeface="Calibri" pitchFamily="34" charset="0"/>
                <a:ea typeface="Calibri" pitchFamily="34" charset="-122"/>
                <a:cs typeface="Calibri" pitchFamily="34" charset="-120"/>
              </a:rPr>
              <a:t>Stage 1 — Expanding-Window (1988–2020)</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56032" y="1444752"/>
          <a:ext cx="4114800" cy="1280160"/>
        </p:xfrm>
        <a:graphic>
          <a:graphicData uri="http://schemas.openxmlformats.org/drawingml/2006/table">
            <a:tbl>
              <a:tblPr/>
              <a:tblGrid>
                <a:gridCol w="2194560"/>
                <a:gridCol w="960120"/>
                <a:gridCol w="960120"/>
              </a:tblGrid>
              <a:tr h="320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AUROC</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AUPRC</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r>
              <a:tr h="32004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M1: Logistic</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0.606</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0.139</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M2: Random Forest</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0.636</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0.224</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100" b="1" dirty="0">
                          <a:solidFill>
                            <a:srgbClr val="0D1B3E"/>
                          </a:solidFill>
                          <a:latin typeface="Calibri" pitchFamily="34" charset="0"/>
                          <a:ea typeface="Calibri" pitchFamily="34" charset="-122"/>
                          <a:cs typeface="Calibri" pitchFamily="34" charset="-120"/>
                        </a:rPr>
                        <a:t>M2.5: EBM ★</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b="1" dirty="0">
                          <a:solidFill>
                            <a:srgbClr val="1D7A4A"/>
                          </a:solidFill>
                          <a:latin typeface="Calibri" pitchFamily="34" charset="0"/>
                          <a:ea typeface="Calibri" pitchFamily="34" charset="-122"/>
                          <a:cs typeface="Calibri" pitchFamily="34" charset="-120"/>
                        </a:rPr>
                        <a:t>0.753</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b="1" dirty="0">
                          <a:solidFill>
                            <a:srgbClr val="1D7A4A"/>
                          </a:solidFill>
                          <a:latin typeface="Calibri" pitchFamily="34" charset="0"/>
                          <a:ea typeface="Calibri" pitchFamily="34" charset="-122"/>
                          <a:cs typeface="Calibri" pitchFamily="34" charset="-120"/>
                        </a:rPr>
                        <a:t>0.273</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bl>
          </a:graphicData>
        </a:graphic>
      </p:graphicFrame>
      <p:sp>
        <p:nvSpPr>
          <p:cNvPr id="8" name="Text 5"/>
          <p:cNvSpPr/>
          <p:nvPr/>
        </p:nvSpPr>
        <p:spPr>
          <a:xfrm>
            <a:off x="4572000" y="1143000"/>
            <a:ext cx="4297680" cy="274320"/>
          </a:xfrm>
          <a:prstGeom prst="rect">
            <a:avLst/>
          </a:prstGeom>
          <a:noFill/>
          <a:ln/>
        </p:spPr>
        <p:txBody>
          <a:bodyPr wrap="square" lIns="0" tIns="0" rIns="0" bIns="0" rtlCol="0" anchor="ctr"/>
          <a:lstStyle/>
          <a:p>
            <a:pPr algn="l" indent="0" marL="0">
              <a:buNone/>
            </a:pPr>
            <a:r>
              <a:rPr lang="en-US" sz="1200" b="1" dirty="0">
                <a:solidFill>
                  <a:srgbClr val="0D1B3E"/>
                </a:solidFill>
                <a:latin typeface="Calibri" pitchFamily="34" charset="0"/>
                <a:ea typeface="Calibri" pitchFamily="34" charset="-122"/>
                <a:cs typeface="Calibri" pitchFamily="34" charset="-120"/>
              </a:rPr>
              <a:t>Stage 2 — Expanding-Window (2003–2020)</a:t>
            </a:r>
            <a:endParaRPr lang="en-US" sz="12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572000" y="1444752"/>
          <a:ext cx="4297680" cy="1280160"/>
        </p:xfrm>
        <a:graphic>
          <a:graphicData uri="http://schemas.openxmlformats.org/drawingml/2006/table">
            <a:tbl>
              <a:tblPr/>
              <a:tblGrid>
                <a:gridCol w="2468880"/>
                <a:gridCol w="914400"/>
                <a:gridCol w="914400"/>
              </a:tblGrid>
              <a:tr h="320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AUROC</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AUPRC</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solidFill>
                      <a:srgbClr val="1A3A6B"/>
                    </a:solidFill>
                  </a:tcPr>
                </a:tc>
              </a:tr>
              <a:tr h="32004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M2-matched: RF</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0.939</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0.343</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100" b="1" dirty="0">
                          <a:solidFill>
                            <a:srgbClr val="0D1B3E"/>
                          </a:solidFill>
                          <a:latin typeface="Calibri" pitchFamily="34" charset="0"/>
                          <a:ea typeface="Calibri" pitchFamily="34" charset="-122"/>
                          <a:cs typeface="Calibri" pitchFamily="34" charset="-120"/>
                        </a:rPr>
                        <a:t>M2.5-matched: EBM ★</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b="1" dirty="0">
                          <a:solidFill>
                            <a:srgbClr val="1D7A4A"/>
                          </a:solidFill>
                          <a:latin typeface="Calibri" pitchFamily="34" charset="0"/>
                          <a:ea typeface="Calibri" pitchFamily="34" charset="-122"/>
                          <a:cs typeface="Calibri" pitchFamily="34" charset="-120"/>
                        </a:rPr>
                        <a:t>0.960</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b="1" dirty="0">
                          <a:solidFill>
                            <a:srgbClr val="1D7A4A"/>
                          </a:solidFill>
                          <a:latin typeface="Calibri" pitchFamily="34" charset="0"/>
                          <a:ea typeface="Calibri" pitchFamily="34" charset="-122"/>
                          <a:cs typeface="Calibri" pitchFamily="34" charset="-120"/>
                        </a:rPr>
                        <a:t>0.532</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r h="32004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M3: XGBoost+FinBERT</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0.932</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0.411</a:t>
                      </a:r>
                      <a:endParaRPr lang="en-US" sz="1100" dirty="0">
                        <a:latin typeface="Calibri" charset="0"/>
                        <a:ea typeface="Calibri" charset="0"/>
                        <a:cs typeface="Calibri" charset="0"/>
                      </a:endParaRPr>
                    </a:p>
                  </a:txBody>
                  <a:tcPr marL="91440" marR="91440" marT="45720" marB="45720">
                    <a:lnL w="6350" cap="flat" cmpd="sng" algn="ctr">
                      <a:solidFill>
                        <a:srgbClr val="D0D7E5"/>
                      </a:solidFill>
                      <a:prstDash val="solid"/>
                      <a:round/>
                      <a:headEnd type="none" w="med" len="med"/>
                      <a:tailEnd type="none" w="med" len="med"/>
                    </a:lnL>
                    <a:lnR w="6350" cap="flat" cmpd="sng" algn="ctr">
                      <a:solidFill>
                        <a:srgbClr val="D0D7E5"/>
                      </a:solidFill>
                      <a:prstDash val="solid"/>
                      <a:round/>
                      <a:headEnd type="none" w="med" len="med"/>
                      <a:tailEnd type="none" w="med" len="med"/>
                    </a:lnR>
                    <a:lnT w="6350" cap="flat" cmpd="sng" algn="ctr">
                      <a:solidFill>
                        <a:srgbClr val="D0D7E5"/>
                      </a:solidFill>
                      <a:prstDash val="solid"/>
                      <a:round/>
                      <a:headEnd type="none" w="med" len="med"/>
                      <a:tailEnd type="none" w="med" len="med"/>
                    </a:lnT>
                    <a:lnB w="6350" cap="flat" cmpd="sng" algn="ctr">
                      <a:solidFill>
                        <a:srgbClr val="D0D7E5"/>
                      </a:solidFill>
                      <a:prstDash val="solid"/>
                      <a:round/>
                      <a:headEnd type="none" w="med" len="med"/>
                      <a:tailEnd type="none" w="med" len="med"/>
                    </a:lnB>
                  </a:tcPr>
                </a:tc>
              </a:tr>
            </a:tbl>
          </a:graphicData>
        </a:graphic>
      </p:graphicFrame>
      <p:sp>
        <p:nvSpPr>
          <p:cNvPr id="10" name="Shape 6"/>
          <p:cNvSpPr/>
          <p:nvPr/>
        </p:nvSpPr>
        <p:spPr>
          <a:xfrm>
            <a:off x="256032" y="2880360"/>
            <a:ext cx="8686800" cy="1554480"/>
          </a:xfrm>
          <a:prstGeom prst="rect">
            <a:avLst/>
          </a:prstGeom>
          <a:solidFill>
            <a:srgbClr val="FFF3F3"/>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11" name="Shape 7"/>
          <p:cNvSpPr/>
          <p:nvPr/>
        </p:nvSpPr>
        <p:spPr>
          <a:xfrm>
            <a:off x="256032" y="2880360"/>
            <a:ext cx="8686800" cy="329184"/>
          </a:xfrm>
          <a:prstGeom prst="rect">
            <a:avLst/>
          </a:prstGeom>
          <a:solidFill>
            <a:srgbClr val="C0392B"/>
          </a:solidFill>
          <a:ln w="12700">
            <a:solidFill>
              <a:srgbClr val="C0392B"/>
            </a:solidFill>
            <a:prstDash val="solid"/>
          </a:ln>
        </p:spPr>
      </p:sp>
      <p:sp>
        <p:nvSpPr>
          <p:cNvPr id="12" name="Text 8"/>
          <p:cNvSpPr/>
          <p:nvPr/>
        </p:nvSpPr>
        <p:spPr>
          <a:xfrm>
            <a:off x="347472" y="2880360"/>
            <a:ext cx="850392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  Strict Temporal Validation — Split B (Train: 1988–2002, Test: 2003–2011)</a:t>
            </a:r>
            <a:endParaRPr lang="en-US" sz="1200" dirty="0"/>
          </a:p>
        </p:txBody>
      </p:sp>
      <p:sp>
        <p:nvSpPr>
          <p:cNvPr id="13" name="Text 9"/>
          <p:cNvSpPr/>
          <p:nvPr/>
        </p:nvSpPr>
        <p:spPr>
          <a:xfrm>
            <a:off x="457200" y="3291840"/>
            <a:ext cx="320040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M2: Random Forest</a:t>
            </a:r>
            <a:endParaRPr lang="en-US" sz="1100" dirty="0"/>
          </a:p>
        </p:txBody>
      </p:sp>
      <p:sp>
        <p:nvSpPr>
          <p:cNvPr id="14" name="Text 10"/>
          <p:cNvSpPr/>
          <p:nvPr/>
        </p:nvSpPr>
        <p:spPr>
          <a:xfrm>
            <a:off x="457200" y="3566160"/>
            <a:ext cx="3200400" cy="320040"/>
          </a:xfrm>
          <a:prstGeom prst="rect">
            <a:avLst/>
          </a:prstGeom>
          <a:noFill/>
          <a:ln/>
        </p:spPr>
        <p:txBody>
          <a:bodyPr wrap="square" lIns="0" tIns="0" rIns="0" bIns="0" rtlCol="0" anchor="ctr"/>
          <a:lstStyle/>
          <a:p>
            <a:pPr algn="l" indent="0" marL="0">
              <a:buNone/>
            </a:pPr>
            <a:r>
              <a:rPr lang="en-US" sz="1800" b="1" dirty="0">
                <a:solidFill>
                  <a:srgbClr val="C0392B"/>
                </a:solidFill>
                <a:latin typeface="Calibri" pitchFamily="34" charset="0"/>
                <a:ea typeface="Calibri" pitchFamily="34" charset="-122"/>
                <a:cs typeface="Calibri" pitchFamily="34" charset="-120"/>
              </a:rPr>
              <a:t>AUROC  0.481</a:t>
            </a:r>
            <a:endParaRPr lang="en-US" sz="1800" dirty="0"/>
          </a:p>
        </p:txBody>
      </p:sp>
      <p:sp>
        <p:nvSpPr>
          <p:cNvPr id="15" name="Text 11"/>
          <p:cNvSpPr/>
          <p:nvPr/>
        </p:nvSpPr>
        <p:spPr>
          <a:xfrm>
            <a:off x="457200" y="3886200"/>
            <a:ext cx="3200400" cy="274320"/>
          </a:xfrm>
          <a:prstGeom prst="rect">
            <a:avLst/>
          </a:prstGeom>
          <a:noFill/>
          <a:ln/>
        </p:spPr>
        <p:txBody>
          <a:bodyPr wrap="square" lIns="0" tIns="0" rIns="0" bIns="0"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Below random (0.5)</a:t>
            </a:r>
            <a:endParaRPr lang="en-US" sz="1000" dirty="0"/>
          </a:p>
        </p:txBody>
      </p:sp>
      <p:sp>
        <p:nvSpPr>
          <p:cNvPr id="16" name="Text 12"/>
          <p:cNvSpPr/>
          <p:nvPr/>
        </p:nvSpPr>
        <p:spPr>
          <a:xfrm>
            <a:off x="4754880" y="3291840"/>
            <a:ext cx="320040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M2.5: EBM ★</a:t>
            </a:r>
            <a:endParaRPr lang="en-US" sz="1100" dirty="0"/>
          </a:p>
        </p:txBody>
      </p:sp>
      <p:sp>
        <p:nvSpPr>
          <p:cNvPr id="17" name="Text 13"/>
          <p:cNvSpPr/>
          <p:nvPr/>
        </p:nvSpPr>
        <p:spPr>
          <a:xfrm>
            <a:off x="4754880" y="3566160"/>
            <a:ext cx="3200400" cy="320040"/>
          </a:xfrm>
          <a:prstGeom prst="rect">
            <a:avLst/>
          </a:prstGeom>
          <a:noFill/>
          <a:ln/>
        </p:spPr>
        <p:txBody>
          <a:bodyPr wrap="square" lIns="0" tIns="0" rIns="0" bIns="0" rtlCol="0" anchor="ctr"/>
          <a:lstStyle/>
          <a:p>
            <a:pPr algn="l" indent="0" marL="0">
              <a:buNone/>
            </a:pPr>
            <a:r>
              <a:rPr lang="en-US" sz="1800" b="1" dirty="0">
                <a:solidFill>
                  <a:srgbClr val="C0392B"/>
                </a:solidFill>
                <a:latin typeface="Calibri" pitchFamily="34" charset="0"/>
                <a:ea typeface="Calibri" pitchFamily="34" charset="-122"/>
                <a:cs typeface="Calibri" pitchFamily="34" charset="-120"/>
              </a:rPr>
              <a:t>AUROC  0.333</a:t>
            </a:r>
            <a:endParaRPr lang="en-US" sz="1800" dirty="0"/>
          </a:p>
        </p:txBody>
      </p:sp>
      <p:sp>
        <p:nvSpPr>
          <p:cNvPr id="18" name="Text 14"/>
          <p:cNvSpPr/>
          <p:nvPr/>
        </p:nvSpPr>
        <p:spPr>
          <a:xfrm>
            <a:off x="4754880" y="3886200"/>
            <a:ext cx="3200400" cy="274320"/>
          </a:xfrm>
          <a:prstGeom prst="rect">
            <a:avLst/>
          </a:prstGeom>
          <a:noFill/>
          <a:ln/>
        </p:spPr>
        <p:txBody>
          <a:bodyPr wrap="square" lIns="0" tIns="0" rIns="0" bIns="0"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Severely below random — worse than RF</a:t>
            </a:r>
            <a:endParaRPr lang="en-US" sz="1000" dirty="0"/>
          </a:p>
        </p:txBody>
      </p:sp>
      <p:sp>
        <p:nvSpPr>
          <p:cNvPr id="19" name="Shape 15"/>
          <p:cNvSpPr/>
          <p:nvPr/>
        </p:nvSpPr>
        <p:spPr>
          <a:xfrm>
            <a:off x="4572000" y="3246120"/>
            <a:ext cx="0" cy="1097280"/>
          </a:xfrm>
          <a:prstGeom prst="line">
            <a:avLst/>
          </a:prstGeom>
          <a:noFill/>
          <a:ln w="12700">
            <a:solidFill>
              <a:srgbClr val="C0392B"/>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Why EBM Fails: Shape Function Regime Instability</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Figure 4.7 — the dissertation's central analytic contribution</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Shape 4"/>
          <p:cNvSpPr/>
          <p:nvPr/>
        </p:nvSpPr>
        <p:spPr>
          <a:xfrm>
            <a:off x="256032" y="1143000"/>
            <a:ext cx="5303520" cy="3337560"/>
          </a:xfrm>
          <a:prstGeom prst="rect">
            <a:avLst/>
          </a:prstGeom>
          <a:solidFill>
            <a:srgbClr val="F0F4F9"/>
          </a:solidFill>
          <a:ln w="12700">
            <a:solidFill>
              <a:srgbClr val="D6E4F7"/>
            </a:solidFill>
            <a:prstDash val="solid"/>
          </a:ln>
          <a:effectLst>
            <a:outerShdw sx="100000" sy="100000" kx="0" ky="0" algn="bl" rotWithShape="0" blurRad="101600" dist="38100" dir="8100000">
              <a:srgbClr val="000000">
                <a:alpha val="13000"/>
              </a:srgbClr>
            </a:outerShdw>
          </a:effectLst>
        </p:spPr>
      </p:sp>
      <p:sp>
        <p:nvSpPr>
          <p:cNvPr id="7" name="Text 5"/>
          <p:cNvSpPr/>
          <p:nvPr/>
        </p:nvSpPr>
        <p:spPr>
          <a:xfrm>
            <a:off x="256032" y="1143000"/>
            <a:ext cx="5303520" cy="3337560"/>
          </a:xfrm>
          <a:prstGeom prst="rect">
            <a:avLst/>
          </a:prstGeom>
          <a:noFill/>
          <a:ln/>
        </p:spPr>
        <p:txBody>
          <a:bodyPr wrap="square" lIns="0" tIns="0" rIns="0" bIns="0" rtlCol="0" anchor="ctr"/>
          <a:lstStyle/>
          <a:p>
            <a:pPr algn="ctr" indent="0" marL="0">
              <a:buNone/>
            </a:pPr>
            <a:r>
              <a:rPr lang="en-US" sz="1400" b="1" dirty="0">
                <a:solidFill>
                  <a:srgbClr val="64748B"/>
                </a:solidFill>
                <a:latin typeface="Calibri" pitchFamily="34" charset="0"/>
                <a:ea typeface="Calibri" pitchFamily="34" charset="-122"/>
                <a:cs typeface="Calibri" pitchFamily="34" charset="-120"/>
              </a:rPr>
              <a:t>INSERT FIGURE 4.7 HERE</a:t>
            </a:r>
            <a:endParaRPr lang="en-US" sz="1400" dirty="0"/>
          </a:p>
        </p:txBody>
      </p:sp>
      <p:sp>
        <p:nvSpPr>
          <p:cNvPr id="8" name="Text 6"/>
          <p:cNvSpPr/>
          <p:nvPr/>
        </p:nvSpPr>
        <p:spPr>
          <a:xfrm>
            <a:off x="256032" y="4526280"/>
            <a:ext cx="5303520" cy="41148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EBM shape functions: term spread lag 1–3 and total credit lag 1–3</a:t>
            </a:r>
            <a:endParaRPr lang="en-US" sz="950" dirty="0"/>
          </a:p>
          <a:p>
            <a:pPr algn="ctr" indent="0" marL="0">
              <a:buNone/>
            </a:pPr>
            <a:r>
              <a:rPr lang="en-US" sz="950" i="1" dirty="0">
                <a:solidFill>
                  <a:srgbClr val="64748B"/>
                </a:solidFill>
                <a:latin typeface="Calibri" pitchFamily="34" charset="0"/>
                <a:ea typeface="Calibri" pitchFamily="34" charset="-122"/>
                <a:cs typeface="Calibri" pitchFamily="34" charset="-120"/>
              </a:rPr>
              <a:t>Blue = Pre-GFC (2003–2006) · Red dashed = GFC-inclusive (2003–2010)</a:t>
            </a:r>
            <a:endParaRPr lang="en-US" sz="950" dirty="0"/>
          </a:p>
        </p:txBody>
      </p:sp>
      <p:sp>
        <p:nvSpPr>
          <p:cNvPr id="9" name="Shape 7"/>
          <p:cNvSpPr/>
          <p:nvPr/>
        </p:nvSpPr>
        <p:spPr>
          <a:xfrm>
            <a:off x="5742432" y="1143000"/>
            <a:ext cx="3200400" cy="1005840"/>
          </a:xfrm>
          <a:prstGeom prst="rect">
            <a:avLst/>
          </a:prstGeom>
          <a:solidFill>
            <a:srgbClr val="FFFFFF"/>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10" name="Shape 8"/>
          <p:cNvSpPr/>
          <p:nvPr/>
        </p:nvSpPr>
        <p:spPr>
          <a:xfrm>
            <a:off x="5742432" y="1143000"/>
            <a:ext cx="91440" cy="1005840"/>
          </a:xfrm>
          <a:prstGeom prst="rect">
            <a:avLst/>
          </a:prstGeom>
          <a:solidFill>
            <a:srgbClr val="2E6DB4"/>
          </a:solidFill>
          <a:ln w="12700">
            <a:solidFill>
              <a:srgbClr val="2E6DB4"/>
            </a:solidFill>
            <a:prstDash val="solid"/>
          </a:ln>
        </p:spPr>
      </p:sp>
      <p:sp>
        <p:nvSpPr>
          <p:cNvPr id="11" name="Text 9"/>
          <p:cNvSpPr/>
          <p:nvPr/>
        </p:nvSpPr>
        <p:spPr>
          <a:xfrm>
            <a:off x="5897880" y="1188720"/>
            <a:ext cx="297180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Same feature, opposite risk</a:t>
            </a:r>
            <a:endParaRPr lang="en-US" sz="1100" dirty="0"/>
          </a:p>
        </p:txBody>
      </p:sp>
      <p:sp>
        <p:nvSpPr>
          <p:cNvPr id="12" name="Text 10"/>
          <p:cNvSpPr/>
          <p:nvPr/>
        </p:nvSpPr>
        <p:spPr>
          <a:xfrm>
            <a:off x="5897880" y="1435608"/>
            <a:ext cx="2971800" cy="658368"/>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At high term_spread_lag3 values: pre-GFC model assigns REDUCED risk; GFC-inclusive model assigns INCREASED risk. The curves cross.</a:t>
            </a:r>
            <a:endParaRPr lang="en-US" sz="1000" dirty="0"/>
          </a:p>
        </p:txBody>
      </p:sp>
      <p:sp>
        <p:nvSpPr>
          <p:cNvPr id="13" name="Shape 11"/>
          <p:cNvSpPr/>
          <p:nvPr/>
        </p:nvSpPr>
        <p:spPr>
          <a:xfrm>
            <a:off x="5742432" y="2258568"/>
            <a:ext cx="3200400" cy="1005840"/>
          </a:xfrm>
          <a:prstGeom prst="rect">
            <a:avLst/>
          </a:prstGeom>
          <a:solidFill>
            <a:srgbClr val="FFFFFF"/>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14" name="Shape 12"/>
          <p:cNvSpPr/>
          <p:nvPr/>
        </p:nvSpPr>
        <p:spPr>
          <a:xfrm>
            <a:off x="5742432" y="2258568"/>
            <a:ext cx="91440" cy="1005840"/>
          </a:xfrm>
          <a:prstGeom prst="rect">
            <a:avLst/>
          </a:prstGeom>
          <a:solidFill>
            <a:srgbClr val="2E6DB4"/>
          </a:solidFill>
          <a:ln w="12700">
            <a:solidFill>
              <a:srgbClr val="2E6DB4"/>
            </a:solidFill>
            <a:prstDash val="solid"/>
          </a:ln>
        </p:spPr>
      </p:sp>
      <p:sp>
        <p:nvSpPr>
          <p:cNvPr id="15" name="Text 13"/>
          <p:cNvSpPr/>
          <p:nvPr/>
        </p:nvSpPr>
        <p:spPr>
          <a:xfrm>
            <a:off x="5897880" y="2304288"/>
            <a:ext cx="297180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Not an approximation error</a:t>
            </a:r>
            <a:endParaRPr lang="en-US" sz="1100" dirty="0"/>
          </a:p>
        </p:txBody>
      </p:sp>
      <p:sp>
        <p:nvSpPr>
          <p:cNvPr id="16" name="Text 14"/>
          <p:cNvSpPr/>
          <p:nvPr/>
        </p:nvSpPr>
        <p:spPr>
          <a:xfrm>
            <a:off x="5897880" y="2551176"/>
            <a:ext cx="2971800" cy="658368"/>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EBM shape functions ARE the model. No SHAP approximation. Instability = property of the data-generating process, not the attribution tool.</a:t>
            </a:r>
            <a:endParaRPr lang="en-US" sz="1000" dirty="0"/>
          </a:p>
        </p:txBody>
      </p:sp>
      <p:sp>
        <p:nvSpPr>
          <p:cNvPr id="17" name="Shape 15"/>
          <p:cNvSpPr/>
          <p:nvPr/>
        </p:nvSpPr>
        <p:spPr>
          <a:xfrm>
            <a:off x="5742432" y="3374136"/>
            <a:ext cx="3200400" cy="1005840"/>
          </a:xfrm>
          <a:prstGeom prst="rect">
            <a:avLst/>
          </a:prstGeom>
          <a:solidFill>
            <a:srgbClr val="FFFFFF"/>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18" name="Shape 16"/>
          <p:cNvSpPr/>
          <p:nvPr/>
        </p:nvSpPr>
        <p:spPr>
          <a:xfrm>
            <a:off x="5742432" y="3374136"/>
            <a:ext cx="91440" cy="1005840"/>
          </a:xfrm>
          <a:prstGeom prst="rect">
            <a:avLst/>
          </a:prstGeom>
          <a:solidFill>
            <a:srgbClr val="C0392B"/>
          </a:solidFill>
          <a:ln w="12700">
            <a:solidFill>
              <a:srgbClr val="C0392B"/>
            </a:solidFill>
            <a:prstDash val="solid"/>
          </a:ln>
        </p:spPr>
      </p:sp>
      <p:sp>
        <p:nvSpPr>
          <p:cNvPr id="19" name="Text 17"/>
          <p:cNvSpPr/>
          <p:nvPr/>
        </p:nvSpPr>
        <p:spPr>
          <a:xfrm>
            <a:off x="5897880" y="3419856"/>
            <a:ext cx="2971800" cy="274320"/>
          </a:xfrm>
          <a:prstGeom prst="rect">
            <a:avLst/>
          </a:prstGeom>
          <a:noFill/>
          <a:ln/>
        </p:spPr>
        <p:txBody>
          <a:bodyPr wrap="square" lIns="0" tIns="0" rIns="0" bIns="0" rtlCol="0" anchor="ctr"/>
          <a:lstStyle/>
          <a:p>
            <a:pPr algn="l" indent="0" marL="0">
              <a:buNone/>
            </a:pPr>
            <a:r>
              <a:rPr lang="en-US" sz="1100" b="1" dirty="0">
                <a:solidFill>
                  <a:srgbClr val="0D1B3E"/>
                </a:solidFill>
                <a:latin typeface="Calibri" pitchFamily="34" charset="0"/>
                <a:ea typeface="Calibri" pitchFamily="34" charset="-122"/>
                <a:cs typeface="Calibri" pitchFamily="34" charset="-120"/>
              </a:rPr>
              <a:t>Direct mechanism</a:t>
            </a:r>
            <a:endParaRPr lang="en-US" sz="1100" dirty="0"/>
          </a:p>
        </p:txBody>
      </p:sp>
      <p:sp>
        <p:nvSpPr>
          <p:cNvPr id="20" name="Text 18"/>
          <p:cNvSpPr/>
          <p:nvPr/>
        </p:nvSpPr>
        <p:spPr>
          <a:xfrm>
            <a:off x="5897880" y="3666744"/>
            <a:ext cx="2971800" cy="658368"/>
          </a:xfrm>
          <a:prstGeom prst="rect">
            <a:avLst/>
          </a:prstGeom>
          <a:noFill/>
          <a:ln/>
        </p:spPr>
        <p:txBody>
          <a:bodyPr wrap="square" lIns="25400" tIns="25400" rIns="25400" bIns="2540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This sign reversal explains AUROC 0.333 mechanically: model applies pre-GFC mappings to GFC data → systematic misclassification.</a:t>
            </a:r>
            <a:endParaRPr lang="en-US" sz="1000" dirty="0"/>
          </a:p>
        </p:txBody>
      </p:sp>
      <p:sp>
        <p:nvSpPr>
          <p:cNvPr id="21" name="Shape 19"/>
          <p:cNvSpPr/>
          <p:nvPr/>
        </p:nvSpPr>
        <p:spPr>
          <a:xfrm>
            <a:off x="256032" y="4526280"/>
            <a:ext cx="5303520" cy="502920"/>
          </a:xfrm>
          <a:prstGeom prst="rect">
            <a:avLst/>
          </a:prstGeom>
          <a:solidFill>
            <a:srgbClr val="F0F4F9"/>
          </a:solidFill>
          <a:ln w="19050">
            <a:solidFill>
              <a:srgbClr val="E8A020"/>
            </a:solidFill>
            <a:prstDash val="solid"/>
          </a:ln>
          <a:effectLst>
            <a:outerShdw sx="100000" sy="100000" kx="0" ky="0" algn="bl" rotWithShape="0" blurRad="101600" dist="38100" dir="8100000">
              <a:srgbClr val="000000">
                <a:alpha val="13000"/>
              </a:srgbClr>
            </a:outerShdw>
          </a:effectLst>
        </p:spPr>
      </p:sp>
      <p:sp>
        <p:nvSpPr>
          <p:cNvPr id="22" name="Shape 20"/>
          <p:cNvSpPr/>
          <p:nvPr/>
        </p:nvSpPr>
        <p:spPr>
          <a:xfrm>
            <a:off x="256032" y="4526280"/>
            <a:ext cx="91440" cy="502920"/>
          </a:xfrm>
          <a:prstGeom prst="rect">
            <a:avLst/>
          </a:prstGeom>
          <a:solidFill>
            <a:srgbClr val="E8A020"/>
          </a:solidFill>
          <a:ln w="12700">
            <a:solidFill>
              <a:srgbClr val="E8A020"/>
            </a:solidFill>
            <a:prstDash val="solid"/>
          </a:ln>
        </p:spPr>
      </p:sp>
      <p:sp>
        <p:nvSpPr>
          <p:cNvPr id="23" name="Text 21"/>
          <p:cNvSpPr/>
          <p:nvPr/>
        </p:nvSpPr>
        <p:spPr>
          <a:xfrm>
            <a:off x="420624" y="4526280"/>
            <a:ext cx="5074920" cy="502920"/>
          </a:xfrm>
          <a:prstGeom prst="rect">
            <a:avLst/>
          </a:prstGeom>
          <a:noFill/>
          <a:ln/>
        </p:spPr>
        <p:txBody>
          <a:bodyPr wrap="square" lIns="50800" tIns="50800" rIns="50800" bIns="50800" rtlCol="0" anchor="ctr"/>
          <a:lstStyle/>
          <a:p>
            <a:pPr indent="0" marL="0">
              <a:buNone/>
            </a:pPr>
            <a:r>
              <a:rPr lang="en-US" sz="1200" i="1" dirty="0">
                <a:solidFill>
                  <a:srgbClr val="2D3748"/>
                </a:solidFill>
                <a:latin typeface="Calibri" pitchFamily="34" charset="0"/>
                <a:ea typeface="Calibri" pitchFamily="34" charset="-122"/>
                <a:cs typeface="Calibri" pitchFamily="34" charset="-120"/>
              </a:rPr>
              <a:t>Panel logistic confirms: term_spread_lag1 β = −0.646 (p=0.004) vs lag3 β = +0.630 (p=0.003) — sign reversal confirmed parametrically from a completely independent framework.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Sentiment and Ensemble: Directional but Unstable</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H1, H2 and H3 verdicts</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Shape 4"/>
          <p:cNvSpPr/>
          <p:nvPr/>
        </p:nvSpPr>
        <p:spPr>
          <a:xfrm>
            <a:off x="256032" y="1170432"/>
            <a:ext cx="8686800" cy="1097280"/>
          </a:xfrm>
          <a:prstGeom prst="rect">
            <a:avLst/>
          </a:prstGeom>
          <a:solidFill>
            <a:srgbClr val="F0F4F9"/>
          </a:solidFill>
          <a:ln w="25400">
            <a:solidFill>
              <a:srgbClr val="E8A020"/>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170432"/>
            <a:ext cx="640080" cy="1097280"/>
          </a:xfrm>
          <a:prstGeom prst="rect">
            <a:avLst/>
          </a:prstGeom>
          <a:solidFill>
            <a:srgbClr val="E8A020"/>
          </a:solidFill>
          <a:ln w="12700">
            <a:solidFill>
              <a:srgbClr val="E8A020"/>
            </a:solidFill>
            <a:prstDash val="solid"/>
          </a:ln>
        </p:spPr>
      </p:sp>
      <p:sp>
        <p:nvSpPr>
          <p:cNvPr id="8" name="Text 6"/>
          <p:cNvSpPr/>
          <p:nvPr/>
        </p:nvSpPr>
        <p:spPr>
          <a:xfrm>
            <a:off x="256032" y="1170432"/>
            <a:ext cx="640080"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H1</a:t>
            </a:r>
            <a:endParaRPr lang="en-US" sz="2000" dirty="0"/>
          </a:p>
        </p:txBody>
      </p:sp>
      <p:sp>
        <p:nvSpPr>
          <p:cNvPr id="9" name="Text 7"/>
          <p:cNvSpPr/>
          <p:nvPr/>
        </p:nvSpPr>
        <p:spPr>
          <a:xfrm>
            <a:off x="987552" y="1225296"/>
            <a:ext cx="3657600" cy="411480"/>
          </a:xfrm>
          <a:prstGeom prst="rect">
            <a:avLst/>
          </a:prstGeom>
          <a:noFill/>
          <a:ln/>
        </p:spPr>
        <p:txBody>
          <a:bodyPr wrap="square" lIns="0" tIns="0" rIns="0" bIns="0" rtlCol="0" anchor="t"/>
          <a:lstStyle/>
          <a:p>
            <a:pPr algn="l" indent="0" marL="0">
              <a:buNone/>
            </a:pPr>
            <a:r>
              <a:rPr lang="en-US" sz="1100" b="1" dirty="0">
                <a:solidFill>
                  <a:srgbClr val="0D1B3E"/>
                </a:solidFill>
                <a:latin typeface="Calibri" pitchFamily="34" charset="0"/>
                <a:ea typeface="Calibri" pitchFamily="34" charset="-122"/>
                <a:cs typeface="Calibri" pitchFamily="34" charset="-120"/>
              </a:rPr>
              <a:t>Does FinBERT sentiment improve AUROC/AUPRC vs macro baseline?</a:t>
            </a:r>
            <a:endParaRPr lang="en-US" sz="1100" dirty="0"/>
          </a:p>
        </p:txBody>
      </p:sp>
      <p:sp>
        <p:nvSpPr>
          <p:cNvPr id="10" name="Text 8"/>
          <p:cNvSpPr/>
          <p:nvPr/>
        </p:nvSpPr>
        <p:spPr>
          <a:xfrm>
            <a:off x="987552" y="1627632"/>
            <a:ext cx="3657600" cy="59436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M3 AUPRC 0.411 &gt; M2-matched 0.343. But CI [−0.130, +0.312] spans zero. EBM macro-only AUPRC 0.532 &gt; M3 — algorithm effect dominates.</a:t>
            </a:r>
            <a:endParaRPr lang="en-US" sz="1000" dirty="0"/>
          </a:p>
        </p:txBody>
      </p:sp>
      <p:sp>
        <p:nvSpPr>
          <p:cNvPr id="11" name="Shape 9"/>
          <p:cNvSpPr/>
          <p:nvPr/>
        </p:nvSpPr>
        <p:spPr>
          <a:xfrm>
            <a:off x="4846320" y="1399032"/>
            <a:ext cx="3931920" cy="548640"/>
          </a:xfrm>
          <a:prstGeom prst="rect">
            <a:avLst/>
          </a:prstGeom>
          <a:solidFill>
            <a:srgbClr val="FFFFFF"/>
          </a:solidFill>
          <a:ln w="12700">
            <a:solidFill>
              <a:srgbClr val="E8A020"/>
            </a:solidFill>
            <a:prstDash val="solid"/>
          </a:ln>
        </p:spPr>
      </p:sp>
      <p:sp>
        <p:nvSpPr>
          <p:cNvPr id="12" name="Text 10"/>
          <p:cNvSpPr/>
          <p:nvPr/>
        </p:nvSpPr>
        <p:spPr>
          <a:xfrm>
            <a:off x="4846320" y="1399032"/>
            <a:ext cx="3931920" cy="548640"/>
          </a:xfrm>
          <a:prstGeom prst="rect">
            <a:avLst/>
          </a:prstGeom>
          <a:noFill/>
          <a:ln/>
        </p:spPr>
        <p:txBody>
          <a:bodyPr wrap="square" lIns="0" tIns="0" rIns="0" bIns="0" rtlCol="0" anchor="ctr"/>
          <a:lstStyle/>
          <a:p>
            <a:pPr algn="ctr" indent="0" marL="0">
              <a:buNone/>
            </a:pPr>
            <a:r>
              <a:rPr lang="en-US" sz="1300" b="1" dirty="0">
                <a:solidFill>
                  <a:srgbClr val="E8A020"/>
                </a:solidFill>
                <a:latin typeface="Calibri" pitchFamily="34" charset="0"/>
                <a:ea typeface="Calibri" pitchFamily="34" charset="-122"/>
                <a:cs typeface="Calibri" pitchFamily="34" charset="-120"/>
              </a:rPr>
              <a:t>Directionally supported</a:t>
            </a:r>
            <a:endParaRPr lang="en-US" sz="1300" dirty="0"/>
          </a:p>
        </p:txBody>
      </p:sp>
      <p:sp>
        <p:nvSpPr>
          <p:cNvPr id="13" name="Shape 11"/>
          <p:cNvSpPr/>
          <p:nvPr/>
        </p:nvSpPr>
        <p:spPr>
          <a:xfrm>
            <a:off x="256032" y="2404872"/>
            <a:ext cx="8686800" cy="1097280"/>
          </a:xfrm>
          <a:prstGeom prst="rect">
            <a:avLst/>
          </a:prstGeom>
          <a:solidFill>
            <a:srgbClr val="F0F4F9"/>
          </a:solidFill>
          <a:ln w="25400">
            <a:solidFill>
              <a:srgbClr val="C0392B"/>
            </a:solidFill>
            <a:prstDash val="solid"/>
          </a:ln>
          <a:effectLst>
            <a:outerShdw sx="100000" sy="100000" kx="0" ky="0" algn="bl" rotWithShape="0" blurRad="101600" dist="38100" dir="8100000">
              <a:srgbClr val="000000">
                <a:alpha val="13000"/>
              </a:srgbClr>
            </a:outerShdw>
          </a:effectLst>
        </p:spPr>
      </p:sp>
      <p:sp>
        <p:nvSpPr>
          <p:cNvPr id="14" name="Shape 12"/>
          <p:cNvSpPr/>
          <p:nvPr/>
        </p:nvSpPr>
        <p:spPr>
          <a:xfrm>
            <a:off x="256032" y="2404872"/>
            <a:ext cx="640080" cy="1097280"/>
          </a:xfrm>
          <a:prstGeom prst="rect">
            <a:avLst/>
          </a:prstGeom>
          <a:solidFill>
            <a:srgbClr val="C0392B"/>
          </a:solidFill>
          <a:ln w="12700">
            <a:solidFill>
              <a:srgbClr val="C0392B"/>
            </a:solidFill>
            <a:prstDash val="solid"/>
          </a:ln>
        </p:spPr>
      </p:sp>
      <p:sp>
        <p:nvSpPr>
          <p:cNvPr id="15" name="Text 13"/>
          <p:cNvSpPr/>
          <p:nvPr/>
        </p:nvSpPr>
        <p:spPr>
          <a:xfrm>
            <a:off x="256032" y="2404872"/>
            <a:ext cx="640080"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H2</a:t>
            </a:r>
            <a:endParaRPr lang="en-US" sz="2000" dirty="0"/>
          </a:p>
        </p:txBody>
      </p:sp>
      <p:sp>
        <p:nvSpPr>
          <p:cNvPr id="16" name="Text 14"/>
          <p:cNvSpPr/>
          <p:nvPr/>
        </p:nvSpPr>
        <p:spPr>
          <a:xfrm>
            <a:off x="987552" y="2459736"/>
            <a:ext cx="3657600" cy="411480"/>
          </a:xfrm>
          <a:prstGeom prst="rect">
            <a:avLst/>
          </a:prstGeom>
          <a:noFill/>
          <a:ln/>
        </p:spPr>
        <p:txBody>
          <a:bodyPr wrap="square" lIns="0" tIns="0" rIns="0" bIns="0" rtlCol="0" anchor="t"/>
          <a:lstStyle/>
          <a:p>
            <a:pPr algn="l" indent="0" marL="0">
              <a:buNone/>
            </a:pPr>
            <a:r>
              <a:rPr lang="en-US" sz="1100" b="1" dirty="0">
                <a:solidFill>
                  <a:srgbClr val="0D1B3E"/>
                </a:solidFill>
                <a:latin typeface="Calibri" pitchFamily="34" charset="0"/>
                <a:ea typeface="Calibri" pitchFamily="34" charset="-122"/>
                <a:cs typeface="Calibri" pitchFamily="34" charset="-120"/>
              </a:rPr>
              <a:t>Does at least one FinBERT feature rank top-5 by SHAP?</a:t>
            </a:r>
            <a:endParaRPr lang="en-US" sz="1100" dirty="0"/>
          </a:p>
        </p:txBody>
      </p:sp>
      <p:sp>
        <p:nvSpPr>
          <p:cNvPr id="17" name="Text 15"/>
          <p:cNvSpPr/>
          <p:nvPr/>
        </p:nvSpPr>
        <p:spPr>
          <a:xfrm>
            <a:off x="987552" y="2862072"/>
            <a:ext cx="3657600" cy="59436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No sentiment feature in top 20 EBM native importance. SHAP aggregate: macro features 73.8% of total attribution. Convergence = shared sample correlation, not causal signal.</a:t>
            </a:r>
            <a:endParaRPr lang="en-US" sz="1000" dirty="0"/>
          </a:p>
        </p:txBody>
      </p:sp>
      <p:sp>
        <p:nvSpPr>
          <p:cNvPr id="18" name="Shape 16"/>
          <p:cNvSpPr/>
          <p:nvPr/>
        </p:nvSpPr>
        <p:spPr>
          <a:xfrm>
            <a:off x="4846320" y="2633472"/>
            <a:ext cx="3931920" cy="548640"/>
          </a:xfrm>
          <a:prstGeom prst="rect">
            <a:avLst/>
          </a:prstGeom>
          <a:solidFill>
            <a:srgbClr val="FFFFFF"/>
          </a:solidFill>
          <a:ln w="12700">
            <a:solidFill>
              <a:srgbClr val="C0392B"/>
            </a:solidFill>
            <a:prstDash val="solid"/>
          </a:ln>
        </p:spPr>
      </p:sp>
      <p:sp>
        <p:nvSpPr>
          <p:cNvPr id="19" name="Text 17"/>
          <p:cNvSpPr/>
          <p:nvPr/>
        </p:nvSpPr>
        <p:spPr>
          <a:xfrm>
            <a:off x="4846320" y="2633472"/>
            <a:ext cx="3931920" cy="548640"/>
          </a:xfrm>
          <a:prstGeom prst="rect">
            <a:avLst/>
          </a:prstGeom>
          <a:noFill/>
          <a:ln/>
        </p:spPr>
        <p:txBody>
          <a:bodyPr wrap="square" lIns="0" tIns="0" rIns="0" bIns="0"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Not supported</a:t>
            </a:r>
            <a:endParaRPr lang="en-US" sz="1300" dirty="0"/>
          </a:p>
        </p:txBody>
      </p:sp>
      <p:sp>
        <p:nvSpPr>
          <p:cNvPr id="20" name="Shape 18"/>
          <p:cNvSpPr/>
          <p:nvPr/>
        </p:nvSpPr>
        <p:spPr>
          <a:xfrm>
            <a:off x="256032" y="3639312"/>
            <a:ext cx="8686800" cy="1097280"/>
          </a:xfrm>
          <a:prstGeom prst="rect">
            <a:avLst/>
          </a:prstGeom>
          <a:solidFill>
            <a:srgbClr val="F0F4F9"/>
          </a:solidFill>
          <a:ln w="25400">
            <a:solidFill>
              <a:srgbClr val="1D7A4A"/>
            </a:solidFill>
            <a:prstDash val="solid"/>
          </a:ln>
          <a:effectLst>
            <a:outerShdw sx="100000" sy="100000" kx="0" ky="0" algn="bl" rotWithShape="0" blurRad="101600" dist="38100" dir="8100000">
              <a:srgbClr val="000000">
                <a:alpha val="13000"/>
              </a:srgbClr>
            </a:outerShdw>
          </a:effectLst>
        </p:spPr>
      </p:sp>
      <p:sp>
        <p:nvSpPr>
          <p:cNvPr id="21" name="Shape 19"/>
          <p:cNvSpPr/>
          <p:nvPr/>
        </p:nvSpPr>
        <p:spPr>
          <a:xfrm>
            <a:off x="256032" y="3639312"/>
            <a:ext cx="640080" cy="1097280"/>
          </a:xfrm>
          <a:prstGeom prst="rect">
            <a:avLst/>
          </a:prstGeom>
          <a:solidFill>
            <a:srgbClr val="1D7A4A"/>
          </a:solidFill>
          <a:ln w="12700">
            <a:solidFill>
              <a:srgbClr val="1D7A4A"/>
            </a:solidFill>
            <a:prstDash val="solid"/>
          </a:ln>
        </p:spPr>
      </p:sp>
      <p:sp>
        <p:nvSpPr>
          <p:cNvPr id="22" name="Text 20"/>
          <p:cNvSpPr/>
          <p:nvPr/>
        </p:nvSpPr>
        <p:spPr>
          <a:xfrm>
            <a:off x="256032" y="3639312"/>
            <a:ext cx="640080" cy="10972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H3</a:t>
            </a:r>
            <a:endParaRPr lang="en-US" sz="2000" dirty="0"/>
          </a:p>
        </p:txBody>
      </p:sp>
      <p:sp>
        <p:nvSpPr>
          <p:cNvPr id="23" name="Text 21"/>
          <p:cNvSpPr/>
          <p:nvPr/>
        </p:nvSpPr>
        <p:spPr>
          <a:xfrm>
            <a:off x="987552" y="3694176"/>
            <a:ext cx="3657600" cy="411480"/>
          </a:xfrm>
          <a:prstGeom prst="rect">
            <a:avLst/>
          </a:prstGeom>
          <a:noFill/>
          <a:ln/>
        </p:spPr>
        <p:txBody>
          <a:bodyPr wrap="square" lIns="0" tIns="0" rIns="0" bIns="0" rtlCol="0" anchor="t"/>
          <a:lstStyle/>
          <a:p>
            <a:pPr algn="l" indent="0" marL="0">
              <a:buNone/>
            </a:pPr>
            <a:r>
              <a:rPr lang="en-US" sz="1100" b="1" dirty="0">
                <a:solidFill>
                  <a:srgbClr val="0D1B3E"/>
                </a:solidFill>
                <a:latin typeface="Calibri" pitchFamily="34" charset="0"/>
                <a:ea typeface="Calibri" pitchFamily="34" charset="-122"/>
                <a:cs typeface="Calibri" pitchFamily="34" charset="-120"/>
              </a:rPr>
              <a:t>Is there a quantifiable accuracy-interpretability trade-off?</a:t>
            </a:r>
            <a:endParaRPr lang="en-US" sz="1100" dirty="0"/>
          </a:p>
        </p:txBody>
      </p:sp>
      <p:sp>
        <p:nvSpPr>
          <p:cNvPr id="24" name="Text 22"/>
          <p:cNvSpPr/>
          <p:nvPr/>
        </p:nvSpPr>
        <p:spPr>
          <a:xfrm>
            <a:off x="987552" y="4096512"/>
            <a:ext cx="3657600" cy="594360"/>
          </a:xfrm>
          <a:prstGeom prst="rect">
            <a:avLst/>
          </a:prstGeom>
          <a:noFill/>
          <a:ln/>
        </p:spPr>
        <p:txBody>
          <a:bodyPr wrap="square" lIns="0" tIns="0" rIns="0" bIns="0" rtlCol="0" anchor="t"/>
          <a:lstStyle/>
          <a:p>
            <a:pPr algn="l" indent="0" marL="0">
              <a:buNone/>
            </a:pPr>
            <a:r>
              <a:rPr lang="en-US" sz="1000" dirty="0">
                <a:solidFill>
                  <a:srgbClr val="2D3748"/>
                </a:solidFill>
                <a:latin typeface="Calibri" pitchFamily="34" charset="0"/>
                <a:ea typeface="Calibri" pitchFamily="34" charset="-122"/>
                <a:cs typeface="Calibri" pitchFamily="34" charset="-120"/>
              </a:rPr>
              <a:t>Trade-off is not binary. EBM leads in-sample. Under prospective evaluation, EBM fails more severely — flexibility enables interpretability AND regime-specific overfitting. Same mechanism.</a:t>
            </a:r>
            <a:endParaRPr lang="en-US" sz="1000" dirty="0"/>
          </a:p>
        </p:txBody>
      </p:sp>
      <p:sp>
        <p:nvSpPr>
          <p:cNvPr id="25" name="Shape 23"/>
          <p:cNvSpPr/>
          <p:nvPr/>
        </p:nvSpPr>
        <p:spPr>
          <a:xfrm>
            <a:off x="4846320" y="3867912"/>
            <a:ext cx="3931920" cy="548640"/>
          </a:xfrm>
          <a:prstGeom prst="rect">
            <a:avLst/>
          </a:prstGeom>
          <a:solidFill>
            <a:srgbClr val="FFFFFF"/>
          </a:solidFill>
          <a:ln w="12700">
            <a:solidFill>
              <a:srgbClr val="1D7A4A"/>
            </a:solidFill>
            <a:prstDash val="solid"/>
          </a:ln>
        </p:spPr>
      </p:sp>
      <p:sp>
        <p:nvSpPr>
          <p:cNvPr id="26" name="Text 24"/>
          <p:cNvSpPr/>
          <p:nvPr/>
        </p:nvSpPr>
        <p:spPr>
          <a:xfrm>
            <a:off x="4846320" y="3867912"/>
            <a:ext cx="3931920" cy="548640"/>
          </a:xfrm>
          <a:prstGeom prst="rect">
            <a:avLst/>
          </a:prstGeom>
          <a:noFill/>
          <a:ln/>
        </p:spPr>
        <p:txBody>
          <a:bodyPr wrap="square" lIns="0" tIns="0" rIns="0" bIns="0" rtlCol="0" anchor="ctr"/>
          <a:lstStyle/>
          <a:p>
            <a:pPr algn="ctr" indent="0" marL="0">
              <a:buNone/>
            </a:pPr>
            <a:r>
              <a:rPr lang="en-US" sz="1300" b="1" dirty="0">
                <a:solidFill>
                  <a:srgbClr val="1D7A4A"/>
                </a:solidFill>
                <a:latin typeface="Calibri" pitchFamily="34" charset="0"/>
                <a:ea typeface="Calibri" pitchFamily="34" charset="-122"/>
                <a:cs typeface="Calibri" pitchFamily="34" charset="-120"/>
              </a:rPr>
              <a:t>Supported and refined</a:t>
            </a:r>
            <a:endParaRPr lang="en-US" sz="1300" dirty="0"/>
          </a:p>
        </p:txBody>
      </p:sp>
      <p:sp>
        <p:nvSpPr>
          <p:cNvPr id="27" name="Text 25"/>
          <p:cNvSpPr/>
          <p:nvPr/>
        </p:nvSpPr>
        <p:spPr>
          <a:xfrm>
            <a:off x="256032" y="4754880"/>
            <a:ext cx="8686800" cy="292608"/>
          </a:xfrm>
          <a:prstGeom prst="rect">
            <a:avLst/>
          </a:prstGeom>
          <a:noFill/>
          <a:ln/>
        </p:spPr>
        <p:txBody>
          <a:bodyPr wrap="square" lIns="0" tIns="0" rIns="0" bIns="0" rtlCol="0" anchor="ctr"/>
          <a:lstStyle/>
          <a:p>
            <a:pPr algn="l" indent="0" marL="0">
              <a:buNone/>
            </a:pPr>
            <a:r>
              <a:rPr lang="en-US" sz="950" i="1" dirty="0">
                <a:solidFill>
                  <a:srgbClr val="64748B"/>
                </a:solidFill>
                <a:latin typeface="Calibri" pitchFamily="34" charset="0"/>
                <a:ea typeface="Calibri" pitchFamily="34" charset="-122"/>
                <a:cs typeface="Calibri" pitchFamily="34" charset="-120"/>
              </a:rPr>
              <a:t>Ensemble E1-EBM: AUROC 0.955 · Brier 0.056 (best calibration). AUPRC 0.433 &lt; EBM standalone 0.532 — probability dilution from averaging with lower-AUPRC M2-matched.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Conclusions: What This Dissertation Establishes</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Four findings, one structural argument</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Shape 4"/>
          <p:cNvSpPr/>
          <p:nvPr/>
        </p:nvSpPr>
        <p:spPr>
          <a:xfrm>
            <a:off x="256032" y="1170432"/>
            <a:ext cx="4206240" cy="169164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1170432"/>
            <a:ext cx="4206240" cy="347472"/>
          </a:xfrm>
          <a:prstGeom prst="rect">
            <a:avLst/>
          </a:prstGeom>
          <a:solidFill>
            <a:srgbClr val="2E6DB4"/>
          </a:solidFill>
          <a:ln w="12700">
            <a:solidFill>
              <a:srgbClr val="2E6DB4"/>
            </a:solidFill>
            <a:prstDash val="solid"/>
          </a:ln>
        </p:spPr>
      </p:sp>
      <p:sp>
        <p:nvSpPr>
          <p:cNvPr id="8" name="Text 6"/>
          <p:cNvSpPr/>
          <p:nvPr/>
        </p:nvSpPr>
        <p:spPr>
          <a:xfrm>
            <a:off x="329184" y="1170432"/>
            <a:ext cx="406908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1.  More data does not fix the problem</a:t>
            </a:r>
            <a:endParaRPr lang="en-US" sz="1200" dirty="0"/>
          </a:p>
        </p:txBody>
      </p:sp>
      <p:sp>
        <p:nvSpPr>
          <p:cNvPr id="9" name="Text 7"/>
          <p:cNvSpPr/>
          <p:nvPr/>
        </p:nvSpPr>
        <p:spPr>
          <a:xfrm>
            <a:off x="365760" y="1554480"/>
            <a:ext cx="3977640" cy="1234440"/>
          </a:xfrm>
          <a:prstGeom prst="rect">
            <a:avLst/>
          </a:prstGeom>
          <a:noFill/>
          <a:ln/>
        </p:spPr>
        <p:txBody>
          <a:bodyPr wrap="square" lIns="25400" tIns="25400" rIns="25400" bIns="25400" rtlCol="0" anchor="t"/>
          <a:lstStyle/>
          <a:p>
            <a:pPr algn="l" indent="0" marL="0">
              <a:buNone/>
            </a:pPr>
            <a:r>
              <a:rPr lang="en-US" sz="1100" dirty="0">
                <a:solidFill>
                  <a:srgbClr val="2D3748"/>
                </a:solidFill>
                <a:latin typeface="Calibri" pitchFamily="34" charset="0"/>
                <a:ea typeface="Calibri" pitchFamily="34" charset="-122"/>
                <a:cs typeface="Calibri" pitchFamily="34" charset="-120"/>
              </a:rPr>
              <a:t>15 additional years of crisis history, including the Nordic cluster, does not resolve GFC generalisation failure. Regime discontinuity is structurally too large for aggregate macro features to bridge.</a:t>
            </a:r>
            <a:endParaRPr lang="en-US" sz="1100" dirty="0"/>
          </a:p>
        </p:txBody>
      </p:sp>
      <p:sp>
        <p:nvSpPr>
          <p:cNvPr id="10" name="Shape 8"/>
          <p:cNvSpPr/>
          <p:nvPr/>
        </p:nvSpPr>
        <p:spPr>
          <a:xfrm>
            <a:off x="256032" y="3044952"/>
            <a:ext cx="4206240" cy="1691640"/>
          </a:xfrm>
          <a:prstGeom prst="rect">
            <a:avLst/>
          </a:prstGeom>
          <a:solidFill>
            <a:srgbClr val="F0F4F9"/>
          </a:solidFill>
          <a:ln w="19050">
            <a:solidFill>
              <a:srgbClr val="E8A020"/>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256032" y="3044952"/>
            <a:ext cx="4206240" cy="347472"/>
          </a:xfrm>
          <a:prstGeom prst="rect">
            <a:avLst/>
          </a:prstGeom>
          <a:solidFill>
            <a:srgbClr val="E8A020"/>
          </a:solidFill>
          <a:ln w="12700">
            <a:solidFill>
              <a:srgbClr val="E8A020"/>
            </a:solidFill>
            <a:prstDash val="solid"/>
          </a:ln>
        </p:spPr>
      </p:sp>
      <p:sp>
        <p:nvSpPr>
          <p:cNvPr id="12" name="Text 10"/>
          <p:cNvSpPr/>
          <p:nvPr/>
        </p:nvSpPr>
        <p:spPr>
          <a:xfrm>
            <a:off x="329184" y="3044952"/>
            <a:ext cx="406908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2.  Interpretability does not confer robustness</a:t>
            </a:r>
            <a:endParaRPr lang="en-US" sz="1200" dirty="0"/>
          </a:p>
        </p:txBody>
      </p:sp>
      <p:sp>
        <p:nvSpPr>
          <p:cNvPr id="13" name="Text 11"/>
          <p:cNvSpPr/>
          <p:nvPr/>
        </p:nvSpPr>
        <p:spPr>
          <a:xfrm>
            <a:off x="365760" y="3429000"/>
            <a:ext cx="3977640" cy="1234440"/>
          </a:xfrm>
          <a:prstGeom prst="rect">
            <a:avLst/>
          </a:prstGeom>
          <a:noFill/>
          <a:ln/>
        </p:spPr>
        <p:txBody>
          <a:bodyPr wrap="square" lIns="25400" tIns="25400" rIns="25400" bIns="25400" rtlCol="0" anchor="t"/>
          <a:lstStyle/>
          <a:p>
            <a:pPr algn="l" indent="0" marL="0">
              <a:buNone/>
            </a:pPr>
            <a:r>
              <a:rPr lang="en-US" sz="1100" dirty="0">
                <a:solidFill>
                  <a:srgbClr val="2D3748"/>
                </a:solidFill>
                <a:latin typeface="Calibri" pitchFamily="34" charset="0"/>
                <a:ea typeface="Calibri" pitchFamily="34" charset="-122"/>
                <a:cs typeface="Calibri" pitchFamily="34" charset="-120"/>
              </a:rPr>
              <a:t>EBM leads in-sample but fails most severely prospectively. The flexibility that enables shape function interpretability is the same mechanism that produces regime-specific overfitting.</a:t>
            </a:r>
            <a:endParaRPr lang="en-US" sz="1100" dirty="0"/>
          </a:p>
        </p:txBody>
      </p:sp>
      <p:sp>
        <p:nvSpPr>
          <p:cNvPr id="14" name="Shape 12"/>
          <p:cNvSpPr/>
          <p:nvPr/>
        </p:nvSpPr>
        <p:spPr>
          <a:xfrm>
            <a:off x="4690872" y="1170432"/>
            <a:ext cx="4206240" cy="1691640"/>
          </a:xfrm>
          <a:prstGeom prst="rect">
            <a:avLst/>
          </a:prstGeom>
          <a:solidFill>
            <a:srgbClr val="F0F4F9"/>
          </a:solidFill>
          <a:ln w="19050">
            <a:solidFill>
              <a:srgbClr val="C0392B"/>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4690872" y="1170432"/>
            <a:ext cx="4206240" cy="347472"/>
          </a:xfrm>
          <a:prstGeom prst="rect">
            <a:avLst/>
          </a:prstGeom>
          <a:solidFill>
            <a:srgbClr val="C0392B"/>
          </a:solidFill>
          <a:ln w="12700">
            <a:solidFill>
              <a:srgbClr val="C0392B"/>
            </a:solidFill>
            <a:prstDash val="solid"/>
          </a:ln>
        </p:spPr>
      </p:sp>
      <p:sp>
        <p:nvSpPr>
          <p:cNvPr id="16" name="Text 14"/>
          <p:cNvSpPr/>
          <p:nvPr/>
        </p:nvSpPr>
        <p:spPr>
          <a:xfrm>
            <a:off x="4764024" y="1170432"/>
            <a:ext cx="406908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3.  EBM makes the failure mechanism visible</a:t>
            </a:r>
            <a:endParaRPr lang="en-US" sz="1200" dirty="0"/>
          </a:p>
        </p:txBody>
      </p:sp>
      <p:sp>
        <p:nvSpPr>
          <p:cNvPr id="17" name="Text 15"/>
          <p:cNvSpPr/>
          <p:nvPr/>
        </p:nvSpPr>
        <p:spPr>
          <a:xfrm>
            <a:off x="4800600" y="1554480"/>
            <a:ext cx="3977640" cy="1234440"/>
          </a:xfrm>
          <a:prstGeom prst="rect">
            <a:avLst/>
          </a:prstGeom>
          <a:noFill/>
          <a:ln/>
        </p:spPr>
        <p:txBody>
          <a:bodyPr wrap="square" lIns="25400" tIns="25400" rIns="25400" bIns="25400" rtlCol="0" anchor="t"/>
          <a:lstStyle/>
          <a:p>
            <a:pPr algn="l" indent="0" marL="0">
              <a:buNone/>
            </a:pPr>
            <a:r>
              <a:rPr lang="en-US" sz="1100" dirty="0">
                <a:solidFill>
                  <a:srgbClr val="2D3748"/>
                </a:solidFill>
                <a:latin typeface="Calibri" pitchFamily="34" charset="0"/>
                <a:ea typeface="Calibri" pitchFamily="34" charset="-122"/>
                <a:cs typeface="Calibri" pitchFamily="34" charset="-120"/>
              </a:rPr>
              <a:t>Shape function instability at term_spread_lag3 directly explains the AUROC collapse. Static EWS models may be conceptually misaligned with structural break environments.</a:t>
            </a:r>
            <a:endParaRPr lang="en-US" sz="1100" dirty="0"/>
          </a:p>
        </p:txBody>
      </p:sp>
      <p:sp>
        <p:nvSpPr>
          <p:cNvPr id="18" name="Shape 16"/>
          <p:cNvSpPr/>
          <p:nvPr/>
        </p:nvSpPr>
        <p:spPr>
          <a:xfrm>
            <a:off x="4690872" y="3044952"/>
            <a:ext cx="4206240" cy="1691640"/>
          </a:xfrm>
          <a:prstGeom prst="rect">
            <a:avLst/>
          </a:prstGeom>
          <a:solidFill>
            <a:srgbClr val="F0F4F9"/>
          </a:solidFill>
          <a:ln w="19050">
            <a:solidFill>
              <a:srgbClr val="1D7A4A"/>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4690872" y="3044952"/>
            <a:ext cx="4206240" cy="347472"/>
          </a:xfrm>
          <a:prstGeom prst="rect">
            <a:avLst/>
          </a:prstGeom>
          <a:solidFill>
            <a:srgbClr val="1D7A4A"/>
          </a:solidFill>
          <a:ln w="12700">
            <a:solidFill>
              <a:srgbClr val="1D7A4A"/>
            </a:solidFill>
            <a:prstDash val="solid"/>
          </a:ln>
        </p:spPr>
      </p:sp>
      <p:sp>
        <p:nvSpPr>
          <p:cNvPr id="20" name="Text 18"/>
          <p:cNvSpPr/>
          <p:nvPr/>
        </p:nvSpPr>
        <p:spPr>
          <a:xfrm>
            <a:off x="4764024" y="3044952"/>
            <a:ext cx="406908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4.  Sentiment is directional but unstable</a:t>
            </a:r>
            <a:endParaRPr lang="en-US" sz="1200" dirty="0"/>
          </a:p>
        </p:txBody>
      </p:sp>
      <p:sp>
        <p:nvSpPr>
          <p:cNvPr id="21" name="Text 19"/>
          <p:cNvSpPr/>
          <p:nvPr/>
        </p:nvSpPr>
        <p:spPr>
          <a:xfrm>
            <a:off x="4800600" y="3429000"/>
            <a:ext cx="3977640" cy="1234440"/>
          </a:xfrm>
          <a:prstGeom prst="rect">
            <a:avLst/>
          </a:prstGeom>
          <a:noFill/>
          <a:ln/>
        </p:spPr>
        <p:txBody>
          <a:bodyPr wrap="square" lIns="25400" tIns="25400" rIns="25400" bIns="25400" rtlCol="0" anchor="t"/>
          <a:lstStyle/>
          <a:p>
            <a:pPr algn="l" indent="0" marL="0">
              <a:buNone/>
            </a:pPr>
            <a:r>
              <a:rPr lang="en-US" sz="1100" dirty="0">
                <a:solidFill>
                  <a:srgbClr val="2D3748"/>
                </a:solidFill>
                <a:latin typeface="Calibri" pitchFamily="34" charset="0"/>
                <a:ea typeface="Calibri" pitchFamily="34" charset="-122"/>
                <a:cs typeface="Calibri" pitchFamily="34" charset="-120"/>
              </a:rPr>
              <a:t>FinBERT contributes a GFC-episode-specific signal. Algorithm choice explains at least as much of the Stage 2 performance difference as the sentiment extension.</a:t>
            </a:r>
            <a:endParaRPr lang="en-US" sz="1100" dirty="0"/>
          </a:p>
        </p:txBody>
      </p:sp>
      <p:sp>
        <p:nvSpPr>
          <p:cNvPr id="22" name="Shape 20"/>
          <p:cNvSpPr/>
          <p:nvPr/>
        </p:nvSpPr>
        <p:spPr>
          <a:xfrm>
            <a:off x="256032" y="4754880"/>
            <a:ext cx="8686800" cy="274320"/>
          </a:xfrm>
          <a:prstGeom prst="rect">
            <a:avLst/>
          </a:prstGeom>
          <a:solidFill>
            <a:srgbClr val="F0F4F9"/>
          </a:solidFill>
          <a:ln w="19050">
            <a:solidFill>
              <a:srgbClr val="0D1B3E"/>
            </a:solidFill>
            <a:prstDash val="solid"/>
          </a:ln>
          <a:effectLst>
            <a:outerShdw sx="100000" sy="100000" kx="0" ky="0" algn="bl" rotWithShape="0" blurRad="101600" dist="38100" dir="8100000">
              <a:srgbClr val="000000">
                <a:alpha val="13000"/>
              </a:srgbClr>
            </a:outerShdw>
          </a:effectLst>
        </p:spPr>
      </p:sp>
      <p:sp>
        <p:nvSpPr>
          <p:cNvPr id="23" name="Shape 21"/>
          <p:cNvSpPr/>
          <p:nvPr/>
        </p:nvSpPr>
        <p:spPr>
          <a:xfrm>
            <a:off x="256032" y="4754880"/>
            <a:ext cx="91440" cy="274320"/>
          </a:xfrm>
          <a:prstGeom prst="rect">
            <a:avLst/>
          </a:prstGeom>
          <a:solidFill>
            <a:srgbClr val="0D1B3E"/>
          </a:solidFill>
          <a:ln w="12700">
            <a:solidFill>
              <a:srgbClr val="0D1B3E"/>
            </a:solidFill>
            <a:prstDash val="solid"/>
          </a:ln>
        </p:spPr>
      </p:sp>
      <p:sp>
        <p:nvSpPr>
          <p:cNvPr id="24" name="Text 22"/>
          <p:cNvSpPr/>
          <p:nvPr/>
        </p:nvSpPr>
        <p:spPr>
          <a:xfrm>
            <a:off x="420624" y="4754880"/>
            <a:ext cx="8458200" cy="274320"/>
          </a:xfrm>
          <a:prstGeom prst="rect">
            <a:avLst/>
          </a:prstGeom>
          <a:noFill/>
          <a:ln/>
        </p:spPr>
        <p:txBody>
          <a:bodyPr wrap="square" lIns="50800" tIns="50800" rIns="50800" bIns="50800" rtlCol="0" anchor="ctr"/>
          <a:lstStyle/>
          <a:p>
            <a:pPr indent="0" marL="0">
              <a:buNone/>
            </a:pPr>
            <a:r>
              <a:rPr lang="en-US" sz="1200" i="1" dirty="0">
                <a:solidFill>
                  <a:srgbClr val="2D3748"/>
                </a:solidFill>
                <a:latin typeface="Calibri" pitchFamily="34" charset="0"/>
                <a:ea typeface="Calibri" pitchFamily="34" charset="-122"/>
                <a:cs typeface="Calibri" pitchFamily="34" charset="-120"/>
              </a:rPr>
              <a:t>Overarching argument: ML-based EWS failure is not a function of model choice, feature design, or data availability — it is structural instability in the mapping between predictors and crisis outcomes across regimes.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A020"/>
          </a:solidFill>
          <a:ln w="12700">
            <a:solidFill>
              <a:srgbClr val="E8A020"/>
            </a:solidFill>
            <a:prstDash val="solid"/>
          </a:ln>
        </p:spPr>
      </p:sp>
      <p:sp>
        <p:nvSpPr>
          <p:cNvPr id="3" name="Text 1"/>
          <p:cNvSpPr/>
          <p:nvPr/>
        </p:nvSpPr>
        <p:spPr>
          <a:xfrm>
            <a:off x="256032" y="164592"/>
            <a:ext cx="8686800" cy="566928"/>
          </a:xfrm>
          <a:prstGeom prst="rect">
            <a:avLst/>
          </a:prstGeom>
          <a:noFill/>
          <a:ln/>
        </p:spPr>
        <p:txBody>
          <a:bodyPr wrap="square" lIns="0" tIns="0" rIns="0" bIns="0" rtlCol="0" anchor="ctr"/>
          <a:lstStyle/>
          <a:p>
            <a:pPr algn="l" indent="0" marL="0">
              <a:buNone/>
            </a:pPr>
            <a:r>
              <a:rPr lang="en-US" sz="2600" b="1" dirty="0">
                <a:solidFill>
                  <a:srgbClr val="0D1B3E"/>
                </a:solidFill>
                <a:latin typeface="Calibri" pitchFamily="34" charset="0"/>
                <a:ea typeface="Calibri" pitchFamily="34" charset="-122"/>
                <a:cs typeface="Calibri" pitchFamily="34" charset="-120"/>
              </a:rPr>
              <a:t>Implications and Close</a:t>
            </a:r>
            <a:endParaRPr lang="en-US" sz="2600" dirty="0"/>
          </a:p>
        </p:txBody>
      </p:sp>
      <p:sp>
        <p:nvSpPr>
          <p:cNvPr id="4" name="Text 2"/>
          <p:cNvSpPr/>
          <p:nvPr/>
        </p:nvSpPr>
        <p:spPr>
          <a:xfrm>
            <a:off x="256032" y="731520"/>
            <a:ext cx="8686800" cy="329184"/>
          </a:xfrm>
          <a:prstGeom prst="rect">
            <a:avLst/>
          </a:prstGeom>
          <a:noFill/>
          <a:ln/>
        </p:spPr>
        <p:txBody>
          <a:bodyPr wrap="square" lIns="0" tIns="0" rIns="0" bIns="0" rtlCol="0" anchor="t"/>
          <a:lstStyle/>
          <a:p>
            <a:pPr algn="l" indent="0" marL="0">
              <a:buNone/>
            </a:pPr>
            <a:r>
              <a:rPr lang="en-US" sz="1300" i="1" dirty="0">
                <a:solidFill>
                  <a:srgbClr val="2E6DB4"/>
                </a:solidFill>
                <a:latin typeface="Calibri" pitchFamily="34" charset="0"/>
                <a:ea typeface="Calibri" pitchFamily="34" charset="-122"/>
                <a:cs typeface="Calibri" pitchFamily="34" charset="-120"/>
              </a:rPr>
              <a:t>What should change in EWS design — and what comes next</a:t>
            </a:r>
            <a:endParaRPr lang="en-US" sz="1300" dirty="0"/>
          </a:p>
        </p:txBody>
      </p:sp>
      <p:sp>
        <p:nvSpPr>
          <p:cNvPr id="5" name="Shape 3"/>
          <p:cNvSpPr/>
          <p:nvPr/>
        </p:nvSpPr>
        <p:spPr>
          <a:xfrm>
            <a:off x="256032" y="1051560"/>
            <a:ext cx="8686800" cy="0"/>
          </a:xfrm>
          <a:prstGeom prst="line">
            <a:avLst/>
          </a:prstGeom>
          <a:noFill/>
          <a:ln w="12700">
            <a:solidFill>
              <a:srgbClr val="D6E4F7"/>
            </a:solidFill>
            <a:prstDash val="solid"/>
          </a:ln>
        </p:spPr>
      </p:sp>
      <p:sp>
        <p:nvSpPr>
          <p:cNvPr id="6" name="Text 4"/>
          <p:cNvSpPr/>
          <p:nvPr/>
        </p:nvSpPr>
        <p:spPr>
          <a:xfrm>
            <a:off x="256032" y="1170432"/>
            <a:ext cx="5029200" cy="320040"/>
          </a:xfrm>
          <a:prstGeom prst="rect">
            <a:avLst/>
          </a:prstGeom>
          <a:noFill/>
          <a:ln/>
        </p:spPr>
        <p:txBody>
          <a:bodyPr wrap="square" lIns="0" tIns="0" rIns="0" bIns="0" rtlCol="0" anchor="ctr"/>
          <a:lstStyle/>
          <a:p>
            <a:pPr algn="l" indent="0" marL="0">
              <a:buNone/>
            </a:pPr>
            <a:r>
              <a:rPr lang="en-US" sz="1300" b="1" dirty="0">
                <a:solidFill>
                  <a:srgbClr val="0D1B3E"/>
                </a:solidFill>
                <a:latin typeface="Calibri" pitchFamily="34" charset="0"/>
                <a:ea typeface="Calibri" pitchFamily="34" charset="-122"/>
                <a:cs typeface="Calibri" pitchFamily="34" charset="-120"/>
              </a:rPr>
              <a:t>Practical implications for EWS design:</a:t>
            </a:r>
            <a:endParaRPr lang="en-US" sz="1300" dirty="0"/>
          </a:p>
        </p:txBody>
      </p:sp>
      <p:sp>
        <p:nvSpPr>
          <p:cNvPr id="7" name="Text 5"/>
          <p:cNvSpPr/>
          <p:nvPr/>
        </p:nvSpPr>
        <p:spPr>
          <a:xfrm>
            <a:off x="256032" y="1536192"/>
            <a:ext cx="5029200" cy="2834640"/>
          </a:xfrm>
          <a:prstGeom prst="rect">
            <a:avLst/>
          </a:prstGeom>
          <a:noFill/>
          <a:ln/>
        </p:spPr>
        <p:txBody>
          <a:bodyPr wrap="square" rtlCol="0" anchor="t"/>
          <a:lstStyle/>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A single static classifier is insufficient. Operational EWS requires a regime-classification layer or portfolio of mechanism-specific models.</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EBM should be adopted for its diagnostic value — shape functions reveal when a model's learned mapping has shifted, providing regulators a direct signal to apply scepticism.</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Ensemble averaging is most defensible for calibration (Brier 0.056) rather than discrimination — useful for probability thresholds in policy review.</a:t>
            </a:r>
            <a:endParaRPr lang="en-US" sz="1150" dirty="0"/>
          </a:p>
          <a:p>
            <a:pPr marL="342900" indent="-342900">
              <a:spcAft>
                <a:spcPts val="400"/>
              </a:spcAft>
              <a:buSzPct val="100000"/>
              <a:buChar char="•"/>
            </a:pPr>
            <a:r>
              <a:rPr lang="en-US" sz="1150" dirty="0">
                <a:solidFill>
                  <a:srgbClr val="2D3748"/>
                </a:solidFill>
                <a:latin typeface="Calibri" pitchFamily="34" charset="0"/>
                <a:ea typeface="Calibri" pitchFamily="34" charset="-122"/>
                <a:cs typeface="Calibri" pitchFamily="34" charset="-120"/>
              </a:rPr>
              <a:t>Sentiment augmentation requires validation across structurally distinct crisis episodes before operational deployment. Current evidence is hypothesis-generating, not confirmatory.</a:t>
            </a:r>
            <a:endParaRPr lang="en-US" sz="1150" dirty="0"/>
          </a:p>
        </p:txBody>
      </p:sp>
      <p:sp>
        <p:nvSpPr>
          <p:cNvPr id="8" name="Shape 6"/>
          <p:cNvSpPr/>
          <p:nvPr/>
        </p:nvSpPr>
        <p:spPr>
          <a:xfrm>
            <a:off x="5532120" y="1170432"/>
            <a:ext cx="3429000" cy="3246120"/>
          </a:xfrm>
          <a:prstGeom prst="rect">
            <a:avLst/>
          </a:prstGeom>
          <a:solidFill>
            <a:srgbClr val="F0F4F9"/>
          </a:solidFill>
          <a:ln w="19050">
            <a:solidFill>
              <a:srgbClr val="2E6DB4"/>
            </a:solidFill>
            <a:prstDash val="solid"/>
          </a:ln>
          <a:effectLst>
            <a:outerShdw sx="100000" sy="100000" kx="0" ky="0" algn="bl" rotWithShape="0" blurRad="101600" dist="38100" dir="8100000">
              <a:srgbClr val="000000">
                <a:alpha val="13000"/>
              </a:srgbClr>
            </a:outerShdw>
          </a:effectLst>
        </p:spPr>
      </p:sp>
      <p:sp>
        <p:nvSpPr>
          <p:cNvPr id="9" name="Shape 7"/>
          <p:cNvSpPr/>
          <p:nvPr/>
        </p:nvSpPr>
        <p:spPr>
          <a:xfrm>
            <a:off x="5532120" y="1170432"/>
            <a:ext cx="3429000" cy="329184"/>
          </a:xfrm>
          <a:prstGeom prst="rect">
            <a:avLst/>
          </a:prstGeom>
          <a:solidFill>
            <a:srgbClr val="2E6DB4"/>
          </a:solidFill>
          <a:ln w="12700">
            <a:solidFill>
              <a:srgbClr val="2E6DB4"/>
            </a:solidFill>
            <a:prstDash val="solid"/>
          </a:ln>
        </p:spPr>
      </p:sp>
      <p:sp>
        <p:nvSpPr>
          <p:cNvPr id="10" name="Text 8"/>
          <p:cNvSpPr/>
          <p:nvPr/>
        </p:nvSpPr>
        <p:spPr>
          <a:xfrm>
            <a:off x="5532120" y="1170432"/>
            <a:ext cx="3429000"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Future research</a:t>
            </a:r>
            <a:endParaRPr lang="en-US" sz="1200" dirty="0"/>
          </a:p>
        </p:txBody>
      </p:sp>
      <p:sp>
        <p:nvSpPr>
          <p:cNvPr id="11" name="Text 9"/>
          <p:cNvSpPr/>
          <p:nvPr/>
        </p:nvSpPr>
        <p:spPr>
          <a:xfrm>
            <a:off x="5623560" y="1536192"/>
            <a:ext cx="3246120" cy="2834640"/>
          </a:xfrm>
          <a:prstGeom prst="rect">
            <a:avLst/>
          </a:prstGeom>
          <a:noFill/>
          <a:ln/>
        </p:spPr>
        <p:txBody>
          <a:bodyPr wrap="square" rtlCol="0" anchor="t"/>
          <a:lstStyle/>
          <a:p>
            <a:pPr marL="342900" indent="-342900">
              <a:spcAft>
                <a:spcPts val="400"/>
              </a:spcAft>
              <a:buSzPct val="100000"/>
              <a:buChar char="•"/>
            </a:pPr>
            <a:r>
              <a:rPr lang="en-US" sz="1050" dirty="0">
                <a:solidFill>
                  <a:srgbClr val="2D3748"/>
                </a:solidFill>
                <a:latin typeface="Calibri" pitchFamily="34" charset="0"/>
                <a:ea typeface="Calibri" pitchFamily="34" charset="-122"/>
                <a:cs typeface="Calibri" pitchFamily="34" charset="-120"/>
              </a:rPr>
              <a:t>Regime-conditional models (EBM-R1/R2) — contingent on sufficient crisis episodes per regime</a:t>
            </a:r>
            <a:endParaRPr lang="en-US" sz="1050" dirty="0"/>
          </a:p>
          <a:p>
            <a:pPr marL="342900" indent="-342900">
              <a:spcAft>
                <a:spcPts val="400"/>
              </a:spcAft>
              <a:buSzPct val="100000"/>
              <a:buChar char="•"/>
            </a:pPr>
            <a:r>
              <a:rPr lang="en-US" sz="1050" dirty="0">
                <a:solidFill>
                  <a:srgbClr val="2D3748"/>
                </a:solidFill>
                <a:latin typeface="Calibri" pitchFamily="34" charset="0"/>
                <a:ea typeface="Calibri" pitchFamily="34" charset="-122"/>
                <a:cs typeface="Calibri" pitchFamily="34" charset="-120"/>
              </a:rPr>
              <a:t>Cross-country contagion features (network linkages, Cetorelli &amp; Goldberg 2011)</a:t>
            </a:r>
            <a:endParaRPr lang="en-US" sz="1050" dirty="0"/>
          </a:p>
          <a:p>
            <a:pPr marL="342900" indent="-342900">
              <a:spcAft>
                <a:spcPts val="400"/>
              </a:spcAft>
              <a:buSzPct val="100000"/>
              <a:buChar char="•"/>
            </a:pPr>
            <a:r>
              <a:rPr lang="en-US" sz="1050" dirty="0">
                <a:solidFill>
                  <a:srgbClr val="2D3748"/>
                </a:solidFill>
                <a:latin typeface="Calibri" pitchFamily="34" charset="0"/>
                <a:ea typeface="Calibri" pitchFamily="34" charset="-122"/>
                <a:cs typeface="Calibri" pitchFamily="34" charset="-120"/>
              </a:rPr>
              <a:t>Topic-disaggregated sentiment — credit, monetary policy, corporate channels</a:t>
            </a:r>
            <a:endParaRPr lang="en-US" sz="1050" dirty="0"/>
          </a:p>
          <a:p>
            <a:pPr marL="342900" indent="-342900">
              <a:spcAft>
                <a:spcPts val="400"/>
              </a:spcAft>
              <a:buSzPct val="100000"/>
              <a:buChar char="•"/>
            </a:pPr>
            <a:r>
              <a:rPr lang="en-US" sz="1050" dirty="0">
                <a:solidFill>
                  <a:srgbClr val="2D3748"/>
                </a:solidFill>
                <a:latin typeface="Calibri" pitchFamily="34" charset="0"/>
                <a:ea typeface="Calibri" pitchFamily="34" charset="-122"/>
                <a:cs typeface="Calibri" pitchFamily="34" charset="-120"/>
              </a:rPr>
              <a:t>Bayesian updating framework for real-time regime detection</a:t>
            </a:r>
            <a:endParaRPr lang="en-US" sz="1050" dirty="0"/>
          </a:p>
        </p:txBody>
      </p:sp>
      <p:sp>
        <p:nvSpPr>
          <p:cNvPr id="12" name="Shape 10"/>
          <p:cNvSpPr/>
          <p:nvPr/>
        </p:nvSpPr>
        <p:spPr>
          <a:xfrm>
            <a:off x="256032" y="4572000"/>
            <a:ext cx="8686800" cy="457200"/>
          </a:xfrm>
          <a:prstGeom prst="rect">
            <a:avLst/>
          </a:prstGeom>
          <a:solidFill>
            <a:srgbClr val="0D1B3E"/>
          </a:solidFill>
          <a:ln w="12700">
            <a:solidFill>
              <a:srgbClr val="0D1B3E"/>
            </a:solidFill>
            <a:prstDash val="solid"/>
          </a:ln>
          <a:effectLst>
            <a:outerShdw sx="100000" sy="100000" kx="0" ky="0" algn="bl" rotWithShape="0" blurRad="101600" dist="38100" dir="8100000">
              <a:srgbClr val="000000">
                <a:alpha val="13000"/>
              </a:srgbClr>
            </a:outerShdw>
          </a:effectLst>
        </p:spPr>
      </p:sp>
      <p:sp>
        <p:nvSpPr>
          <p:cNvPr id="13" name="Shape 11"/>
          <p:cNvSpPr/>
          <p:nvPr/>
        </p:nvSpPr>
        <p:spPr>
          <a:xfrm>
            <a:off x="256032" y="4572000"/>
            <a:ext cx="457200" cy="457200"/>
          </a:xfrm>
          <a:prstGeom prst="rect">
            <a:avLst/>
          </a:prstGeom>
          <a:solidFill>
            <a:srgbClr val="E8A020"/>
          </a:solidFill>
          <a:ln w="12700">
            <a:solidFill>
              <a:srgbClr val="E8A020"/>
            </a:solidFill>
            <a:prstDash val="solid"/>
          </a:ln>
        </p:spPr>
      </p:sp>
      <p:sp>
        <p:nvSpPr>
          <p:cNvPr id="14" name="Text 12"/>
          <p:cNvSpPr/>
          <p:nvPr/>
        </p:nvSpPr>
        <p:spPr>
          <a:xfrm>
            <a:off x="777240" y="4544568"/>
            <a:ext cx="8138160" cy="475488"/>
          </a:xfrm>
          <a:prstGeom prst="rect">
            <a:avLst/>
          </a:prstGeom>
          <a:noFill/>
          <a:ln/>
        </p:spPr>
        <p:txBody>
          <a:bodyPr wrap="square" lIns="50800" tIns="50800" rIns="50800" bIns="50800" rtlCol="0" anchor="ctr"/>
          <a:lstStyle/>
          <a:p>
            <a:pPr algn="l" indent="0" marL="0">
              <a:buNone/>
            </a:pPr>
            <a:r>
              <a:rPr lang="en-US" sz="1050" i="1" dirty="0">
                <a:solidFill>
                  <a:srgbClr val="FFFFFF"/>
                </a:solidFill>
                <a:latin typeface="Calibri" pitchFamily="34" charset="0"/>
                <a:ea typeface="Calibri" pitchFamily="34" charset="-122"/>
                <a:cs typeface="Calibri" pitchFamily="34" charset="-120"/>
              </a:rPr>
              <a:t>The central limitation of EWS is the absence of a stable mapping between predictors and crisis outcomes across regimes — ML makes this visible; it cannot resolve it.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w="12700">
            <a:solidFill>
              <a:srgbClr val="C0392B"/>
            </a:solidFill>
            <a:prstDash val="solid"/>
          </a:ln>
        </p:spPr>
      </p:sp>
      <p:sp>
        <p:nvSpPr>
          <p:cNvPr id="3" name="Text 1"/>
          <p:cNvSpPr/>
          <p:nvPr/>
        </p:nvSpPr>
        <p:spPr>
          <a:xfrm>
            <a:off x="256032" y="109728"/>
            <a:ext cx="8686800" cy="45720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Q&amp;A — Anticipated Challenging Questions</a:t>
            </a:r>
            <a:endParaRPr lang="en-US" sz="2200" dirty="0"/>
          </a:p>
        </p:txBody>
      </p:sp>
      <p:sp>
        <p:nvSpPr>
          <p:cNvPr id="4" name="Text 2"/>
          <p:cNvSpPr/>
          <p:nvPr/>
        </p:nvSpPr>
        <p:spPr>
          <a:xfrm>
            <a:off x="256032" y="566928"/>
            <a:ext cx="8686800" cy="274320"/>
          </a:xfrm>
          <a:prstGeom prst="rect">
            <a:avLst/>
          </a:prstGeom>
          <a:noFill/>
          <a:ln/>
        </p:spPr>
        <p:txBody>
          <a:bodyPr wrap="square" lIns="0" tIns="0" rIns="0" bIns="0" rtlCol="0" anchor="ctr"/>
          <a:lstStyle/>
          <a:p>
            <a:pPr algn="l" indent="0" marL="0">
              <a:buNone/>
            </a:pPr>
            <a:r>
              <a:rPr lang="en-US" sz="1200" i="1" dirty="0">
                <a:solidFill>
                  <a:srgbClr val="CADCFC"/>
                </a:solidFill>
                <a:latin typeface="Calibri" pitchFamily="34" charset="0"/>
                <a:ea typeface="Calibri" pitchFamily="34" charset="-122"/>
                <a:cs typeface="Calibri" pitchFamily="34" charset="-120"/>
              </a:rPr>
              <a:t>5-minute response window · Be concise and direct</a:t>
            </a:r>
            <a:endParaRPr lang="en-US" sz="1200" dirty="0"/>
          </a:p>
        </p:txBody>
      </p:sp>
      <p:sp>
        <p:nvSpPr>
          <p:cNvPr id="5" name="Shape 3"/>
          <p:cNvSpPr/>
          <p:nvPr/>
        </p:nvSpPr>
        <p:spPr>
          <a:xfrm>
            <a:off x="256032" y="868680"/>
            <a:ext cx="8686800" cy="0"/>
          </a:xfrm>
          <a:prstGeom prst="line">
            <a:avLst/>
          </a:prstGeom>
          <a:noFill/>
          <a:ln w="12700">
            <a:solidFill>
              <a:srgbClr val="E8A020"/>
            </a:solidFill>
            <a:prstDash val="solid"/>
          </a:ln>
        </p:spPr>
      </p:sp>
      <p:sp>
        <p:nvSpPr>
          <p:cNvPr id="6" name="Shape 4"/>
          <p:cNvSpPr/>
          <p:nvPr/>
        </p:nvSpPr>
        <p:spPr>
          <a:xfrm>
            <a:off x="256032" y="960120"/>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7" name="Shape 5"/>
          <p:cNvSpPr/>
          <p:nvPr/>
        </p:nvSpPr>
        <p:spPr>
          <a:xfrm>
            <a:off x="256032" y="960120"/>
            <a:ext cx="548640" cy="1188720"/>
          </a:xfrm>
          <a:prstGeom prst="rect">
            <a:avLst/>
          </a:prstGeom>
          <a:solidFill>
            <a:srgbClr val="C0392B"/>
          </a:solidFill>
          <a:ln w="12700">
            <a:solidFill>
              <a:srgbClr val="C0392B"/>
            </a:solidFill>
            <a:prstDash val="solid"/>
          </a:ln>
        </p:spPr>
      </p:sp>
      <p:sp>
        <p:nvSpPr>
          <p:cNvPr id="8" name="Text 6"/>
          <p:cNvSpPr/>
          <p:nvPr/>
        </p:nvSpPr>
        <p:spPr>
          <a:xfrm>
            <a:off x="256032" y="960120"/>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9" name="Text 7"/>
          <p:cNvSpPr/>
          <p:nvPr/>
        </p:nvSpPr>
        <p:spPr>
          <a:xfrm>
            <a:off x="896112" y="1051560"/>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Split B has only 6 training positives. How can you draw conclusions from it?</a:t>
            </a:r>
            <a:endParaRPr lang="en-US" sz="1050" dirty="0"/>
          </a:p>
        </p:txBody>
      </p:sp>
      <p:sp>
        <p:nvSpPr>
          <p:cNvPr id="10" name="Shape 8"/>
          <p:cNvSpPr/>
          <p:nvPr/>
        </p:nvSpPr>
        <p:spPr>
          <a:xfrm>
            <a:off x="256032" y="2313432"/>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1" name="Shape 9"/>
          <p:cNvSpPr/>
          <p:nvPr/>
        </p:nvSpPr>
        <p:spPr>
          <a:xfrm>
            <a:off x="256032" y="2313432"/>
            <a:ext cx="548640" cy="1188720"/>
          </a:xfrm>
          <a:prstGeom prst="rect">
            <a:avLst/>
          </a:prstGeom>
          <a:solidFill>
            <a:srgbClr val="C0392B"/>
          </a:solidFill>
          <a:ln w="12700">
            <a:solidFill>
              <a:srgbClr val="C0392B"/>
            </a:solidFill>
            <a:prstDash val="solid"/>
          </a:ln>
        </p:spPr>
      </p:sp>
      <p:sp>
        <p:nvSpPr>
          <p:cNvPr id="12" name="Text 10"/>
          <p:cNvSpPr/>
          <p:nvPr/>
        </p:nvSpPr>
        <p:spPr>
          <a:xfrm>
            <a:off x="256032" y="2313432"/>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3" name="Text 11"/>
          <p:cNvSpPr/>
          <p:nvPr/>
        </p:nvSpPr>
        <p:spPr>
          <a:xfrm>
            <a:off x="896112" y="2404872"/>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EBM 0.333 could be sample thinness, not regime shift. How do you distinguish?</a:t>
            </a:r>
            <a:endParaRPr lang="en-US" sz="1050" dirty="0"/>
          </a:p>
        </p:txBody>
      </p:sp>
      <p:sp>
        <p:nvSpPr>
          <p:cNvPr id="14" name="Shape 12"/>
          <p:cNvSpPr/>
          <p:nvPr/>
        </p:nvSpPr>
        <p:spPr>
          <a:xfrm>
            <a:off x="256032" y="3666744"/>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5" name="Shape 13"/>
          <p:cNvSpPr/>
          <p:nvPr/>
        </p:nvSpPr>
        <p:spPr>
          <a:xfrm>
            <a:off x="256032" y="3666744"/>
            <a:ext cx="548640" cy="1188720"/>
          </a:xfrm>
          <a:prstGeom prst="rect">
            <a:avLst/>
          </a:prstGeom>
          <a:solidFill>
            <a:srgbClr val="C0392B"/>
          </a:solidFill>
          <a:ln w="12700">
            <a:solidFill>
              <a:srgbClr val="C0392B"/>
            </a:solidFill>
            <a:prstDash val="solid"/>
          </a:ln>
        </p:spPr>
      </p:sp>
      <p:sp>
        <p:nvSpPr>
          <p:cNvPr id="16" name="Text 14"/>
          <p:cNvSpPr/>
          <p:nvPr/>
        </p:nvSpPr>
        <p:spPr>
          <a:xfrm>
            <a:off x="256032" y="3666744"/>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7" name="Text 15"/>
          <p:cNvSpPr/>
          <p:nvPr/>
        </p:nvSpPr>
        <p:spPr>
          <a:xfrm>
            <a:off x="896112" y="3758184"/>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You cannot separate sentiment signal from algorithm effect in Stage 2. Is H1 meaningful?</a:t>
            </a:r>
            <a:endParaRPr lang="en-US" sz="1050" dirty="0"/>
          </a:p>
        </p:txBody>
      </p:sp>
      <p:sp>
        <p:nvSpPr>
          <p:cNvPr id="18" name="Shape 16"/>
          <p:cNvSpPr/>
          <p:nvPr/>
        </p:nvSpPr>
        <p:spPr>
          <a:xfrm>
            <a:off x="4690872" y="960120"/>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19" name="Shape 17"/>
          <p:cNvSpPr/>
          <p:nvPr/>
        </p:nvSpPr>
        <p:spPr>
          <a:xfrm>
            <a:off x="4690872" y="960120"/>
            <a:ext cx="548640" cy="1188720"/>
          </a:xfrm>
          <a:prstGeom prst="rect">
            <a:avLst/>
          </a:prstGeom>
          <a:solidFill>
            <a:srgbClr val="C0392B"/>
          </a:solidFill>
          <a:ln w="12700">
            <a:solidFill>
              <a:srgbClr val="C0392B"/>
            </a:solidFill>
            <a:prstDash val="solid"/>
          </a:ln>
        </p:spPr>
      </p:sp>
      <p:sp>
        <p:nvSpPr>
          <p:cNvPr id="20" name="Text 18"/>
          <p:cNvSpPr/>
          <p:nvPr/>
        </p:nvSpPr>
        <p:spPr>
          <a:xfrm>
            <a:off x="4690872" y="960120"/>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1" name="Text 19"/>
          <p:cNvSpPr/>
          <p:nvPr/>
        </p:nvSpPr>
        <p:spPr>
          <a:xfrm>
            <a:off x="5330952" y="1051560"/>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Your expanding-window AUROC figures inflate due to GFC concentration. Are Stage 2 numbers informative at all?</a:t>
            </a:r>
            <a:endParaRPr lang="en-US" sz="1050" dirty="0"/>
          </a:p>
        </p:txBody>
      </p:sp>
      <p:sp>
        <p:nvSpPr>
          <p:cNvPr id="22" name="Shape 20"/>
          <p:cNvSpPr/>
          <p:nvPr/>
        </p:nvSpPr>
        <p:spPr>
          <a:xfrm>
            <a:off x="4690872" y="2313432"/>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23" name="Shape 21"/>
          <p:cNvSpPr/>
          <p:nvPr/>
        </p:nvSpPr>
        <p:spPr>
          <a:xfrm>
            <a:off x="4690872" y="2313432"/>
            <a:ext cx="548640" cy="1188720"/>
          </a:xfrm>
          <a:prstGeom prst="rect">
            <a:avLst/>
          </a:prstGeom>
          <a:solidFill>
            <a:srgbClr val="C0392B"/>
          </a:solidFill>
          <a:ln w="12700">
            <a:solidFill>
              <a:srgbClr val="C0392B"/>
            </a:solidFill>
            <a:prstDash val="solid"/>
          </a:ln>
        </p:spPr>
      </p:sp>
      <p:sp>
        <p:nvSpPr>
          <p:cNvPr id="24" name="Text 22"/>
          <p:cNvSpPr/>
          <p:nvPr/>
        </p:nvSpPr>
        <p:spPr>
          <a:xfrm>
            <a:off x="4690872" y="2313432"/>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Q5</a:t>
            </a:r>
            <a:endParaRPr lang="en-US" sz="1400" dirty="0"/>
          </a:p>
        </p:txBody>
      </p:sp>
      <p:sp>
        <p:nvSpPr>
          <p:cNvPr id="25" name="Text 23"/>
          <p:cNvSpPr/>
          <p:nvPr/>
        </p:nvSpPr>
        <p:spPr>
          <a:xfrm>
            <a:off x="5330952" y="2404872"/>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Why not use a regime-switching model to directly address non-stationarity?</a:t>
            </a:r>
            <a:endParaRPr lang="en-US" sz="1050" dirty="0"/>
          </a:p>
        </p:txBody>
      </p:sp>
      <p:sp>
        <p:nvSpPr>
          <p:cNvPr id="26" name="Shape 24"/>
          <p:cNvSpPr/>
          <p:nvPr/>
        </p:nvSpPr>
        <p:spPr>
          <a:xfrm>
            <a:off x="4690872" y="3666744"/>
            <a:ext cx="4206240" cy="1188720"/>
          </a:xfrm>
          <a:prstGeom prst="rect">
            <a:avLst/>
          </a:prstGeom>
          <a:solidFill>
            <a:srgbClr val="1A3A6B"/>
          </a:solidFill>
          <a:ln w="12700">
            <a:solidFill>
              <a:srgbClr val="2E6DB4"/>
            </a:solidFill>
            <a:prstDash val="solid"/>
          </a:ln>
          <a:effectLst>
            <a:outerShdw sx="100000" sy="100000" kx="0" ky="0" algn="bl" rotWithShape="0" blurRad="101600" dist="38100" dir="8100000">
              <a:srgbClr val="000000">
                <a:alpha val="13000"/>
              </a:srgbClr>
            </a:outerShdw>
          </a:effectLst>
        </p:spPr>
      </p:sp>
      <p:sp>
        <p:nvSpPr>
          <p:cNvPr id="27" name="Shape 25"/>
          <p:cNvSpPr/>
          <p:nvPr/>
        </p:nvSpPr>
        <p:spPr>
          <a:xfrm>
            <a:off x="4690872" y="3666744"/>
            <a:ext cx="548640" cy="1188720"/>
          </a:xfrm>
          <a:prstGeom prst="rect">
            <a:avLst/>
          </a:prstGeom>
          <a:solidFill>
            <a:srgbClr val="C0392B"/>
          </a:solidFill>
          <a:ln w="12700">
            <a:solidFill>
              <a:srgbClr val="C0392B"/>
            </a:solidFill>
            <a:prstDash val="solid"/>
          </a:ln>
        </p:spPr>
      </p:sp>
      <p:sp>
        <p:nvSpPr>
          <p:cNvPr id="28" name="Text 26"/>
          <p:cNvSpPr/>
          <p:nvPr/>
        </p:nvSpPr>
        <p:spPr>
          <a:xfrm>
            <a:off x="4690872" y="3666744"/>
            <a:ext cx="54864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Q6</a:t>
            </a:r>
            <a:endParaRPr lang="en-US" sz="1400" dirty="0"/>
          </a:p>
        </p:txBody>
      </p:sp>
      <p:sp>
        <p:nvSpPr>
          <p:cNvPr id="29" name="Text 27"/>
          <p:cNvSpPr/>
          <p:nvPr/>
        </p:nvSpPr>
        <p:spPr>
          <a:xfrm>
            <a:off x="5330952" y="3758184"/>
            <a:ext cx="3474720" cy="1005840"/>
          </a:xfrm>
          <a:prstGeom prst="rect">
            <a:avLst/>
          </a:prstGeom>
          <a:noFill/>
          <a:ln/>
        </p:spPr>
        <p:txBody>
          <a:bodyPr wrap="square" lIns="50800" tIns="50800" rIns="50800" bIns="50800" rtlCol="0" anchor="ctr"/>
          <a:lstStyle/>
          <a:p>
            <a:pPr algn="l" indent="0" marL="0">
              <a:buNone/>
            </a:pPr>
            <a:r>
              <a:rPr lang="en-US" sz="1050" dirty="0">
                <a:solidFill>
                  <a:srgbClr val="E8F0FF"/>
                </a:solidFill>
                <a:latin typeface="Calibri" pitchFamily="34" charset="0"/>
                <a:ea typeface="Calibri" pitchFamily="34" charset="-122"/>
                <a:cs typeface="Calibri" pitchFamily="34" charset="-120"/>
              </a:rPr>
              <a:t>SHAP already shows feature instability across time — what does EBM add that SHAP cannot provide?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EWS for Banking Crises — MSc AI Viva Presentation</dc:title>
  <dc:subject>PptxGenJS Presentation</dc:subject>
  <dc:creator>Pavlos Papachristos</dc:creator>
  <cp:lastModifiedBy>Pavlos Papachristos</cp:lastModifiedBy>
  <cp:revision>1</cp:revision>
  <dcterms:created xsi:type="dcterms:W3CDTF">2026-06-07T09:05:14Z</dcterms:created>
  <dcterms:modified xsi:type="dcterms:W3CDTF">2026-06-07T09:05:14Z</dcterms:modified>
</cp:coreProperties>
</file>