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3.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4.xml" ContentType="application/vnd.openxmlformats-officedocument.drawingml.chart+xml"/>
  <Override PartName="/ppt/charts/chart5.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6.xml" ContentType="application/vnd.openxmlformats-officedocument.drawingml.chart+xml"/>
  <Override PartName="/ppt/charts/chart7.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8.xml" ContentType="application/vnd.openxmlformats-officedocument.drawingml.chart+xml"/>
  <Override PartName="/ppt/charts/chart9.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0.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00" b="0" i="0" u="none" strike="noStrike">
                <a:solidFill>
                  <a:srgbClr val="000000"/>
                </a:solidFill>
                <a:latin typeface="Arial"/>
              </a:defRPr>
            </a:pPr>
            <a:r>
              <a:rPr sz="1000" b="0" i="0" u="none" strike="noStrike">
                <a:solidFill>
                  <a:srgbClr val="000000"/>
                </a:solidFill>
                <a:latin typeface="Arial"/>
              </a:rPr>
              <a:t>Expanding-Window vs Strict Temporal AUROC</a:t>
            </a:r>
          </a:p>
        </c:rich>
      </c:tx>
      <c:layout/>
      <c:overlay val="0"/>
    </c:title>
    <c:autoTitleDeleted val="0"/>
    <c:plotArea>
      <c:layout/>
      <c:barChart>
        <c:barDir val="col"/>
        <c:grouping val="clustered"/>
        <c:varyColors val="0"/>
        <c:ser>
          <c:idx val="0"/>
          <c:order val="0"/>
          <c:tx>
            <c:strRef>
              <c:f>Sheet1!$B$1</c:f>
              <c:strCache>
                <c:ptCount val="1"/>
                <c:pt idx="0">
                  <c:v>Expanding-Window AUROC</c:v>
                </c:pt>
              </c:strCache>
            </c:strRef>
          </c:tx>
          <c:spPr>
            <a:solidFill>
              <a:srgbClr val="2E6DB4"/>
            </a:solidFill>
            <a:effectLst/>
          </c:spPr>
          <c:invertIfNegative val="0"/>
          <c:dLbls>
            <c:numFmt formatCode="#,##0" sourceLinked="0"/>
            <c:txPr>
              <a:bodyPr/>
              <a:lstStyle/>
              <a:p>
                <a:pPr>
                  <a:defRPr b="0" i="0" strike="noStrike" sz="800" u="none">
                    <a:solidFill>
                      <a:srgbClr val="1E293B"/>
                    </a:solidFill>
                    <a:latin typeface="Arial"/>
                  </a:defRPr>
                </a:pPr>
              </a:p>
            </c:txPr>
            <c:showLegendKey val="0"/>
            <c:showVal val="1"/>
            <c:showCatName val="0"/>
            <c:showSerName val="0"/>
            <c:showPercent val="0"/>
            <c:showBubbleSize val="0"/>
            <c:showLeaderLines val="0"/>
          </c:dLbls>
          <c:cat>
            <c:multiLvlStrRef>
              <c:f>Sheet1!$A$2:$A$4</c:f>
              <c:multiLvlStrCache>
                <c:ptCount val="3"/>
                <c:lvl>
                  <c:pt idx="0">
                    <c:v>M1 LR</c:v>
                  </c:pt>
                  <c:pt idx="1">
                    <c:v>M2 RF</c:v>
                  </c:pt>
                  <c:pt idx="2">
                    <c:v>EBM</c:v>
                  </c:pt>
                </c:lvl>
              </c:multiLvlStrCache>
            </c:multiLvlStrRef>
          </c:cat>
          <c:val>
            <c:numRef>
              <c:f>Sheet1!$B$2:$B$4</c:f>
              <c:numCache>
                <c:formatCode>General</c:formatCode>
                <c:ptCount val="3"/>
                <c:pt idx="0">
                  <c:v>0.606</c:v>
                </c:pt>
                <c:pt idx="1">
                  <c:v>0.636</c:v>
                </c:pt>
                <c:pt idx="2">
                  <c:v>0.753</c:v>
                </c:pt>
              </c:numCache>
            </c:numRef>
          </c:val>
        </c:ser>
        <c:ser>
          <c:idx val="1"/>
          <c:order val="1"/>
          <c:tx>
            <c:strRef>
              <c:f>Sheet1!$C$1</c:f>
              <c:strCache>
                <c:ptCount val="1"/>
                <c:pt idx="0">
                  <c:v>Strict Temporal (Split B)</c:v>
                </c:pt>
              </c:strCache>
            </c:strRef>
          </c:tx>
          <c:spPr>
            <a:solidFill>
              <a:srgbClr val="C0392B"/>
            </a:solidFill>
            <a:effectLst/>
          </c:spPr>
          <c:invertIfNegative val="0"/>
          <c:dLbls>
            <c:numFmt formatCode="#,##0" sourceLinked="0"/>
            <c:txPr>
              <a:bodyPr/>
              <a:lstStyle/>
              <a:p>
                <a:pPr>
                  <a:defRPr b="0" i="0" strike="noStrike" sz="800" u="none">
                    <a:solidFill>
                      <a:srgbClr val="1E293B"/>
                    </a:solidFill>
                    <a:latin typeface="Arial"/>
                  </a:defRPr>
                </a:pPr>
              </a:p>
            </c:txPr>
            <c:showLegendKey val="0"/>
            <c:showVal val="1"/>
            <c:showCatName val="0"/>
            <c:showSerName val="0"/>
            <c:showPercent val="0"/>
            <c:showBubbleSize val="0"/>
            <c:showLeaderLines val="0"/>
          </c:dLbls>
          <c:cat>
            <c:multiLvlStrRef>
              <c:f>Sheet1!$A$2:$A$4</c:f>
              <c:multiLvlStrCache>
                <c:ptCount val="3"/>
                <c:lvl>
                  <c:pt idx="0">
                    <c:v>M1 LR</c:v>
                  </c:pt>
                  <c:pt idx="1">
                    <c:v>M2 RF</c:v>
                  </c:pt>
                  <c:pt idx="2">
                    <c:v>EBM</c:v>
                  </c:pt>
                </c:lvl>
              </c:multiLvlStrCache>
            </c:multiLvlStrRef>
          </c:cat>
          <c:val>
            <c:numRef>
              <c:f>Sheet1!$C$2:$C$4</c:f>
              <c:numCache>
                <c:formatCode>General</c:formatCode>
                <c:ptCount val="3"/>
                <c:pt idx="0">
                  <c:v/>
                </c:pt>
                <c:pt idx="1">
                  <c:v>0.481</c:v>
                </c:pt>
                <c:pt idx="2">
                  <c:v>0.333</c:v>
                </c:pt>
              </c:numCache>
            </c:numRef>
          </c:val>
        </c:ser>
        <c:dLbls>
          <c:numFmt formatCode="#,##0" sourceLinked="0"/>
          <c:txPr>
            <a:bodyPr/>
            <a:lstStyle/>
            <a:p>
              <a:pPr>
                <a:defRPr b="0" i="0" strike="noStrike" sz="8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r"/>
      <c:overlay val="0"/>
      <c:txPr>
        <a:bodyPr/>
        <a:lstStyle/>
        <a:p>
          <a:pPr>
            <a:defRPr sz="900">      </a:defRPr>
          </a:pPr>
          <a:endParaRPr lang="en-US"/>
        </a:p>
      </c:txPr>
    </c:legend>
    <c:plotVisOnly val="1"/>
    <c:dispBlanksAs val="span"/>
  </c:chart>
  <c:spPr>
    <a:solidFill>
      <a:srgbClr val="F0F4F9"/>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000000"/>
                </a:solidFill>
                <a:latin typeface="Arial"/>
              </a:defRPr>
            </a:pPr>
            <a:r>
              <a:rPr sz="1100" b="0" i="0" u="none" strike="noStrike">
                <a:solidFill>
                  <a:srgbClr val="000000"/>
                </a:solidFill>
                <a:latin typeface="Arial"/>
              </a:rPr>
              <a:t>Stage 1 AUROC &amp; AUPRC by Model</a:t>
            </a:r>
          </a:p>
        </c:rich>
      </c:tx>
      <c:layout/>
      <c:overlay val="0"/>
    </c:title>
    <c:autoTitleDeleted val="0"/>
    <c:plotArea>
      <c:layout/>
      <c:barChart>
        <c:barDir val="col"/>
        <c:grouping val="clustered"/>
        <c:varyColors val="0"/>
        <c:ser>
          <c:idx val="0"/>
          <c:order val="0"/>
          <c:tx>
            <c:strRef>
              <c:f>Sheet1!$B$1</c:f>
              <c:strCache>
                <c:ptCount val="1"/>
                <c:pt idx="0">
                  <c:v>AUROC</c:v>
                </c:pt>
              </c:strCache>
            </c:strRef>
          </c:tx>
          <c:spPr>
            <a:solidFill>
              <a:srgbClr val="1A3A6B"/>
            </a:solidFill>
            <a:effectLst/>
          </c:spPr>
          <c:invertIfNegative val="0"/>
          <c:dLbls>
            <c:numFmt formatCode="#,##0" sourceLinked="0"/>
            <c:txPr>
              <a:bodyPr/>
              <a:lstStyle/>
              <a:p>
                <a:pPr>
                  <a:defRPr b="0" i="0" strike="noStrike" sz="900" u="none">
                    <a:solidFill>
                      <a:srgbClr val="1E293B"/>
                    </a:solidFill>
                    <a:latin typeface="Arial"/>
                  </a:defRPr>
                </a:pPr>
              </a:p>
            </c:txPr>
            <c:showLegendKey val="0"/>
            <c:showVal val="1"/>
            <c:showCatName val="0"/>
            <c:showSerName val="0"/>
            <c:showPercent val="0"/>
            <c:showBubbleSize val="0"/>
            <c:showLeaderLines val="0"/>
          </c:dLbls>
          <c:cat>
            <c:multiLvlStrRef>
              <c:f>Sheet1!$A$2:$A$4</c:f>
              <c:multiLvlStrCache>
                <c:ptCount val="3"/>
                <c:lvl>
                  <c:pt idx="0">
                    <c:v>M1: Logistic</c:v>
                  </c:pt>
                  <c:pt idx="1">
                    <c:v>M2: Random Forest</c:v>
                  </c:pt>
                  <c:pt idx="2">
                    <c:v>M2.5: EBM</c:v>
                  </c:pt>
                </c:lvl>
              </c:multiLvlStrCache>
            </c:multiLvlStrRef>
          </c:cat>
          <c:val>
            <c:numRef>
              <c:f>Sheet1!$B$2:$B$4</c:f>
              <c:numCache>
                <c:formatCode>General</c:formatCode>
                <c:ptCount val="3"/>
                <c:pt idx="0">
                  <c:v>0.606</c:v>
                </c:pt>
                <c:pt idx="1">
                  <c:v>0.636</c:v>
                </c:pt>
                <c:pt idx="2">
                  <c:v>0.753</c:v>
                </c:pt>
              </c:numCache>
            </c:numRef>
          </c:val>
        </c:ser>
        <c:ser>
          <c:idx val="1"/>
          <c:order val="1"/>
          <c:tx>
            <c:strRef>
              <c:f>Sheet1!$C$1</c:f>
              <c:strCache>
                <c:ptCount val="1"/>
                <c:pt idx="0">
                  <c:v>AUPRC</c:v>
                </c:pt>
              </c:strCache>
            </c:strRef>
          </c:tx>
          <c:spPr>
            <a:solidFill>
              <a:srgbClr val="E8A020"/>
            </a:solidFill>
            <a:effectLst/>
          </c:spPr>
          <c:invertIfNegative val="0"/>
          <c:dLbls>
            <c:numFmt formatCode="#,##0" sourceLinked="0"/>
            <c:txPr>
              <a:bodyPr/>
              <a:lstStyle/>
              <a:p>
                <a:pPr>
                  <a:defRPr b="0" i="0" strike="noStrike" sz="900" u="none">
                    <a:solidFill>
                      <a:srgbClr val="1E293B"/>
                    </a:solidFill>
                    <a:latin typeface="Arial"/>
                  </a:defRPr>
                </a:pPr>
              </a:p>
            </c:txPr>
            <c:showLegendKey val="0"/>
            <c:showVal val="1"/>
            <c:showCatName val="0"/>
            <c:showSerName val="0"/>
            <c:showPercent val="0"/>
            <c:showBubbleSize val="0"/>
            <c:showLeaderLines val="0"/>
          </c:dLbls>
          <c:cat>
            <c:multiLvlStrRef>
              <c:f>Sheet1!$A$2:$A$4</c:f>
              <c:multiLvlStrCache>
                <c:ptCount val="3"/>
                <c:lvl>
                  <c:pt idx="0">
                    <c:v>M1: Logistic</c:v>
                  </c:pt>
                  <c:pt idx="1">
                    <c:v>M2: Random Forest</c:v>
                  </c:pt>
                  <c:pt idx="2">
                    <c:v>M2.5: EBM</c:v>
                  </c:pt>
                </c:lvl>
              </c:multiLvlStrCache>
            </c:multiLvlStrRef>
          </c:cat>
          <c:val>
            <c:numRef>
              <c:f>Sheet1!$C$2:$C$4</c:f>
              <c:numCache>
                <c:formatCode>General</c:formatCode>
                <c:ptCount val="3"/>
                <c:pt idx="0">
                  <c:v>0.139</c:v>
                </c:pt>
                <c:pt idx="1">
                  <c:v>0.224</c:v>
                </c:pt>
                <c:pt idx="2">
                  <c:v>0.273</c:v>
                </c:pt>
              </c:numCache>
            </c:numRef>
          </c:val>
        </c:ser>
        <c:dLbls>
          <c:numFmt formatCode="#,##0" sourceLinked="0"/>
          <c:txPr>
            <a:bodyPr/>
            <a:lstStyle/>
            <a:p>
              <a:pPr>
                <a:defRPr b="0" i="0" strike="noStrike" sz="9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max val="0.85"/>
          <c:min val="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defRPr>
          </a:pPr>
          <a:endParaRPr lang="en-US"/>
        </a:p>
      </c:txPr>
    </c:legend>
    <c:plotVisOnly val="1"/>
    <c:dispBlanksAs val="span"/>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Benchmark</c:v>
                </c:pt>
              </c:strCache>
            </c:strRef>
          </c:tx>
          <c:spPr>
            <a:solidFill>
              <a:srgbClr val="1D7A4A"/>
            </a:solidFill>
            <a:effectLst/>
          </c:spPr>
          <c:invertIfNegative val="0"/>
          <c:dLbls>
            <c:numFmt formatCode="#,##0" sourceLinked="0"/>
            <c:txPr>
              <a:bodyPr/>
              <a:lstStyle/>
              <a:p>
                <a:pPr>
                  <a:defRPr b="0" i="0" strike="noStrike" sz="900" u="none">
                    <a:solidFill>
                      <a:srgbClr val="1E293B"/>
                    </a:solidFill>
                    <a:latin typeface="Arial"/>
                  </a:defRPr>
                </a:pPr>
              </a:p>
            </c:txPr>
            <c:showLegendKey val="0"/>
            <c:showVal val="1"/>
            <c:showCatName val="0"/>
            <c:showSerName val="0"/>
            <c:showPercent val="0"/>
            <c:showBubbleSize val="0"/>
            <c:showLeaderLines val="0"/>
          </c:dLbls>
          <c:dPt>
            <c:idx val="0"/>
            <c:invertIfNegative val="0"/>
            <c:bubble3D val="0"/>
            <c:spPr>
              <a:solidFill>
                <a:srgbClr val="1D7A4A"/>
              </a:solidFill>
              <a:effectLst/>
            </c:spPr>
          </c:dPt>
          <c:dPt>
            <c:idx val="1"/>
            <c:invertIfNegative val="0"/>
            <c:bubble3D val="0"/>
            <c:spPr>
              <a:solidFill>
                <a:srgbClr val="888888"/>
              </a:solidFill>
              <a:effectLst/>
            </c:spPr>
          </c:dPt>
          <c:dPt>
            <c:idx val="2"/>
            <c:invertIfNegative val="0"/>
            <c:bubble3D val="0"/>
            <c:spPr>
              <a:solidFill>
                <a:srgbClr val="2E6DB4"/>
              </a:solidFill>
              <a:effectLst/>
            </c:spPr>
          </c:dPt>
          <c:dPt>
            <c:idx val="3"/>
            <c:invertIfNegative val="0"/>
            <c:bubble3D val="0"/>
            <c:spPr>
              <a:solidFill>
                <a:srgbClr val="C0392B"/>
              </a:solidFill>
              <a:effectLst/>
            </c:spPr>
          </c:dPt>
          <c:cat>
            <c:multiLvlStrRef>
              <c:f>Sheet1!$A$2:$A$5</c:f>
              <c:multiLvlStrCache>
                <c:ptCount val="4"/>
                <c:lvl>
                  <c:pt idx="0">
                    <c:v>Useful EWS (Beutel 2019)</c:v>
                  </c:pt>
                  <c:pt idx="1">
                    <c:v>Random Classifier</c:v>
                  </c:pt>
                  <c:pt idx="2">
                    <c:v>M2 RF — Split B</c:v>
                  </c:pt>
                  <c:pt idx="3">
                    <c:v>EBM — Split B</c:v>
                  </c:pt>
                </c:lvl>
              </c:multiLvlStrCache>
            </c:multiLvlStrRef>
          </c:cat>
          <c:val>
            <c:numRef>
              <c:f>Sheet1!$B$2:$B$5</c:f>
              <c:numCache>
                <c:formatCode>General</c:formatCode>
                <c:ptCount val="4"/>
                <c:pt idx="0">
                  <c:v>0.75</c:v>
                </c:pt>
                <c:pt idx="1">
                  <c:v>0.5</c:v>
                </c:pt>
                <c:pt idx="2">
                  <c:v>0.481</c:v>
                </c:pt>
                <c:pt idx="3">
                  <c:v>0.333</c:v>
                </c:pt>
              </c:numCache>
            </c:numRef>
          </c:val>
        </c:ser>
        <c:dLbls>
          <c:numFmt formatCode="#,##0" sourceLinked="0"/>
          <c:txPr>
            <a:bodyPr/>
            <a:lstStyle/>
            <a:p>
              <a:pPr>
                <a:defRPr b="0" i="0" strike="noStrike" sz="9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max val="0.85"/>
          <c:min val="0"/>
        </c:scaling>
        <c:delete val="0"/>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00" b="0" i="0" u="none" strike="noStrike">
                <a:solidFill>
                  <a:srgbClr val="000000"/>
                </a:solidFill>
                <a:latin typeface="Arial"/>
              </a:defRPr>
            </a:pPr>
            <a:r>
              <a:rPr sz="1000" b="0" i="0" u="none" strike="noStrike">
                <a:solidFill>
                  <a:srgbClr val="000000"/>
                </a:solidFill>
                <a:latin typeface="Arial"/>
              </a:rPr>
              <a:t>LOCO AUROC: RF vs EBM (15 countries)</a:t>
            </a:r>
          </a:p>
        </c:rich>
      </c:tx>
      <c:layout/>
      <c:overlay val="0"/>
    </c:title>
    <c:autoTitleDeleted val="0"/>
    <c:plotArea>
      <c:layout/>
      <c:barChart>
        <c:barDir val="bar"/>
        <c:grouping val="clustered"/>
        <c:varyColors val="0"/>
        <c:ser>
          <c:idx val="0"/>
          <c:order val="0"/>
          <c:tx>
            <c:strRef>
              <c:f>Sheet1!$B$1</c:f>
              <c:strCache>
                <c:ptCount val="1"/>
                <c:pt idx="0">
                  <c:v>RF AUROC</c:v>
                </c:pt>
              </c:strCache>
            </c:strRef>
          </c:tx>
          <c:spPr>
            <a:solidFill>
              <a:srgbClr val="2E6DB4"/>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Sheet1!$A$2:$A$16</c:f>
              <c:multiLvlStrCache>
                <c:ptCount val="15"/>
                <c:lvl>
                  <c:pt idx="0">
                    <c:v>JPN</c:v>
                  </c:pt>
                  <c:pt idx="1">
                    <c:v>PRT</c:v>
                  </c:pt>
                  <c:pt idx="2">
                    <c:v>NLD</c:v>
                  </c:pt>
                  <c:pt idx="3">
                    <c:v>USA</c:v>
                  </c:pt>
                  <c:pt idx="4">
                    <c:v>ITA</c:v>
                  </c:pt>
                  <c:pt idx="5">
                    <c:v>IRL</c:v>
                  </c:pt>
                  <c:pt idx="6">
                    <c:v>GBR</c:v>
                  </c:pt>
                  <c:pt idx="7">
                    <c:v>CHE</c:v>
                  </c:pt>
                  <c:pt idx="8">
                    <c:v>FRA</c:v>
                  </c:pt>
                  <c:pt idx="9">
                    <c:v>SWE</c:v>
                  </c:pt>
                  <c:pt idx="10">
                    <c:v>FIN</c:v>
                  </c:pt>
                  <c:pt idx="11">
                    <c:v>ESP</c:v>
                  </c:pt>
                  <c:pt idx="12">
                    <c:v>DNK</c:v>
                  </c:pt>
                  <c:pt idx="13">
                    <c:v>DEU</c:v>
                  </c:pt>
                  <c:pt idx="14">
                    <c:v>BEL</c:v>
                  </c:pt>
                </c:lvl>
              </c:multiLvlStrCache>
            </c:multiLvlStrRef>
          </c:cat>
          <c:val>
            <c:numRef>
              <c:f>Sheet1!$B$2:$B$16</c:f>
              <c:numCache>
                <c:formatCode>General</c:formatCode>
                <c:ptCount val="15"/>
                <c:pt idx="0">
                  <c:v>0.069</c:v>
                </c:pt>
                <c:pt idx="1">
                  <c:v>0.655</c:v>
                </c:pt>
                <c:pt idx="2">
                  <c:v>0.742</c:v>
                </c:pt>
                <c:pt idx="3">
                  <c:v>0.968</c:v>
                </c:pt>
                <c:pt idx="4">
                  <c:v>0.9</c:v>
                </c:pt>
                <c:pt idx="5">
                  <c:v>0.903</c:v>
                </c:pt>
                <c:pt idx="6">
                  <c:v>0.9</c:v>
                </c:pt>
                <c:pt idx="7">
                  <c:v>0.983</c:v>
                </c:pt>
                <c:pt idx="8">
                  <c:v>0.968</c:v>
                </c:pt>
                <c:pt idx="9">
                  <c:v>0.95</c:v>
                </c:pt>
                <c:pt idx="10">
                  <c:v>1</c:v>
                </c:pt>
                <c:pt idx="11">
                  <c:v>1</c:v>
                </c:pt>
                <c:pt idx="12">
                  <c:v>1</c:v>
                </c:pt>
                <c:pt idx="13">
                  <c:v>0.548</c:v>
                </c:pt>
                <c:pt idx="14">
                  <c:v>1</c:v>
                </c:pt>
              </c:numCache>
            </c:numRef>
          </c:val>
        </c:ser>
        <c:ser>
          <c:idx val="1"/>
          <c:order val="1"/>
          <c:tx>
            <c:strRef>
              <c:f>Sheet1!$C$1</c:f>
              <c:strCache>
                <c:ptCount val="1"/>
                <c:pt idx="0">
                  <c:v>EBM AUROC</c:v>
                </c:pt>
              </c:strCache>
            </c:strRef>
          </c:tx>
          <c:spPr>
            <a:solidFill>
              <a:srgbClr val="E8A020"/>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Sheet1!$A$2:$A$16</c:f>
              <c:multiLvlStrCache>
                <c:ptCount val="15"/>
                <c:lvl>
                  <c:pt idx="0">
                    <c:v>JPN</c:v>
                  </c:pt>
                  <c:pt idx="1">
                    <c:v>PRT</c:v>
                  </c:pt>
                  <c:pt idx="2">
                    <c:v>NLD</c:v>
                  </c:pt>
                  <c:pt idx="3">
                    <c:v>USA</c:v>
                  </c:pt>
                  <c:pt idx="4">
                    <c:v>ITA</c:v>
                  </c:pt>
                  <c:pt idx="5">
                    <c:v>IRL</c:v>
                  </c:pt>
                  <c:pt idx="6">
                    <c:v>GBR</c:v>
                  </c:pt>
                  <c:pt idx="7">
                    <c:v>CHE</c:v>
                  </c:pt>
                  <c:pt idx="8">
                    <c:v>FRA</c:v>
                  </c:pt>
                  <c:pt idx="9">
                    <c:v>SWE</c:v>
                  </c:pt>
                  <c:pt idx="10">
                    <c:v>FIN</c:v>
                  </c:pt>
                  <c:pt idx="11">
                    <c:v>ESP</c:v>
                  </c:pt>
                  <c:pt idx="12">
                    <c:v>DNK</c:v>
                  </c:pt>
                  <c:pt idx="13">
                    <c:v>DEU</c:v>
                  </c:pt>
                  <c:pt idx="14">
                    <c:v>BEL</c:v>
                  </c:pt>
                </c:lvl>
              </c:multiLvlStrCache>
            </c:multiLvlStrRef>
          </c:cat>
          <c:val>
            <c:numRef>
              <c:f>Sheet1!$C$2:$C$16</c:f>
              <c:numCache>
                <c:formatCode>General</c:formatCode>
                <c:ptCount val="15"/>
                <c:pt idx="0">
                  <c:v>0.138</c:v>
                </c:pt>
                <c:pt idx="1">
                  <c:v>0.862</c:v>
                </c:pt>
                <c:pt idx="2">
                  <c:v>0.903</c:v>
                </c:pt>
                <c:pt idx="3">
                  <c:v>0.871</c:v>
                </c:pt>
                <c:pt idx="4">
                  <c:v>0.867</c:v>
                </c:pt>
                <c:pt idx="5">
                  <c:v>0.903</c:v>
                </c:pt>
                <c:pt idx="6">
                  <c:v>0.983</c:v>
                </c:pt>
                <c:pt idx="7">
                  <c:v>0.967</c:v>
                </c:pt>
                <c:pt idx="8">
                  <c:v>0.968</c:v>
                </c:pt>
                <c:pt idx="9">
                  <c:v>0.967</c:v>
                </c:pt>
                <c:pt idx="10">
                  <c:v>1</c:v>
                </c:pt>
                <c:pt idx="11">
                  <c:v>1</c:v>
                </c:pt>
                <c:pt idx="12">
                  <c:v>1</c:v>
                </c:pt>
                <c:pt idx="13">
                  <c:v>0.968</c:v>
                </c:pt>
                <c:pt idx="14">
                  <c:v>1</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max val="1"/>
          <c:min val="0"/>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defRPr>
          </a:pPr>
          <a:endParaRPr lang="en-US"/>
        </a:p>
      </c:txPr>
    </c:legend>
    <c:plotVisOnly val="1"/>
    <c:dispBlanksAs val="span"/>
  </c:chart>
  <c:spPr>
    <a:solidFill>
      <a:srgbClr val="FFFF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00" b="0" i="0" u="none" strike="noStrike">
                <a:solidFill>
                  <a:srgbClr val="000000"/>
                </a:solidFill>
                <a:latin typeface="Arial"/>
              </a:defRPr>
            </a:pPr>
            <a:r>
              <a:rPr sz="1000" b="0" i="0" u="none" strike="noStrike">
                <a:solidFill>
                  <a:srgbClr val="000000"/>
                </a:solidFill>
                <a:latin typeface="Arial"/>
              </a:rPr>
              <a:t>Stage 2 AUPRC Comparison</a:t>
            </a:r>
          </a:p>
        </c:rich>
      </c:tx>
      <c:layout/>
      <c:overlay val="0"/>
    </c:title>
    <c:autoTitleDeleted val="0"/>
    <c:plotArea>
      <c:layout/>
      <c:barChart>
        <c:barDir val="bar"/>
        <c:grouping val="clustered"/>
        <c:varyColors val="0"/>
        <c:ser>
          <c:idx val="0"/>
          <c:order val="0"/>
          <c:tx>
            <c:strRef>
              <c:f>Sheet1!$B$1</c:f>
              <c:strCache>
                <c:ptCount val="1"/>
                <c:pt idx="0">
                  <c:v>AUPRC</c:v>
                </c:pt>
              </c:strCache>
            </c:strRef>
          </c:tx>
          <c:spPr>
            <a:solidFill>
              <a:srgbClr val="2E6DB4"/>
            </a:solidFill>
            <a:effectLst/>
          </c:spPr>
          <c:invertIfNegative val="0"/>
          <c:dLbls>
            <c:numFmt formatCode="#,##0" sourceLinked="0"/>
            <c:txPr>
              <a:bodyPr/>
              <a:lstStyle/>
              <a:p>
                <a:pPr>
                  <a:defRPr b="0" i="0" strike="noStrike" sz="900" u="none">
                    <a:solidFill>
                      <a:srgbClr val="1E293B"/>
                    </a:solidFill>
                    <a:latin typeface="Arial"/>
                  </a:defRPr>
                </a:pPr>
              </a:p>
            </c:txPr>
            <c:showLegendKey val="0"/>
            <c:showVal val="1"/>
            <c:showCatName val="0"/>
            <c:showSerName val="0"/>
            <c:showPercent val="0"/>
            <c:showBubbleSize val="0"/>
            <c:showLeaderLines val="0"/>
          </c:dLbls>
          <c:cat>
            <c:multiLvlStrRef>
              <c:f>Sheet1!$A$2:$A$5</c:f>
              <c:multiLvlStrCache>
                <c:ptCount val="4"/>
                <c:lvl>
                  <c:pt idx="0">
                    <c:v>M2-matched RF</c:v>
                  </c:pt>
                  <c:pt idx="1">
                    <c:v>M3 XGB+FinBERT</c:v>
                  </c:pt>
                  <c:pt idx="2">
                    <c:v>E1-EBM ensemble</c:v>
                  </c:pt>
                  <c:pt idx="3">
                    <c:v>M2.5 EBM ★</c:v>
                  </c:pt>
                </c:lvl>
              </c:multiLvlStrCache>
            </c:multiLvlStrRef>
          </c:cat>
          <c:val>
            <c:numRef>
              <c:f>Sheet1!$B$2:$B$5</c:f>
              <c:numCache>
                <c:formatCode>General</c:formatCode>
                <c:ptCount val="4"/>
                <c:pt idx="0">
                  <c:v>0.343</c:v>
                </c:pt>
                <c:pt idx="1">
                  <c:v>0.411</c:v>
                </c:pt>
                <c:pt idx="2">
                  <c:v>0.433</c:v>
                </c:pt>
                <c:pt idx="3">
                  <c:v>0.532</c:v>
                </c:pt>
              </c:numCache>
            </c:numRef>
          </c:val>
        </c:ser>
        <c:dLbls>
          <c:numFmt formatCode="#,##0" sourceLinked="0"/>
          <c:txPr>
            <a:bodyPr/>
            <a:lstStyle/>
            <a:p>
              <a:pPr>
                <a:defRPr b="0" i="0" strike="noStrike" sz="9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max val="0.6"/>
          <c:min val="0"/>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00" b="0" i="0" u="none" strike="noStrike">
                <a:solidFill>
                  <a:srgbClr val="000000"/>
                </a:solidFill>
                <a:latin typeface="Arial"/>
              </a:defRPr>
            </a:pPr>
            <a:r>
              <a:rPr sz="1000" b="0" i="0" u="none" strike="noStrike">
                <a:solidFill>
                  <a:srgbClr val="000000"/>
                </a:solidFill>
                <a:latin typeface="Arial"/>
              </a:rPr>
              <a:t>M3 SHAP Attribution by Group</a:t>
            </a:r>
          </a:p>
        </c:rich>
      </c:tx>
      <c:layout/>
      <c:overlay val="0"/>
    </c:title>
    <c:autoTitleDeleted val="0"/>
    <c:plotArea>
      <c:layout/>
      <c:pieChart>
        <c:varyColors val="1"/>
        <c:ser>
          <c:idx val="0"/>
          <c:order val="0"/>
          <c:tx>
            <c:strRef>
              <c:f>Sheet1!$B$1</c:f>
              <c:strCache>
                <c:ptCount val="1"/>
                <c:pt idx="0">
                  <c:v>Attribution</c:v>
                </c:pt>
              </c:strCache>
            </c:strRef>
          </c:tx>
          <c:spPr>
            <a:solidFill>
              <a:schemeClr val="accent1"/>
            </a:solidFill>
            <a:ln w="9525" cap="flat">
              <a:solidFill>
                <a:srgbClr val="F9F9F9"/>
              </a:solidFill>
              <a:prstDash val="solid"/>
              <a:round/>
            </a:ln>
            <a:effectLst/>
          </c:spPr>
          <c:dPt>
            <c:idx val="0"/>
            <c:bubble3D val="0"/>
            <c:spPr>
              <a:solidFill>
                <a:srgbClr val="0D1B3E"/>
              </a:solidFill>
              <a:effectLst/>
            </c:spPr>
          </c:dPt>
          <c:dPt>
            <c:idx val="1"/>
            <c:bubble3D val="0"/>
            <c:spPr>
              <a:solidFill>
                <a:srgbClr val="1A3A6B"/>
              </a:solidFill>
              <a:effectLst/>
            </c:spPr>
          </c:dPt>
          <c:dPt>
            <c:idx val="2"/>
            <c:bubble3D val="0"/>
            <c:spPr>
              <a:solidFill>
                <a:srgbClr val="2E6DB4"/>
              </a:solidFill>
              <a:effectLst/>
            </c:spPr>
          </c:dPt>
          <c:dPt>
            <c:idx val="3"/>
            <c:bubble3D val="0"/>
            <c:spPr>
              <a:solidFill>
                <a:srgbClr val="E8A020"/>
              </a:solidFill>
              <a:effectLst/>
            </c:spPr>
          </c:dPt>
          <c:dPt>
            <c:idx val="4"/>
            <c:bubble3D val="0"/>
            <c:spPr>
              <a:solidFill>
                <a:srgbClr val="F4B942"/>
              </a:solidFill>
              <a:effectLst/>
            </c:spPr>
          </c:dPt>
          <c:dLbls>
            <c:dLbl>
              <c:idx val="0"/>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3"/>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4"/>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Sheet1!$A$2:$A$6</c:f>
              <c:strCache>
                <c:ptCount val="5"/>
                <c:pt idx="0">
                  <c:v>Macro Lag 1</c:v>
                </c:pt>
                <c:pt idx="1">
                  <c:v>Macro Lag 3</c:v>
                </c:pt>
                <c:pt idx="2">
                  <c:v>Macro Lag 2</c:v>
                </c:pt>
                <c:pt idx="3">
                  <c:v>Sentiment Lag 1</c:v>
                </c:pt>
                <c:pt idx="4">
                  <c:v>Sentiment Lag 2</c:v>
                </c:pt>
              </c:strCache>
            </c:strRef>
          </c:cat>
          <c:val>
            <c:numRef>
              <c:f>Sheet1!$B$2:$B$6</c:f>
              <c:numCache>
                <c:ptCount val="5"/>
                <c:pt idx="0">
                  <c:v>2.816</c:v>
                </c:pt>
                <c:pt idx="1">
                  <c:v>2.735</c:v>
                </c:pt>
                <c:pt idx="2">
                  <c:v>1.249</c:v>
                </c:pt>
                <c:pt idx="3">
                  <c:v>1.325</c:v>
                </c:pt>
                <c:pt idx="4">
                  <c:v>1.083</c:v>
                </c:pt>
              </c:numCache>
            </c:numRef>
          </c:val>
        </c:ser>
        <c:firstSliceAng val="0"/>
      </c:pieChart>
      <c:spPr>
        <a:noFill/>
        <a:ln>
          <a:noFill/>
        </a:ln>
        <a:effectLst/>
      </c:spPr>
    </c:plotArea>
    <c:legend>
      <c:legendPos val="b"/>
      <c:overlay val="0"/>
      <c:txPr>
        <a:bodyPr/>
        <a:lstStyle/>
        <a:p>
          <a:pPr>
            <a:defRPr sz="900">      </a:defRPr>
          </a:pPr>
          <a:endParaRPr lang="en-US"/>
        </a:p>
      </c:txPr>
    </c:legend>
    <c:plotVisOnly val="1"/>
    <c:dispBlanksAs val="span"/>
  </c:chart>
  <c:spPr>
    <a:solidFill>
      <a:srgbClr val="FFFFFF"/>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00" b="0" i="0" u="none" strike="noStrike">
                <a:solidFill>
                  <a:srgbClr val="000000"/>
                </a:solidFill>
                <a:latin typeface="Arial"/>
              </a:defRPr>
            </a:pPr>
            <a:r>
              <a:rPr sz="1000" b="0" i="0" u="none" strike="noStrike">
                <a:solidFill>
                  <a:srgbClr val="000000"/>
                </a:solidFill>
                <a:latin typeface="Arial"/>
              </a:rPr>
              <a:t>EBM Top-5 Native Feature Importance</a:t>
            </a:r>
          </a:p>
        </c:rich>
      </c:tx>
      <c:layout/>
      <c:overlay val="0"/>
    </c:title>
    <c:autoTitleDeleted val="0"/>
    <c:plotArea>
      <c:layout/>
      <c:barChart>
        <c:barDir val="bar"/>
        <c:grouping val="clustered"/>
        <c:varyColors val="0"/>
        <c:ser>
          <c:idx val="0"/>
          <c:order val="0"/>
          <c:tx>
            <c:strRef>
              <c:f>Sheet1!$B$1</c:f>
              <c:strCache>
                <c:ptCount val="1"/>
                <c:pt idx="0">
                  <c:v>Native Importance</c:v>
                </c:pt>
              </c:strCache>
            </c:strRef>
          </c:tx>
          <c:spPr>
            <a:solidFill>
              <a:srgbClr val="E8A020"/>
            </a:solidFill>
            <a:effectLst/>
          </c:spPr>
          <c:invertIfNegative val="0"/>
          <c:dLbls>
            <c:numFmt formatCode="#,##0" sourceLinked="0"/>
            <c:txPr>
              <a:bodyPr/>
              <a:lstStyle/>
              <a:p>
                <a:pPr>
                  <a:defRPr b="0" i="0" strike="noStrike" sz="900" u="none">
                    <a:solidFill>
                      <a:srgbClr val="1E293B"/>
                    </a:solidFill>
                    <a:latin typeface="Arial"/>
                  </a:defRPr>
                </a:pPr>
              </a:p>
            </c:txPr>
            <c:showLegendKey val="0"/>
            <c:showVal val="1"/>
            <c:showCatName val="0"/>
            <c:showSerName val="0"/>
            <c:showPercent val="0"/>
            <c:showBubbleSize val="0"/>
            <c:showLeaderLines val="0"/>
          </c:dLbls>
          <c:cat>
            <c:multiLvlStrRef>
              <c:f>Sheet1!$A$2:$A$6</c:f>
              <c:multiLvlStrCache>
                <c:ptCount val="5"/>
                <c:lvl>
                  <c:pt idx="0">
                    <c:v>ts_lag3</c:v>
                  </c:pt>
                  <c:pt idx="1">
                    <c:v>ts_lag1</c:v>
                  </c:pt>
                  <c:pt idx="2">
                    <c:v>ts_lag2</c:v>
                  </c:pt>
                  <c:pt idx="3">
                    <c:v>hpnom_gr_lag1</c:v>
                  </c:pt>
                  <c:pt idx="4">
                    <c:v>tloans_slope4_lag1</c:v>
                  </c:pt>
                </c:lvl>
              </c:multiLvlStrCache>
            </c:multiLvlStrRef>
          </c:cat>
          <c:val>
            <c:numRef>
              <c:f>Sheet1!$B$2:$B$6</c:f>
              <c:numCache>
                <c:formatCode>General</c:formatCode>
                <c:ptCount val="5"/>
                <c:pt idx="0">
                  <c:v>1.717</c:v>
                </c:pt>
                <c:pt idx="1">
                  <c:v>1.012</c:v>
                </c:pt>
                <c:pt idx="2">
                  <c:v>0.595</c:v>
                </c:pt>
                <c:pt idx="3">
                  <c:v>0.562</c:v>
                </c:pt>
                <c:pt idx="4">
                  <c:v>0.419</c:v>
                </c:pt>
              </c:numCache>
            </c:numRef>
          </c:val>
        </c:ser>
        <c:dLbls>
          <c:numFmt formatCode="#,##0" sourceLinked="0"/>
          <c:txPr>
            <a:bodyPr/>
            <a:lstStyle/>
            <a:p>
              <a:pPr>
                <a:defRPr b="0" i="0" strike="noStrike" sz="9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max val="1.85"/>
          <c:min val="0"/>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00" b="0" i="0" u="none" strike="noStrike">
                <a:solidFill>
                  <a:srgbClr val="000000"/>
                </a:solidFill>
                <a:latin typeface="Arial"/>
              </a:defRPr>
            </a:pPr>
            <a:r>
              <a:rPr sz="1000" b="0" i="0" u="none" strike="noStrike">
                <a:solidFill>
                  <a:srgbClr val="000000"/>
                </a:solidFill>
                <a:latin typeface="Arial"/>
              </a:rPr>
              <a:t>E1-EBM 2007 Probability by Crisis Type (illustrative)</a:t>
            </a:r>
          </a:p>
        </c:rich>
      </c:tx>
      <c:layout/>
      <c:overlay val="0"/>
    </c:title>
    <c:autoTitleDeleted val="0"/>
    <c:plotArea>
      <c:layout/>
      <c:barChart>
        <c:barDir val="bar"/>
        <c:grouping val="stacked"/>
        <c:varyColors val="0"/>
        <c:ser>
          <c:idx val="0"/>
          <c:order val="0"/>
          <c:tx>
            <c:strRef>
              <c:f>Sheet1!$B$1</c:f>
              <c:strCache>
                <c:ptCount val="1"/>
                <c:pt idx="0">
                  <c:v>Fundamental crisis (★)</c:v>
                </c:pt>
              </c:strCache>
            </c:strRef>
          </c:tx>
          <c:spPr>
            <a:solidFill>
              <a:srgbClr val="C0392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Sheet1!$A$2:$A$10</c:f>
              <c:multiLvlStrCache>
                <c:ptCount val="9"/>
                <c:lvl>
                  <c:pt idx="0">
                    <c:v>ESP</c:v>
                  </c:pt>
                  <c:pt idx="1">
                    <c:v>IRL</c:v>
                  </c:pt>
                  <c:pt idx="2">
                    <c:v>USA</c:v>
                  </c:pt>
                  <c:pt idx="3">
                    <c:v>ITA</c:v>
                  </c:pt>
                  <c:pt idx="4">
                    <c:v>PRT</c:v>
                  </c:pt>
                  <c:pt idx="5">
                    <c:v>GBR*</c:v>
                  </c:pt>
                  <c:pt idx="6">
                    <c:v>BEL</c:v>
                  </c:pt>
                  <c:pt idx="7">
                    <c:v>DEU</c:v>
                  </c:pt>
                  <c:pt idx="8">
                    <c:v>CHE</c:v>
                  </c:pt>
                </c:lvl>
              </c:multiLvlStrCache>
            </c:multiLvlStrRef>
          </c:cat>
          <c:val>
            <c:numRef>
              <c:f>Sheet1!$B$2:$B$10</c:f>
              <c:numCache>
                <c:formatCode>General</c:formatCode>
                <c:ptCount val="9"/>
                <c:pt idx="0">
                  <c:v>0.97</c:v>
                </c:pt>
                <c:pt idx="1">
                  <c:v>0.95</c:v>
                </c:pt>
                <c:pt idx="2">
                  <c:v>0.88</c:v>
                </c:pt>
                <c:pt idx="3">
                  <c:v>0.85</c:v>
                </c:pt>
                <c:pt idx="4">
                  <c:v>0.82</c:v>
                </c:pt>
                <c:pt idx="5">
                  <c:v/>
                </c:pt>
                <c:pt idx="6">
                  <c:v/>
                </c:pt>
                <c:pt idx="7">
                  <c:v/>
                </c:pt>
                <c:pt idx="8">
                  <c:v/>
                </c:pt>
              </c:numCache>
            </c:numRef>
          </c:val>
        </c:ser>
        <c:ser>
          <c:idx val="1"/>
          <c:order val="1"/>
          <c:tx>
            <c:strRef>
              <c:f>Sheet1!$C$1</c:f>
              <c:strCache>
                <c:ptCount val="1"/>
                <c:pt idx="0">
                  <c:v>Contagion (★)</c:v>
                </c:pt>
              </c:strCache>
            </c:strRef>
          </c:tx>
          <c:spPr>
            <a:solidFill>
              <a:srgbClr val="E8A020"/>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Sheet1!$A$2:$A$10</c:f>
              <c:multiLvlStrCache>
                <c:ptCount val="9"/>
                <c:lvl>
                  <c:pt idx="0">
                    <c:v>ESP</c:v>
                  </c:pt>
                  <c:pt idx="1">
                    <c:v>IRL</c:v>
                  </c:pt>
                  <c:pt idx="2">
                    <c:v>USA</c:v>
                  </c:pt>
                  <c:pt idx="3">
                    <c:v>ITA</c:v>
                  </c:pt>
                  <c:pt idx="4">
                    <c:v>PRT</c:v>
                  </c:pt>
                  <c:pt idx="5">
                    <c:v>GBR*</c:v>
                  </c:pt>
                  <c:pt idx="6">
                    <c:v>BEL</c:v>
                  </c:pt>
                  <c:pt idx="7">
                    <c:v>DEU</c:v>
                  </c:pt>
                  <c:pt idx="8">
                    <c:v>CHE</c:v>
                  </c:pt>
                </c:lvl>
              </c:multiLvlStrCache>
            </c:multiLvlStrRef>
          </c:cat>
          <c:val>
            <c:numRef>
              <c:f>Sheet1!$C$2:$C$10</c:f>
              <c:numCache>
                <c:formatCode>General</c:formatCode>
                <c:ptCount val="9"/>
                <c:pt idx="0">
                  <c:v/>
                </c:pt>
                <c:pt idx="1">
                  <c:v/>
                </c:pt>
                <c:pt idx="2">
                  <c:v/>
                </c:pt>
                <c:pt idx="3">
                  <c:v/>
                </c:pt>
                <c:pt idx="4">
                  <c:v/>
                </c:pt>
                <c:pt idx="5">
                  <c:v/>
                </c:pt>
                <c:pt idx="6">
                  <c:v>0.39</c:v>
                </c:pt>
                <c:pt idx="7">
                  <c:v>0.35</c:v>
                </c:pt>
                <c:pt idx="8">
                  <c:v>0.3</c:v>
                </c:pt>
              </c:numCache>
            </c:numRef>
          </c:val>
        </c:ser>
        <c:ser>
          <c:idx val="2"/>
          <c:order val="2"/>
          <c:tx>
            <c:strRef>
              <c:f>Sheet1!$D$1</c:f>
              <c:strCache>
                <c:ptCount val="1"/>
                <c:pt idx="0">
                  <c:v>No crisis / qualitative scope</c:v>
                </c:pt>
              </c:strCache>
            </c:strRef>
          </c:tx>
          <c:spPr>
            <a:solidFill>
              <a:srgbClr val="1D7A4A"/>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Sheet1!$A$2:$A$10</c:f>
              <c:multiLvlStrCache>
                <c:ptCount val="9"/>
                <c:lvl>
                  <c:pt idx="0">
                    <c:v>ESP</c:v>
                  </c:pt>
                  <c:pt idx="1">
                    <c:v>IRL</c:v>
                  </c:pt>
                  <c:pt idx="2">
                    <c:v>USA</c:v>
                  </c:pt>
                  <c:pt idx="3">
                    <c:v>ITA</c:v>
                  </c:pt>
                  <c:pt idx="4">
                    <c:v>PRT</c:v>
                  </c:pt>
                  <c:pt idx="5">
                    <c:v>GBR*</c:v>
                  </c:pt>
                  <c:pt idx="6">
                    <c:v>BEL</c:v>
                  </c:pt>
                  <c:pt idx="7">
                    <c:v>DEU</c:v>
                  </c:pt>
                  <c:pt idx="8">
                    <c:v>CHE</c:v>
                  </c:pt>
                </c:lvl>
              </c:multiLvlStrCache>
            </c:multiLvlStrRef>
          </c:cat>
          <c:val>
            <c:numRef>
              <c:f>Sheet1!$D$2:$D$10</c:f>
              <c:numCache>
                <c:formatCode>General</c:formatCode>
                <c:ptCount val="9"/>
                <c:pt idx="0">
                  <c:v/>
                </c:pt>
                <c:pt idx="1">
                  <c:v/>
                </c:pt>
                <c:pt idx="2">
                  <c:v/>
                </c:pt>
                <c:pt idx="3">
                  <c:v/>
                </c:pt>
                <c:pt idx="4">
                  <c:v/>
                </c:pt>
                <c:pt idx="5">
                  <c:v>0.17</c:v>
                </c:pt>
                <c:pt idx="6">
                  <c:v/>
                </c:pt>
                <c:pt idx="7">
                  <c:v/>
                </c:pt>
                <c:pt idx="8">
                  <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max val="1"/>
          <c:min val="0"/>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defRPr>
          </a:pPr>
          <a:endParaRPr lang="en-US"/>
        </a:p>
      </c:txPr>
    </c:legend>
    <c:plotVisOnly val="1"/>
    <c:dispBlanksAs val="span"/>
  </c:chart>
  <c:spPr>
    <a:solidFill>
      <a:srgbClr val="FFFFFF"/>
    </a:solid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00" b="0" i="0" u="none" strike="noStrike">
                <a:solidFill>
                  <a:srgbClr val="000000"/>
                </a:solidFill>
                <a:latin typeface="Arial"/>
              </a:defRPr>
            </a:pPr>
            <a:r>
              <a:rPr sz="1000" b="0" i="0" u="none" strike="noStrike">
                <a:solidFill>
                  <a:srgbClr val="000000"/>
                </a:solidFill>
                <a:latin typeface="Arial"/>
              </a:rPr>
              <a:t>Mean Probability by Crisis Type</a:t>
            </a:r>
          </a:p>
        </c:rich>
      </c:tx>
      <c:layout/>
      <c:overlay val="0"/>
    </c:title>
    <c:autoTitleDeleted val="0"/>
    <c:plotArea>
      <c:layout/>
      <c:barChart>
        <c:barDir val="col"/>
        <c:grouping val="clustered"/>
        <c:varyColors val="0"/>
        <c:ser>
          <c:idx val="0"/>
          <c:order val="0"/>
          <c:tx>
            <c:strRef>
              <c:f>Sheet1!$B$1</c:f>
              <c:strCache>
                <c:ptCount val="1"/>
                <c:pt idx="0">
                  <c:v>Mean E1-EBM Probability</c:v>
                </c:pt>
              </c:strCache>
            </c:strRef>
          </c:tx>
          <c:spPr>
            <a:solidFill>
              <a:srgbClr val="C0392B"/>
            </a:solidFill>
            <a:effectLst/>
          </c:spPr>
          <c:invertIfNegative val="0"/>
          <c:dLbls>
            <c:numFmt formatCode="#,##0" sourceLinked="0"/>
            <c:txPr>
              <a:bodyPr/>
              <a:lstStyle/>
              <a:p>
                <a:pPr>
                  <a:defRPr b="0" i="0" strike="noStrike" sz="1000" u="none">
                    <a:solidFill>
                      <a:srgbClr val="1E293B"/>
                    </a:solidFill>
                    <a:latin typeface="Arial"/>
                  </a:defRPr>
                </a:pPr>
              </a:p>
            </c:txPr>
            <c:showLegendKey val="0"/>
            <c:showVal val="1"/>
            <c:showCatName val="0"/>
            <c:showSerName val="0"/>
            <c:showPercent val="0"/>
            <c:showBubbleSize val="0"/>
            <c:showLeaderLines val="0"/>
          </c:dLbls>
          <c:dPt>
            <c:idx val="0"/>
            <c:invertIfNegative val="0"/>
            <c:bubble3D val="0"/>
            <c:spPr>
              <a:solidFill>
                <a:srgbClr val="C0392B"/>
              </a:solidFill>
              <a:effectLst/>
            </c:spPr>
          </c:dPt>
          <c:dPt>
            <c:idx val="1"/>
            <c:invertIfNegative val="0"/>
            <c:bubble3D val="0"/>
            <c:spPr>
              <a:solidFill>
                <a:srgbClr val="E8A020"/>
              </a:solidFill>
              <a:effectLst/>
            </c:spPr>
          </c:dPt>
          <c:dPt>
            <c:idx val="2"/>
            <c:invertIfNegative val="0"/>
            <c:bubble3D val="0"/>
            <c:spPr>
              <a:solidFill>
                <a:srgbClr val="1D7A4A"/>
              </a:solidFill>
              <a:effectLst/>
            </c:spPr>
          </c:dPt>
          <c:cat>
            <c:multiLvlStrRef>
              <c:f>Sheet1!$A$2:$A$4</c:f>
              <c:multiLvlStrCache>
                <c:ptCount val="3"/>
                <c:lvl>
                  <c:pt idx="0">
                    <c:v>Fundamental
n=9</c:v>
                  </c:pt>
                  <c:pt idx="1">
                    <c:v>Contagion
n=5</c:v>
                  </c:pt>
                  <c:pt idx="2">
                    <c:v>No crisis
n=4</c:v>
                  </c:pt>
                </c:lvl>
              </c:multiLvlStrCache>
            </c:multiLvlStrRef>
          </c:cat>
          <c:val>
            <c:numRef>
              <c:f>Sheet1!$B$2:$B$4</c:f>
              <c:numCache>
                <c:formatCode>General</c:formatCode>
                <c:ptCount val="3"/>
                <c:pt idx="0">
                  <c:v>0.695</c:v>
                </c:pt>
                <c:pt idx="1">
                  <c:v>0.395</c:v>
                </c:pt>
                <c:pt idx="2">
                  <c:v>0.325</c:v>
                </c:pt>
              </c:numCache>
            </c:numRef>
          </c:val>
        </c:ser>
        <c:dLbls>
          <c:numFmt formatCode="#,##0" sourceLinked="0"/>
          <c:txPr>
            <a:bodyPr/>
            <a:lstStyle/>
            <a:p>
              <a:pPr>
                <a:defRPr b="0" i="0" strike="noStrike" sz="10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max val="0.85"/>
          <c:min val="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00" b="0" i="0" u="none" strike="noStrike">
                <a:solidFill>
                  <a:srgbClr val="000000"/>
                </a:solidFill>
                <a:latin typeface="Arial"/>
              </a:defRPr>
            </a:pPr>
            <a:r>
              <a:rPr sz="1000" b="0" i="0" u="none" strike="noStrike">
                <a:solidFill>
                  <a:srgbClr val="000000"/>
                </a:solidFill>
                <a:latin typeface="Arial"/>
              </a:rPr>
              <a:t>Feature Hierarchy Shift: Pooled vs Pre-GFC Regime</a:t>
            </a:r>
          </a:p>
        </c:rich>
      </c:tx>
      <c:layout/>
      <c:overlay val="0"/>
    </c:title>
    <c:autoTitleDeleted val="0"/>
    <c:plotArea>
      <c:layout/>
      <c:barChart>
        <c:barDir val="bar"/>
        <c:grouping val="clustered"/>
        <c:varyColors val="0"/>
        <c:ser>
          <c:idx val="0"/>
          <c:order val="0"/>
          <c:tx>
            <c:strRef>
              <c:f>Sheet1!$B$1</c:f>
              <c:strCache>
                <c:ptCount val="1"/>
                <c:pt idx="0">
                  <c:v>EBM-Pooled</c:v>
                </c:pt>
              </c:strCache>
            </c:strRef>
          </c:tx>
          <c:spPr>
            <a:solidFill>
              <a:srgbClr val="E8A020"/>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term_spread_lag3</c:v>
                  </c:pt>
                  <c:pt idx="1">
                    <c:v>term_spread_lag1</c:v>
                  </c:pt>
                  <c:pt idx="2">
                    <c:v>term_spread_lag2</c:v>
                  </c:pt>
                  <c:pt idx="3">
                    <c:v>hpnom_gr_lag1</c:v>
                  </c:pt>
                  <c:pt idx="4">
                    <c:v>tloans_slope4</c:v>
                  </c:pt>
                </c:lvl>
              </c:multiLvlStrCache>
            </c:multiLvlStrRef>
          </c:cat>
          <c:val>
            <c:numRef>
              <c:f>Sheet1!$B$2:$B$6</c:f>
              <c:numCache>
                <c:formatCode>General</c:formatCode>
                <c:ptCount val="5"/>
                <c:pt idx="0">
                  <c:v>1.717</c:v>
                </c:pt>
                <c:pt idx="1">
                  <c:v>1.012</c:v>
                </c:pt>
                <c:pt idx="2">
                  <c:v>0.595</c:v>
                </c:pt>
                <c:pt idx="3">
                  <c:v>0.562</c:v>
                </c:pt>
                <c:pt idx="4">
                  <c:v>0.419</c:v>
                </c:pt>
              </c:numCache>
            </c:numRef>
          </c:val>
        </c:ser>
        <c:ser>
          <c:idx val="1"/>
          <c:order val="1"/>
          <c:tx>
            <c:strRef>
              <c:f>Sheet1!$C$1</c:f>
              <c:strCache>
                <c:ptCount val="1"/>
                <c:pt idx="0">
                  <c:v>EBM-R1 (Pre-GFC)</c:v>
                </c:pt>
              </c:strCache>
            </c:strRef>
          </c:tx>
          <c:spPr>
            <a:solidFill>
              <a:srgbClr val="2E6DB4"/>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term_spread_lag3</c:v>
                  </c:pt>
                  <c:pt idx="1">
                    <c:v>term_spread_lag1</c:v>
                  </c:pt>
                  <c:pt idx="2">
                    <c:v>term_spread_lag2</c:v>
                  </c:pt>
                  <c:pt idx="3">
                    <c:v>hpnom_gr_lag1</c:v>
                  </c:pt>
                  <c:pt idx="4">
                    <c:v>tloans_slope4</c:v>
                  </c:pt>
                </c:lvl>
              </c:multiLvlStrCache>
            </c:multiLvlStrRef>
          </c:cat>
          <c:val>
            <c:numRef>
              <c:f>Sheet1!$C$2:$C$6</c:f>
              <c:numCache>
                <c:formatCode>General</c:formatCode>
                <c:ptCount val="5"/>
                <c:pt idx="0">
                  <c:v>0.31</c:v>
                </c:pt>
                <c:pt idx="1">
                  <c:v>0.28</c:v>
                </c:pt>
                <c:pt idx="2">
                  <c:v>0.19</c:v>
                </c:pt>
                <c:pt idx="3">
                  <c:v>0.68</c:v>
                </c:pt>
                <c:pt idx="4">
                  <c:v>0.41</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max val="1.85"/>
          <c:min val="0"/>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defRPr>
          </a:pPr>
          <a:endParaRPr lang="en-US"/>
        </a:p>
      </c:txPr>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 (Title) [00:00–00:30]
Open without preamble. Look up, not down:
"This dissertation asks a precise question: why do machine learning models for banking crisis prediction fail under genuinely prospective conditions — not whether they fail, which we already know, but through exactly what mechanism. I will show you the answer using a model class that makes the failure directly visible."
Move to Slide 2 immediately. 30 seconds maximum.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2 [00:30–01:30]
"The EWS literature established a clear empirical fact. Machine learning outperforms logistic regression under standard expanding-window validation — but falls below the 0.75 AUROC benchmark under strict temporal testing. The chart shows this starkly: the blue bars are what models achieve when tested the usual way; the red bars are what happens when you train exclusively on pre-crisis data. Both RF and EBM fall dramatically.
But the literature stopped at documenting the numbers. It did not explain the mechanism, test whether interpretable models are more or less vulnerable, or cleanly separate algorithm effects from sentiment. Those three gaps are exactly what this dissertation fills.
WHAT THIS CHART SHOWS: A side-by-side comparison of expanding-window vs strict temporal AUROC for M1, M2 RF and EBM. The contrast is the central empirical message. M1 has no Split B bar because it is a baseline."
Timing: 60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3 [01:30–02:30]
"The dataset is the JST Macrohistory Database — 18 advanced economies, 1985 to 2020. After lag construction, Stage 1 covers 569 country-year observations with 37 crisis events at 6.5 percent base rate. Stage 2, where FinBERT speech sentiment is available, covers 2003–2020 with 26 crisis events.
The model sequence is the core design. M1 and M2 are standard benchmarks. M3 adds FinBERT sentiment to XGBoost. The novel addition is M2.5 — EBM, the Explainable Boosting Machine. It uses the same 41 macro features as M2 but a fundamentally different algorithm that learns exact shape functions instead of trees. This lets me isolate the algorithm effect from the sentiment effect — and crucially, to make the failure mechanism directly visible. No other model in this sequence can do that."
Timing: 60 seconds. Point to EBM card. This is the slide where you justify the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4 [02:30–03:15]
"Stage 1 results on the extended 1988–2020 panel. EBM achieves AUROC 0.753 — the only model to meet the 0.75 benchmark — with AUPRC 0.273, highest of any Stage 1 model, using identical features and cross-validation design as Random Forest.
The chart makes the gap visible. But I want to be careful here. These are expanding-window figures. All three models accumulate GFC-period data in later training folds, which inflates all metrics. EBM appears to have solved the trade-off — higher accuracy AND interpretability. The next slide shows what happens when I remove that advantage."
Timing: 45 seconds. Do not over-claim on these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5 [03:15–04:15]
"This is the central empirical finding. I apply strict temporal validation — Split B: train on 1988–2002, test on 2003–2011. No GFC data in training. Six positive training cases.
Random Forest achieves AUROC 0.481 — at chance level. EBM, the model that led every expanding-window metric, collapses to AUROC 0.333. Substantially below random. Worse than Random Forest.
This is not a numerical curiosity. The model with the highest in-sample performance and the highest interpretability fails most severely when the regime changes. The bar chart at the bottom puts this in context: the useful prediction benchmark is 0.75. Random is 0.5. Both models fall far short.
Now — I want to be honest about a limitation. Split B has only six pre-GFC positive training cases. The result is diagnostic, not conclusive. But combined with the shape function evidence on the next slide — which is entirely independent of Split B — the structural explanation is compelling.
Pause here. Let the 0.333 land."
Timing: 60 seconds. Pause after saying 0.333.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6 [04:15–05:45]
"This slide contains the dissertation's most theoretically significant finding. I trained EBM twice — on a pre-GFC window 2003 to 2006, and on a GFC-inclusive window 2003 to 2010 — and plotted the shape functions for the same features side by side. That is Figure 4.7.
Look at term_spread_lag3 — native importance 1.717, the single highest-ranked EBM feature. In the pre-GFC window, the model learns a monotonically increasing risk relationship: higher spreads signal higher crisis risk. In the GFC-inclusive window, that relationship reverses at high spread values. The curves cross.
The same feature value is associated with reduced risk in one regime and increased risk in the other.
Now — and this is crucial — because it is EBM, there is no SHAP approximation. If I had done this with a Random Forest, I could not tell whether the difference reflects a genuine model change or an approximation artefact. With EBM, the shape function IS the model parameter. This instability is therefore direct evidence about the data-generating process, not about the attribution tool.
And here is the mechanical link to AUROC 0.333: the model trained on pre-GFC data applies the blue-line mappings to GFC observations. It gets the sign wrong on the top feature. Every high-spread GFC observation gets assigned low risk. Systematic misclassification follows. AUROC below random is the necessary arithmetic result.
The panel logistic provides independent confirmation — sign reversal at the same lag horizons, completely different method.
THIS IS YOUR MOST IMPORTANT SLIDE. Slow down here. Point to the crossing of the curves."
Timing: 90 seconds. This is the pivot of the 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7 [05:45–06:45]
"Two results on this slide. On the left — the LOCO validation: hold each country out in turn, train on the remaining 17, test on the held-out country's crisis events. EBM achieves mean AUROC 0.893 against RF's 0.839, with lower standard deviation — 0.215 versus 0.254 — suggesting more consistent cross-country performance.
Japan is the notable outlier: both models are near-random at 0.138 and 0.069. Asset-deflation crisis dynamics in Japan are poorly represented in a cross-country training distribution dominated by credit-cycle crises. This is consistent with the crisis heterogeneity argument.
On the right — Stage 2 AUPRC. The critical comparison: EBM macro-only achieves 0.532. M3 with FinBERT sentiment achieves 0.411. The interpretable macro-only model outperforms the sentiment-augmented one. This directly answers the sentiment question — the algorithm effect is at least as large as the sentiment signal, if not larger."
Timing: 60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8 [06:45–07:30]
"Two results on this slide. On the left — SHAP attribution for M3, decomposed by lag group. Macro features account for 73.8 percent of total attribution. Sentiment contributes 26.2 percent within the GFC episode. The pie chart shows the breakdown.
On the right — EBM's native feature importance. Term_spread_lag3 leads by a substantial margin at 1.717. The top five features are all macro: term spread at all three lags, house price growth, and the credit slope. No sentiment feature appears in the top 20.
The key finding is convergence: two completely independent methods — SHAP on M3 and EBM native importance on M2.5 — both identify term_spread_lag3 as the dominant feature. This is methodological triangulation. But as I note in the dissertation, this agreement reflects shared sample-specific correlation within the 2007 GFC episode, not causal invariance across regimes.
On calibration: EBM achieves the best Expected Calibration Error — 0.084 — without post-hoc isotonic calibration, which M3 uses. The ensemble achieves the best Brier Score overall."
Timing: 45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9 [07:30–08:15]
"This is an exploratory, post-hoc analysis — stated explicitly in Section 4.10.3. But it reveals something important about what the model is actually doing.
In the 2007 cross-section, I classify each country's position by crisis type using the JST chronology: Fundamental credit-boom crises, Contagion-driven crises, and countries with no systemic event. The mean E1-EBM probability for fundamental crises is 0.695. For contagion: 0.395. For no crisis: 0.325.
The ordering makes intuitive sense. A model trained on domestic macro credit-cycle precursors — credit growth, term spreads, house prices — correctly assigns higher risk to countries where those precursors are elevated. It underperforms on contagion-driven cases because cross-border transmission channels are absent from the feature set.
This is not a new finding — it is a characterisation of scope. But it identifies exactly what the model would need to improve: network contagion features capturing bilateral bank exposures, following Cetorelli and Goldberg."
Timing: 45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10 [08:15–09:15]
"Three hypotheses, four conclusions.
H1: directionally supported — M3 AUPRC 0.411 exceeds M2-matched 0.343. But the CI spans zero, and the algorithm effect is at least as large as the sentiment signal.
H2: not supported in strict formulation. No sentiment feature in the top 20 EBM native importance.
H3: supported and refined. The trade-off is not binary. EBM leads in-sample but fails prospectively. The representational flexibility that enables shape function interpretability is the same mechanism that produces regime-specific overfitting. This is not a frontier you navigate — it is a unified structural explanation.
Four conclusions follow. More data does not fix the problem. Interpretability does not confer robustness. EBM makes the failure mechanism directly visible — which is the novel methodological contribution. And sentiment is directional but unstable.
These four conclusions form a single structural argument: ML-based EWS failure is not a function of model choice, feature design, or data quantity. It is structural instability in the mapping between predictors and crisis outcomes across regimes."
Timing: 60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11 [09:15–10:00]
"Four practical implications, stated with appropriate caution given the evaluation constraints throughout.
One: prospective validation must be mandatory. Expanding-window metrics systematically overstate performance. Any model that fails strict temporal validation must not be characterised as useful without explicit disclosure — this is a model risk governance requirement.
Two: EBM should be adopted for its diagnostic value, not claimed as a prospective performance leader. Its shape functions tell a regulator when the model's learned mapping has shifted — information that SHAP on a black-box model cannot provide cleanly.
Three: the ensemble's primary value is calibration. Brier Score 0.056 is the best of any configuration. Use equal-weighted averaging when the priority is probability calibration for threshold-setting — but accept the AUPRC cost.
Four: sentiment augmentation requires multi-episode validation. The current evidence is interesting and worth pursuing — but not ready for operational deployment.
Close with this sentence — memorise it, do not read it:
'The central limitation of EWS is the absence of a stable mapping between predictors and crisis outcomes across regimes. ML makes this visible; it cannot resolve it.'
Thank you."
Timing: 45 seconds. Deliver the closing sentence without looking at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B — For reference if examiner asks about regime-conditional modelling.
Appendix B reports a proof-of-concept EBM regime-conditional prototype (NB11). Key results:
EBM-Pooled prospective AUROC: 0.410 — below random, confirming the binding constraint.
EBM-R1 (Pre-GFC regime only): AUROC 0.410, still below random, with 6 training positives.
EBM-R2 (GFC regime): AUROC 0.392, but with only 2 training positives — completely unreliable.
The feature hierarchy shifts between regimes: the pooled model is dominated by term spread at all lags; the pre-GFC regime model is dominated by CPI lags and debt-to-GDP — consistent with different crisis transmission mechanisms across regimes.
The conclusion from Appendix B: regime-conditional modelling is methodologically feasible and conceptually well-motivated. It cannot be implemented in a validated way within the current dataset because there are too few crisis episodes per regime. The 0.75 AUROC falsifiability criterion (from Beutel et al.) is not met by any regime-conditional specification — making Appendix B an honest account of both the promise and the constraints of this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Q&amp;A FULL ANSWERS — 5-minute window
════════════════════════════════════
Q1: "Split B has only 6 training positives. How can you draw meaningful conclusions?"
ANSWER (60 seconds): Acknowledge it directly — stated explicitly in Section 4.5.1. Split B with 6 training positives cannot deliver statistically reliable AUROC estimates. The result is diagnostic and exploratory, not confirmatory. However, the shape function analysis in Section 4.7.3 is entirely independent of Split B — it is estimated from the full pre-GFC and GFC-inclusive panels, not from the Split B test window. The two findings — the AUROC collapse and the shape function sign reversal — converge on the same structural explanation from different analytical angles. I am not claiming Split B proves regime-specific overfitting. I am claiming it is consistent with the regime instability the shape functions demonstrate directly.
════════════════════════════════════
Q2: "EBM AUROC 0.333 could reflect sample thinness rather than regime shift. How do you distinguish between these two explanations?"
ANSWER (60 seconds): You cannot fully distinguish them from a single split — this is acknowledged in the dissertation. However, three pieces of converging evidence point toward regime shift rather than pure sample thinness. First: RF also has 6 training positives in Split B yet achieves 0.481 — above chance — while EBM falls to 0.333. If sample thinness were the sole driver, both models should fail similarly. The differential collapse is consistent with EBM's higher representational flexibility encoding the pre-GFC crisis signature more aggressively. Second: the shape function analysis is independent of Split B and shows genuine non-stationarity. Third: Split A shows EBM meeting the 0.75 benchmark, which would be unlikely under pure sample thinness alone. The evidence is consistent with regime shift as the primary explanation.
════════════════════════════════════
Q3: "You cannot separate the sentiment signal from the algorithm effect in Stage 2. Does H1 have any validity?"
ANSWER (45 seconds): This is the dissertation's own criticism of H1, stated explicitly in Section 4.2 and the hypothesis assessment table. The M3 vs M2-matched comparison confounds algorithm, regularisation, and feature set simultaneously. This is precisely why EBM was introduced as M2.5 — holding features constant at 41 macro variables while varying the algorithm. The result: EBM macro-only AUPRC 0.532 versus M3 macro-plus-sentiment 0.411. The interpretable macro-only model outperforms the sentiment-augmented one. H1 is therefore characterised as directional evidence only, explicitly not confirmatory.
════════════════════════════════════
Q4: "Stage 2 AUROC figures of 0.93–0.96 inflate due to GFC concentration. Are they informative at all?"
ANSWER (45 seconds): Yes — but only as in-crisis discrimination measures within the 2007 GFC cross-section, which is stated from Section 4.1 onward and repeated at every result table. Stage 2 answers: how well does each model rank 18 countries by crisis probability in 2007? That is a meaningful question, even if it is not a generalisation claim. The dissertation explicitly labels all Stage 2 metrics as upper bounds on prospective performance. The more important numbers are the strict temporal validation figures and the Stage 1 multi-episode AUROC where EBM achieves 0.753 on 37 events across 1988–2020.
════════════════════════════════════
Q5: "Why not use a regime-switching model directly to address non-stationarity rather than documenting that a static model fails?"
ANSWER (60 seconds): Appendix B answers this directly. A proof-of-concept regime-conditional EBM prototype was implemented. EBM-R1 on pre-GFC data achieves AUROC 0.410 — below random — because there are too few crisis positives per regime to estimate stable parameters. EBM-R2 in the GFC regime has only 2 training positives — completely unreliable. The statistical constraint binds immediately. The dissertation's contribution is not to solve non-stationarity — it is to characterise the failure mechanism precisely enough that future solutions can be designed with correct targets. Regime-conditional modelling is identified as the most important future extension, conditional on richer crisis episode data.
════════════════════════════════════
Q6: "SHAP already shows feature importance variation across time. What does EBM add that SHAP cannot provide?"
ANSWER (60 seconds): SHAP on Random Forest or XGBoost produces approximate attributions. When the evaluation distribution shifts across training windows, SHAP attributions can change for two distinct reasons: the model genuinely learned a different feature-risk relationship, or the approximation behaved differently under the new distribution. These two explanations are indistinguishable in SHAP output. EBM shape functions have no approximation step — they are the model's exact fitted parameters. Any change across training windows reflects a genuine change in the model's learned mapping. This is what allows the shape function evidence to constitute direct evidence about the data-generating process rather than about the attribution tool. That distinction is the entire basis for Section 6.2.3's claim that EBM makes the failure mechanism visible rather than merely documenting performance collapse.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chart" Target="/ppt/charts/chart5.xml"/><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chart" Target="/ppt/charts/chart7.xml"/><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chart" Target="/ppt/charts/chart9.xml"/><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0.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3E"/>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8A020"/>
          </a:solidFill>
          <a:ln w="12700">
            <a:solidFill>
              <a:srgbClr val="E8A020"/>
            </a:solidFill>
            <a:prstDash val="solid"/>
          </a:ln>
        </p:spPr>
      </p:sp>
      <p:sp>
        <p:nvSpPr>
          <p:cNvPr id="3" name="Text 1"/>
          <p:cNvSpPr/>
          <p:nvPr/>
        </p:nvSpPr>
        <p:spPr>
          <a:xfrm>
            <a:off x="274320" y="457200"/>
            <a:ext cx="8412480" cy="1097280"/>
          </a:xfrm>
          <a:prstGeom prst="rect">
            <a:avLst/>
          </a:prstGeom>
          <a:noFill/>
          <a:ln/>
        </p:spPr>
        <p:txBody>
          <a:bodyPr wrap="square" lIns="0" tIns="0" rIns="0" bIns="0" rtlCol="0" anchor="ctr"/>
          <a:lstStyle/>
          <a:p>
            <a:pPr algn="l" indent="0" marL="0">
              <a:buNone/>
            </a:pPr>
            <a:r>
              <a:rPr lang="en-US" sz="3400" b="1" dirty="0">
                <a:solidFill>
                  <a:srgbClr val="FFFFFF"/>
                </a:solidFill>
                <a:latin typeface="Calibri" pitchFamily="34" charset="0"/>
                <a:ea typeface="Calibri" pitchFamily="34" charset="-122"/>
                <a:cs typeface="Calibri" pitchFamily="34" charset="-120"/>
              </a:rPr>
              <a:t>Early Warning Systems for Banking Crises</a:t>
            </a:r>
            <a:endParaRPr lang="en-US" sz="3400" dirty="0"/>
          </a:p>
        </p:txBody>
      </p:sp>
      <p:sp>
        <p:nvSpPr>
          <p:cNvPr id="4" name="Text 2"/>
          <p:cNvSpPr/>
          <p:nvPr/>
        </p:nvSpPr>
        <p:spPr>
          <a:xfrm>
            <a:off x="274320" y="1572768"/>
            <a:ext cx="8412480" cy="822960"/>
          </a:xfrm>
          <a:prstGeom prst="rect">
            <a:avLst/>
          </a:prstGeom>
          <a:noFill/>
          <a:ln/>
        </p:spPr>
        <p:txBody>
          <a:bodyPr wrap="square" lIns="0" tIns="0" rIns="0" bIns="0" rtlCol="0" anchor="ctr"/>
          <a:lstStyle/>
          <a:p>
            <a:pPr algn="l" indent="0" marL="0">
              <a:buNone/>
            </a:pPr>
            <a:r>
              <a:rPr lang="en-US" sz="1800" dirty="0">
                <a:solidFill>
                  <a:srgbClr val="CADCFC"/>
                </a:solidFill>
                <a:latin typeface="Calibri" pitchFamily="34" charset="0"/>
                <a:ea typeface="Calibri" pitchFamily="34" charset="-122"/>
                <a:cs typeface="Calibri" pitchFamily="34" charset="-120"/>
              </a:rPr>
              <a:t>Evaluating the Interpretability–Performance Trade-off</a:t>
            </a:r>
            <a:endParaRPr lang="en-US" sz="1800" dirty="0"/>
          </a:p>
          <a:p>
            <a:pPr algn="l" indent="0" marL="0">
              <a:buNone/>
            </a:pPr>
            <a:r>
              <a:rPr lang="en-US" sz="1800" dirty="0">
                <a:solidFill>
                  <a:srgbClr val="CADCFC"/>
                </a:solidFill>
                <a:latin typeface="Calibri" pitchFamily="34" charset="0"/>
                <a:ea typeface="Calibri" pitchFamily="34" charset="-122"/>
                <a:cs typeface="Calibri" pitchFamily="34" charset="-120"/>
              </a:rPr>
              <a:t>Under Structural Non-Stationarity</a:t>
            </a:r>
            <a:endParaRPr lang="en-US" sz="1800" dirty="0"/>
          </a:p>
        </p:txBody>
      </p:sp>
      <p:sp>
        <p:nvSpPr>
          <p:cNvPr id="5" name="Shape 3"/>
          <p:cNvSpPr/>
          <p:nvPr/>
        </p:nvSpPr>
        <p:spPr>
          <a:xfrm>
            <a:off x="274320" y="2487168"/>
            <a:ext cx="8412480" cy="0"/>
          </a:xfrm>
          <a:prstGeom prst="line">
            <a:avLst/>
          </a:prstGeom>
          <a:noFill/>
          <a:ln w="19050">
            <a:solidFill>
              <a:srgbClr val="E8A020"/>
            </a:solidFill>
            <a:prstDash val="solid"/>
          </a:ln>
        </p:spPr>
      </p:sp>
      <p:sp>
        <p:nvSpPr>
          <p:cNvPr id="6" name="Text 4"/>
          <p:cNvSpPr/>
          <p:nvPr/>
        </p:nvSpPr>
        <p:spPr>
          <a:xfrm>
            <a:off x="274320" y="2633472"/>
            <a:ext cx="6858000" cy="1097280"/>
          </a:xfrm>
          <a:prstGeom prst="rect">
            <a:avLst/>
          </a:prstGeom>
          <a:noFill/>
          <a:ln/>
        </p:spPr>
        <p:txBody>
          <a:bodyPr wrap="square" lIns="0" tIns="0" rIns="0" bIns="0" rtlCol="0" anchor="ctr"/>
          <a:lstStyle/>
          <a:p>
            <a:pPr algn="l" indent="0" marL="0">
              <a:buNone/>
            </a:pPr>
            <a:r>
              <a:rPr lang="en-US" sz="1400" b="1" dirty="0">
                <a:solidFill>
                  <a:srgbClr val="CADCFC"/>
                </a:solidFill>
                <a:latin typeface="Calibri" pitchFamily="34" charset="0"/>
                <a:ea typeface="Calibri" pitchFamily="34" charset="-122"/>
                <a:cs typeface="Calibri" pitchFamily="34" charset="-120"/>
              </a:rPr>
              <a:t>Pavlos Papachristos  |  PP24589</a:t>
            </a:r>
            <a:endParaRPr lang="en-US" sz="1400" dirty="0"/>
          </a:p>
          <a:p>
            <a:pPr algn="l" indent="0" marL="0">
              <a:buNone/>
            </a:pPr>
            <a:r>
              <a:rPr lang="en-US" sz="1400" dirty="0">
                <a:solidFill>
                  <a:srgbClr val="CADCFC"/>
                </a:solidFill>
                <a:latin typeface="Calibri" pitchFamily="34" charset="0"/>
                <a:ea typeface="Calibri" pitchFamily="34" charset="-122"/>
                <a:cs typeface="Calibri" pitchFamily="34" charset="-120"/>
              </a:rPr>
              <a:t>MSc Artificial Intelligence — University of Essex</a:t>
            </a:r>
            <a:endParaRPr lang="en-US" sz="1400" dirty="0"/>
          </a:p>
          <a:p>
            <a:pPr algn="l" indent="0" marL="0">
              <a:buNone/>
            </a:pPr>
            <a:r>
              <a:rPr lang="en-US" sz="1400" i="1" dirty="0">
                <a:solidFill>
                  <a:srgbClr val="CADCFC"/>
                </a:solidFill>
                <a:latin typeface="Calibri" pitchFamily="34" charset="0"/>
                <a:ea typeface="Calibri" pitchFamily="34" charset="-122"/>
                <a:cs typeface="Calibri" pitchFamily="34" charset="-120"/>
              </a:rPr>
              <a:t>MSc Computing Project</a:t>
            </a:r>
            <a:endParaRPr lang="en-US" sz="1400" dirty="0"/>
          </a:p>
        </p:txBody>
      </p:sp>
      <p:sp>
        <p:nvSpPr>
          <p:cNvPr id="7" name="Shape 5"/>
          <p:cNvSpPr/>
          <p:nvPr/>
        </p:nvSpPr>
        <p:spPr>
          <a:xfrm>
            <a:off x="7223760" y="2788920"/>
            <a:ext cx="1645920" cy="475488"/>
          </a:xfrm>
          <a:prstGeom prst="rect">
            <a:avLst/>
          </a:prstGeom>
          <a:solidFill>
            <a:srgbClr val="E8A020"/>
          </a:solidFill>
          <a:ln w="12700">
            <a:solidFill>
              <a:srgbClr val="E8A020"/>
            </a:solidFill>
            <a:prstDash val="solid"/>
          </a:ln>
          <a:effectLst>
            <a:outerShdw sx="100000" sy="100000" kx="0" ky="0" algn="bl" rotWithShape="0" blurRad="101600" dist="38100" dir="8100000">
              <a:srgbClr val="000000">
                <a:alpha val="13000"/>
              </a:srgbClr>
            </a:outerShdw>
          </a:effectLst>
        </p:spPr>
      </p:sp>
      <p:sp>
        <p:nvSpPr>
          <p:cNvPr id="8" name="Text 6"/>
          <p:cNvSpPr/>
          <p:nvPr/>
        </p:nvSpPr>
        <p:spPr>
          <a:xfrm>
            <a:off x="7223760" y="2788920"/>
            <a:ext cx="1645920" cy="475488"/>
          </a:xfrm>
          <a:prstGeom prst="rect">
            <a:avLst/>
          </a:prstGeom>
          <a:noFill/>
          <a:ln/>
        </p:spPr>
        <p:txBody>
          <a:bodyPr wrap="square" lIns="0" tIns="0" rIns="0" bIns="0" rtlCol="0" anchor="ctr"/>
          <a:lstStyle/>
          <a:p>
            <a:pPr algn="ctr" indent="0" marL="0">
              <a:buNone/>
            </a:pPr>
            <a:r>
              <a:rPr lang="en-US" sz="1000" b="1" dirty="0">
                <a:solidFill>
                  <a:srgbClr val="0D1B3E"/>
                </a:solidFill>
                <a:latin typeface="Calibri" pitchFamily="34" charset="0"/>
                <a:ea typeface="Calibri" pitchFamily="34" charset="-122"/>
                <a:cs typeface="Calibri" pitchFamily="34" charset="-120"/>
              </a:rPr>
              <a:t>10-min Presentation</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8A020"/>
          </a:solidFill>
          <a:ln w="12700">
            <a:solidFill>
              <a:srgbClr val="E8A020"/>
            </a:solidFill>
            <a:prstDash val="solid"/>
          </a:ln>
        </p:spPr>
      </p:sp>
      <p:sp>
        <p:nvSpPr>
          <p:cNvPr id="3" name="Text 1"/>
          <p:cNvSpPr/>
          <p:nvPr/>
        </p:nvSpPr>
        <p:spPr>
          <a:xfrm>
            <a:off x="256032" y="118872"/>
            <a:ext cx="8686800" cy="566928"/>
          </a:xfrm>
          <a:prstGeom prst="rect">
            <a:avLst/>
          </a:prstGeom>
          <a:noFill/>
          <a:ln/>
        </p:spPr>
        <p:txBody>
          <a:bodyPr wrap="square" lIns="0" tIns="0" rIns="0" bIns="0" rtlCol="0" anchor="ctr"/>
          <a:lstStyle/>
          <a:p>
            <a:pPr algn="l" indent="0" marL="0">
              <a:buNone/>
            </a:pPr>
            <a:r>
              <a:rPr lang="en-US" sz="2600" b="1" dirty="0">
                <a:solidFill>
                  <a:srgbClr val="0D1B3E"/>
                </a:solidFill>
                <a:latin typeface="Calibri" pitchFamily="34" charset="0"/>
                <a:ea typeface="Calibri" pitchFamily="34" charset="-122"/>
                <a:cs typeface="Calibri" pitchFamily="34" charset="-120"/>
              </a:rPr>
              <a:t>The Problem: A Known Failure, Unknown Mechanism</a:t>
            </a:r>
            <a:endParaRPr lang="en-US" sz="2600" dirty="0"/>
          </a:p>
        </p:txBody>
      </p:sp>
      <p:sp>
        <p:nvSpPr>
          <p:cNvPr id="4" name="Text 2"/>
          <p:cNvSpPr/>
          <p:nvPr/>
        </p:nvSpPr>
        <p:spPr>
          <a:xfrm>
            <a:off x="256032" y="685800"/>
            <a:ext cx="8686800" cy="274320"/>
          </a:xfrm>
          <a:prstGeom prst="rect">
            <a:avLst/>
          </a:prstGeom>
          <a:noFill/>
          <a:ln/>
        </p:spPr>
        <p:txBody>
          <a:bodyPr wrap="square" lIns="0" tIns="0" rIns="0" bIns="0" rtlCol="0" anchor="t"/>
          <a:lstStyle/>
          <a:p>
            <a:pPr algn="l" indent="0" marL="0">
              <a:buNone/>
            </a:pPr>
            <a:r>
              <a:rPr lang="en-US" sz="1200" i="1" dirty="0">
                <a:solidFill>
                  <a:srgbClr val="2E6DB4"/>
                </a:solidFill>
                <a:latin typeface="Calibri" pitchFamily="34" charset="0"/>
                <a:ea typeface="Calibri" pitchFamily="34" charset="-122"/>
                <a:cs typeface="Calibri" pitchFamily="34" charset="-120"/>
              </a:rPr>
              <a:t>What the literature established — and what was missing</a:t>
            </a:r>
            <a:endParaRPr lang="en-US" sz="1200" dirty="0"/>
          </a:p>
        </p:txBody>
      </p:sp>
      <p:sp>
        <p:nvSpPr>
          <p:cNvPr id="5" name="Shape 3"/>
          <p:cNvSpPr/>
          <p:nvPr/>
        </p:nvSpPr>
        <p:spPr>
          <a:xfrm>
            <a:off x="256032" y="987552"/>
            <a:ext cx="8686800" cy="0"/>
          </a:xfrm>
          <a:prstGeom prst="line">
            <a:avLst/>
          </a:prstGeom>
          <a:noFill/>
          <a:ln w="10160">
            <a:solidFill>
              <a:srgbClr val="D6E4F7"/>
            </a:solidFill>
            <a:prstDash val="solid"/>
          </a:ln>
        </p:spPr>
      </p:sp>
      <p:sp>
        <p:nvSpPr>
          <p:cNvPr id="6" name="Shape 4"/>
          <p:cNvSpPr/>
          <p:nvPr/>
        </p:nvSpPr>
        <p:spPr>
          <a:xfrm>
            <a:off x="256032" y="1078992"/>
            <a:ext cx="4160520" cy="2286000"/>
          </a:xfrm>
          <a:prstGeom prst="rect">
            <a:avLst/>
          </a:prstGeom>
          <a:solidFill>
            <a:srgbClr val="F0F4F9"/>
          </a:solidFill>
          <a:ln w="19050">
            <a:solidFill>
              <a:srgbClr val="2E6DB4"/>
            </a:solidFill>
            <a:prstDash val="solid"/>
          </a:ln>
          <a:effectLst>
            <a:outerShdw sx="100000" sy="100000" kx="0" ky="0" algn="bl" rotWithShape="0" blurRad="101600" dist="38100" dir="8100000">
              <a:srgbClr val="000000">
                <a:alpha val="13000"/>
              </a:srgbClr>
            </a:outerShdw>
          </a:effectLst>
        </p:spPr>
      </p:sp>
      <p:sp>
        <p:nvSpPr>
          <p:cNvPr id="7" name="Shape 5"/>
          <p:cNvSpPr/>
          <p:nvPr/>
        </p:nvSpPr>
        <p:spPr>
          <a:xfrm>
            <a:off x="256032" y="1078992"/>
            <a:ext cx="4160520" cy="301752"/>
          </a:xfrm>
          <a:prstGeom prst="rect">
            <a:avLst/>
          </a:prstGeom>
          <a:solidFill>
            <a:srgbClr val="2E6DB4"/>
          </a:solidFill>
          <a:ln w="12700">
            <a:solidFill>
              <a:srgbClr val="2E6DB4"/>
            </a:solidFill>
            <a:prstDash val="solid"/>
          </a:ln>
        </p:spPr>
      </p:sp>
      <p:sp>
        <p:nvSpPr>
          <p:cNvPr id="8" name="Text 6"/>
          <p:cNvSpPr/>
          <p:nvPr/>
        </p:nvSpPr>
        <p:spPr>
          <a:xfrm>
            <a:off x="310896" y="1078992"/>
            <a:ext cx="4069080" cy="301752"/>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What the literature knew</a:t>
            </a:r>
            <a:endParaRPr lang="en-US" sz="1100" dirty="0"/>
          </a:p>
        </p:txBody>
      </p:sp>
      <p:sp>
        <p:nvSpPr>
          <p:cNvPr id="9" name="Text 7"/>
          <p:cNvSpPr/>
          <p:nvPr/>
        </p:nvSpPr>
        <p:spPr>
          <a:xfrm>
            <a:off x="347472" y="1408176"/>
            <a:ext cx="3995928" cy="1901952"/>
          </a:xfrm>
          <a:prstGeom prst="rect">
            <a:avLst/>
          </a:prstGeom>
          <a:noFill/>
          <a:ln/>
        </p:spPr>
        <p:txBody>
          <a:bodyPr wrap="square" lIns="25400" tIns="25400" rIns="25400" bIns="25400" rtlCol="0" anchor="t"/>
          <a:lstStyle/>
          <a:p>
            <a:pPr algn="l" indent="0" marL="0">
              <a:buNone/>
            </a:pPr>
            <a:r>
              <a:rPr lang="en-US" sz="1000" dirty="0">
                <a:solidFill>
                  <a:srgbClr val="2D3748"/>
                </a:solidFill>
                <a:latin typeface="Calibri" pitchFamily="34" charset="0"/>
                <a:ea typeface="Calibri" pitchFamily="34" charset="-122"/>
                <a:cs typeface="Calibri" pitchFamily="34" charset="-120"/>
              </a:rPr>
              <a:t>• ML (RF, XGBoost) outperforms logistic regression under expanding-window CV</a:t>
            </a:r>
            <a:endParaRPr lang="en-US" sz="1000" dirty="0"/>
          </a:p>
          <a:p>
            <a:pPr algn="l" indent="0" marL="0">
              <a:buNone/>
            </a:pPr>
            <a:r>
              <a:rPr lang="en-US" sz="1000" dirty="0">
                <a:solidFill>
                  <a:srgbClr val="2D3748"/>
                </a:solidFill>
                <a:latin typeface="Calibri" pitchFamily="34" charset="0"/>
                <a:ea typeface="Calibri" pitchFamily="34" charset="-122"/>
                <a:cs typeface="Calibri" pitchFamily="34" charset="-120"/>
              </a:rPr>
              <a:t>• Strict temporal validation: all models fall below AUROC 0.75 benchmark (Beutel et al., 2019)</a:t>
            </a:r>
            <a:endParaRPr lang="en-US" sz="1000" dirty="0"/>
          </a:p>
          <a:p>
            <a:pPr algn="l" indent="0" marL="0">
              <a:buNone/>
            </a:pPr>
            <a:r>
              <a:rPr lang="en-US" sz="1000" dirty="0">
                <a:solidFill>
                  <a:srgbClr val="2D3748"/>
                </a:solidFill>
                <a:latin typeface="Calibri" pitchFamily="34" charset="0"/>
                <a:ea typeface="Calibri" pitchFamily="34" charset="-122"/>
                <a:cs typeface="Calibri" pitchFamily="34" charset="-120"/>
              </a:rPr>
              <a:t>• Extending training data does not resolve failure</a:t>
            </a:r>
            <a:endParaRPr lang="en-US" sz="1000" dirty="0"/>
          </a:p>
          <a:p>
            <a:pPr algn="l" indent="0" marL="0">
              <a:buNone/>
            </a:pPr>
            <a:r>
              <a:rPr lang="en-US" sz="1000" dirty="0">
                <a:solidFill>
                  <a:srgbClr val="2D3748"/>
                </a:solidFill>
                <a:latin typeface="Calibri" pitchFamily="34" charset="0"/>
                <a:ea typeface="Calibri" pitchFamily="34" charset="-122"/>
                <a:cs typeface="Calibri" pitchFamily="34" charset="-120"/>
              </a:rPr>
              <a:t>• FinBERT sentiment provides directional signal</a:t>
            </a:r>
            <a:endParaRPr lang="en-US" sz="1000" dirty="0"/>
          </a:p>
        </p:txBody>
      </p:sp>
      <p:sp>
        <p:nvSpPr>
          <p:cNvPr id="10" name="Shape 8"/>
          <p:cNvSpPr/>
          <p:nvPr/>
        </p:nvSpPr>
        <p:spPr>
          <a:xfrm>
            <a:off x="4526280" y="1078992"/>
            <a:ext cx="4343400" cy="2286000"/>
          </a:xfrm>
          <a:prstGeom prst="rect">
            <a:avLst/>
          </a:prstGeom>
          <a:solidFill>
            <a:srgbClr val="F0F4F9"/>
          </a:solidFill>
          <a:ln w="19050">
            <a:solidFill>
              <a:srgbClr val="C0392B"/>
            </a:solidFill>
            <a:prstDash val="solid"/>
          </a:ln>
          <a:effectLst>
            <a:outerShdw sx="100000" sy="100000" kx="0" ky="0" algn="bl" rotWithShape="0" blurRad="101600" dist="38100" dir="8100000">
              <a:srgbClr val="000000">
                <a:alpha val="13000"/>
              </a:srgbClr>
            </a:outerShdw>
          </a:effectLst>
        </p:spPr>
      </p:sp>
      <p:sp>
        <p:nvSpPr>
          <p:cNvPr id="11" name="Shape 9"/>
          <p:cNvSpPr/>
          <p:nvPr/>
        </p:nvSpPr>
        <p:spPr>
          <a:xfrm>
            <a:off x="4526280" y="1078992"/>
            <a:ext cx="4343400" cy="301752"/>
          </a:xfrm>
          <a:prstGeom prst="rect">
            <a:avLst/>
          </a:prstGeom>
          <a:solidFill>
            <a:srgbClr val="C0392B"/>
          </a:solidFill>
          <a:ln w="12700">
            <a:solidFill>
              <a:srgbClr val="C0392B"/>
            </a:solidFill>
            <a:prstDash val="solid"/>
          </a:ln>
        </p:spPr>
      </p:sp>
      <p:sp>
        <p:nvSpPr>
          <p:cNvPr id="12" name="Text 10"/>
          <p:cNvSpPr/>
          <p:nvPr/>
        </p:nvSpPr>
        <p:spPr>
          <a:xfrm>
            <a:off x="4581144" y="1078992"/>
            <a:ext cx="4251960" cy="301752"/>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What was missing</a:t>
            </a:r>
            <a:endParaRPr lang="en-US" sz="1100" dirty="0"/>
          </a:p>
        </p:txBody>
      </p:sp>
      <p:sp>
        <p:nvSpPr>
          <p:cNvPr id="13" name="Text 11"/>
          <p:cNvSpPr/>
          <p:nvPr/>
        </p:nvSpPr>
        <p:spPr>
          <a:xfrm>
            <a:off x="4617720" y="1408176"/>
            <a:ext cx="4178808" cy="1901952"/>
          </a:xfrm>
          <a:prstGeom prst="rect">
            <a:avLst/>
          </a:prstGeom>
          <a:noFill/>
          <a:ln/>
        </p:spPr>
        <p:txBody>
          <a:bodyPr wrap="square" lIns="25400" tIns="25400" rIns="25400" bIns="25400" rtlCol="0" anchor="t"/>
          <a:lstStyle/>
          <a:p>
            <a:pPr algn="l" indent="0" marL="0">
              <a:buNone/>
            </a:pPr>
            <a:r>
              <a:rPr lang="en-US" sz="1000" dirty="0">
                <a:solidFill>
                  <a:srgbClr val="2D3748"/>
                </a:solidFill>
                <a:latin typeface="Calibri" pitchFamily="34" charset="0"/>
                <a:ea typeface="Calibri" pitchFamily="34" charset="-122"/>
                <a:cs typeface="Calibri" pitchFamily="34" charset="-120"/>
              </a:rPr>
              <a:t>• No mechanism-level explanation of why failure occurs</a:t>
            </a:r>
            <a:endParaRPr lang="en-US" sz="1000" dirty="0"/>
          </a:p>
          <a:p>
            <a:pPr algn="l" indent="0" marL="0">
              <a:buNone/>
            </a:pPr>
            <a:r>
              <a:rPr lang="en-US" sz="1000" dirty="0">
                <a:solidFill>
                  <a:srgbClr val="2D3748"/>
                </a:solidFill>
                <a:latin typeface="Calibri" pitchFamily="34" charset="0"/>
                <a:ea typeface="Calibri" pitchFamily="34" charset="-122"/>
                <a:cs typeface="Calibri" pitchFamily="34" charset="-120"/>
              </a:rPr>
              <a:t>• No test: are interpretable models more or less vulnerable?</a:t>
            </a:r>
            <a:endParaRPr lang="en-US" sz="1000" dirty="0"/>
          </a:p>
          <a:p>
            <a:pPr algn="l" indent="0" marL="0">
              <a:buNone/>
            </a:pPr>
            <a:r>
              <a:rPr lang="en-US" sz="1000" dirty="0">
                <a:solidFill>
                  <a:srgbClr val="2D3748"/>
                </a:solidFill>
                <a:latin typeface="Calibri" pitchFamily="34" charset="0"/>
                <a:ea typeface="Calibri" pitchFamily="34" charset="-122"/>
                <a:cs typeface="Calibri" pitchFamily="34" charset="-120"/>
              </a:rPr>
              <a:t>• No clean separation of algorithm vs. sentiment effect</a:t>
            </a:r>
            <a:endParaRPr lang="en-US" sz="1000" dirty="0"/>
          </a:p>
          <a:p>
            <a:pPr algn="l" indent="0" marL="0">
              <a:buNone/>
            </a:pPr>
            <a:r>
              <a:rPr lang="en-US" sz="1000" dirty="0">
                <a:solidFill>
                  <a:srgbClr val="2D3748"/>
                </a:solidFill>
                <a:latin typeface="Calibri" pitchFamily="34" charset="0"/>
                <a:ea typeface="Calibri" pitchFamily="34" charset="-122"/>
                <a:cs typeface="Calibri" pitchFamily="34" charset="-120"/>
              </a:rPr>
              <a:t>• SHAP is approximate — cannot distinguish model error from attribution error</a:t>
            </a:r>
            <a:endParaRPr lang="en-US" sz="1000" dirty="0"/>
          </a:p>
        </p:txBody>
      </p:sp>
      <p:graphicFrame>
        <p:nvGraphicFramePr>
          <p:cNvPr id="14" name="Chart 0" descr=""/>
          <p:cNvGraphicFramePr/>
          <p:nvPr/>
        </p:nvGraphicFramePr>
        <p:xfrm>
          <a:off x="256032" y="3474720"/>
          <a:ext cx="8686800" cy="150876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8A020"/>
          </a:solidFill>
          <a:ln w="12700">
            <a:solidFill>
              <a:srgbClr val="E8A020"/>
            </a:solidFill>
            <a:prstDash val="solid"/>
          </a:ln>
        </p:spPr>
      </p:sp>
      <p:sp>
        <p:nvSpPr>
          <p:cNvPr id="3" name="Text 1"/>
          <p:cNvSpPr/>
          <p:nvPr/>
        </p:nvSpPr>
        <p:spPr>
          <a:xfrm>
            <a:off x="256032" y="118872"/>
            <a:ext cx="8686800" cy="566928"/>
          </a:xfrm>
          <a:prstGeom prst="rect">
            <a:avLst/>
          </a:prstGeom>
          <a:noFill/>
          <a:ln/>
        </p:spPr>
        <p:txBody>
          <a:bodyPr wrap="square" lIns="0" tIns="0" rIns="0" bIns="0" rtlCol="0" anchor="ctr"/>
          <a:lstStyle/>
          <a:p>
            <a:pPr algn="l" indent="0" marL="0">
              <a:buNone/>
            </a:pPr>
            <a:r>
              <a:rPr lang="en-US" sz="2600" b="1" dirty="0">
                <a:solidFill>
                  <a:srgbClr val="0D1B3E"/>
                </a:solidFill>
                <a:latin typeface="Calibri" pitchFamily="34" charset="0"/>
                <a:ea typeface="Calibri" pitchFamily="34" charset="-122"/>
                <a:cs typeface="Calibri" pitchFamily="34" charset="-120"/>
              </a:rPr>
              <a:t>Data, Design and Model Sequence</a:t>
            </a:r>
            <a:endParaRPr lang="en-US" sz="2600" dirty="0"/>
          </a:p>
        </p:txBody>
      </p:sp>
      <p:sp>
        <p:nvSpPr>
          <p:cNvPr id="4" name="Text 2"/>
          <p:cNvSpPr/>
          <p:nvPr/>
        </p:nvSpPr>
        <p:spPr>
          <a:xfrm>
            <a:off x="256032" y="685800"/>
            <a:ext cx="8686800" cy="274320"/>
          </a:xfrm>
          <a:prstGeom prst="rect">
            <a:avLst/>
          </a:prstGeom>
          <a:noFill/>
          <a:ln/>
        </p:spPr>
        <p:txBody>
          <a:bodyPr wrap="square" lIns="0" tIns="0" rIns="0" bIns="0" rtlCol="0" anchor="t"/>
          <a:lstStyle/>
          <a:p>
            <a:pPr algn="l" indent="0" marL="0">
              <a:buNone/>
            </a:pPr>
            <a:r>
              <a:rPr lang="en-US" sz="1200" i="1" dirty="0">
                <a:solidFill>
                  <a:srgbClr val="2E6DB4"/>
                </a:solidFill>
                <a:latin typeface="Calibri" pitchFamily="34" charset="0"/>
                <a:ea typeface="Calibri" pitchFamily="34" charset="-122"/>
                <a:cs typeface="Calibri" pitchFamily="34" charset="-120"/>
              </a:rPr>
              <a:t>JST Macrohistory R6 · 18 economies · 1985–2020</a:t>
            </a:r>
            <a:endParaRPr lang="en-US" sz="1200" dirty="0"/>
          </a:p>
        </p:txBody>
      </p:sp>
      <p:sp>
        <p:nvSpPr>
          <p:cNvPr id="5" name="Shape 3"/>
          <p:cNvSpPr/>
          <p:nvPr/>
        </p:nvSpPr>
        <p:spPr>
          <a:xfrm>
            <a:off x="256032" y="987552"/>
            <a:ext cx="8686800" cy="0"/>
          </a:xfrm>
          <a:prstGeom prst="line">
            <a:avLst/>
          </a:prstGeom>
          <a:noFill/>
          <a:ln w="10160">
            <a:solidFill>
              <a:srgbClr val="D6E4F7"/>
            </a:solidFill>
            <a:prstDash val="solid"/>
          </a:ln>
        </p:spPr>
      </p:sp>
      <p:sp>
        <p:nvSpPr>
          <p:cNvPr id="6" name="Shape 4"/>
          <p:cNvSpPr/>
          <p:nvPr/>
        </p:nvSpPr>
        <p:spPr>
          <a:xfrm>
            <a:off x="256032" y="1078992"/>
            <a:ext cx="1664208" cy="960120"/>
          </a:xfrm>
          <a:prstGeom prst="rect">
            <a:avLst/>
          </a:prstGeom>
          <a:solidFill>
            <a:srgbClr val="F0F4F9"/>
          </a:solidFill>
          <a:ln w="12700">
            <a:solidFill>
              <a:srgbClr val="D6E4F7"/>
            </a:solidFill>
            <a:prstDash val="solid"/>
          </a:ln>
          <a:effectLst>
            <a:outerShdw sx="100000" sy="100000" kx="0" ky="0" algn="bl" rotWithShape="0" blurRad="101600" dist="38100" dir="8100000">
              <a:srgbClr val="000000">
                <a:alpha val="13000"/>
              </a:srgbClr>
            </a:outerShdw>
          </a:effectLst>
        </p:spPr>
      </p:sp>
      <p:sp>
        <p:nvSpPr>
          <p:cNvPr id="7" name="Shape 5"/>
          <p:cNvSpPr/>
          <p:nvPr/>
        </p:nvSpPr>
        <p:spPr>
          <a:xfrm>
            <a:off x="256032" y="1078992"/>
            <a:ext cx="1664208" cy="118872"/>
          </a:xfrm>
          <a:prstGeom prst="rect">
            <a:avLst/>
          </a:prstGeom>
          <a:solidFill>
            <a:srgbClr val="2E6DB4"/>
          </a:solidFill>
          <a:ln w="12700">
            <a:solidFill>
              <a:srgbClr val="2E6DB4"/>
            </a:solidFill>
            <a:prstDash val="solid"/>
          </a:ln>
        </p:spPr>
      </p:sp>
      <p:sp>
        <p:nvSpPr>
          <p:cNvPr id="8" name="Text 6"/>
          <p:cNvSpPr/>
          <p:nvPr/>
        </p:nvSpPr>
        <p:spPr>
          <a:xfrm>
            <a:off x="256032" y="1170432"/>
            <a:ext cx="1664208" cy="502920"/>
          </a:xfrm>
          <a:prstGeom prst="rect">
            <a:avLst/>
          </a:prstGeom>
          <a:noFill/>
          <a:ln/>
        </p:spPr>
        <p:txBody>
          <a:bodyPr wrap="square" lIns="0" tIns="0" rIns="0" bIns="0" rtlCol="0" anchor="ctr"/>
          <a:lstStyle/>
          <a:p>
            <a:pPr algn="ctr" indent="0" marL="0">
              <a:buNone/>
            </a:pPr>
            <a:r>
              <a:rPr lang="en-US" sz="2400" b="1" dirty="0">
                <a:solidFill>
                  <a:srgbClr val="0D1B3E"/>
                </a:solidFill>
                <a:latin typeface="Calibri" pitchFamily="34" charset="0"/>
                <a:ea typeface="Calibri" pitchFamily="34" charset="-122"/>
                <a:cs typeface="Calibri" pitchFamily="34" charset="-120"/>
              </a:rPr>
              <a:t>569</a:t>
            </a:r>
            <a:endParaRPr lang="en-US" sz="2400" dirty="0"/>
          </a:p>
        </p:txBody>
      </p:sp>
      <p:sp>
        <p:nvSpPr>
          <p:cNvPr id="9" name="Text 7"/>
          <p:cNvSpPr/>
          <p:nvPr/>
        </p:nvSpPr>
        <p:spPr>
          <a:xfrm>
            <a:off x="256032" y="1645920"/>
            <a:ext cx="1664208" cy="347472"/>
          </a:xfrm>
          <a:prstGeom prst="rect">
            <a:avLst/>
          </a:prstGeom>
          <a:noFill/>
          <a:ln/>
        </p:spPr>
        <p:txBody>
          <a:bodyPr wrap="square" lIns="0" tIns="0" rIns="0" bIns="0" rtlCol="0" anchor="ctr"/>
          <a:lstStyle/>
          <a:p>
            <a:pPr algn="ctr" indent="0" marL="0">
              <a:buNone/>
            </a:pPr>
            <a:r>
              <a:rPr lang="en-US" sz="950" dirty="0">
                <a:solidFill>
                  <a:srgbClr val="64748B"/>
                </a:solidFill>
                <a:latin typeface="Calibri" pitchFamily="34" charset="0"/>
                <a:ea typeface="Calibri" pitchFamily="34" charset="-122"/>
                <a:cs typeface="Calibri" pitchFamily="34" charset="-120"/>
              </a:rPr>
              <a:t>country-year obs.</a:t>
            </a:r>
            <a:endParaRPr lang="en-US" sz="950" dirty="0"/>
          </a:p>
          <a:p>
            <a:pPr algn="ctr" indent="0" marL="0">
              <a:buNone/>
            </a:pPr>
            <a:r>
              <a:rPr lang="en-US" sz="950" dirty="0">
                <a:solidFill>
                  <a:srgbClr val="64748B"/>
                </a:solidFill>
                <a:latin typeface="Calibri" pitchFamily="34" charset="0"/>
                <a:ea typeface="Calibri" pitchFamily="34" charset="-122"/>
                <a:cs typeface="Calibri" pitchFamily="34" charset="-120"/>
              </a:rPr>
              <a:t>1988–2020</a:t>
            </a:r>
            <a:endParaRPr lang="en-US" sz="950" dirty="0"/>
          </a:p>
        </p:txBody>
      </p:sp>
      <p:sp>
        <p:nvSpPr>
          <p:cNvPr id="10" name="Shape 8"/>
          <p:cNvSpPr/>
          <p:nvPr/>
        </p:nvSpPr>
        <p:spPr>
          <a:xfrm>
            <a:off x="1975104" y="1078992"/>
            <a:ext cx="1664208" cy="960120"/>
          </a:xfrm>
          <a:prstGeom prst="rect">
            <a:avLst/>
          </a:prstGeom>
          <a:solidFill>
            <a:srgbClr val="F0F4F9"/>
          </a:solidFill>
          <a:ln w="12700">
            <a:solidFill>
              <a:srgbClr val="D6E4F7"/>
            </a:solidFill>
            <a:prstDash val="solid"/>
          </a:ln>
          <a:effectLst>
            <a:outerShdw sx="100000" sy="100000" kx="0" ky="0" algn="bl" rotWithShape="0" blurRad="101600" dist="38100" dir="8100000">
              <a:srgbClr val="000000">
                <a:alpha val="13000"/>
              </a:srgbClr>
            </a:outerShdw>
          </a:effectLst>
        </p:spPr>
      </p:sp>
      <p:sp>
        <p:nvSpPr>
          <p:cNvPr id="11" name="Shape 9"/>
          <p:cNvSpPr/>
          <p:nvPr/>
        </p:nvSpPr>
        <p:spPr>
          <a:xfrm>
            <a:off x="1975104" y="1078992"/>
            <a:ext cx="1664208" cy="118872"/>
          </a:xfrm>
          <a:prstGeom prst="rect">
            <a:avLst/>
          </a:prstGeom>
          <a:solidFill>
            <a:srgbClr val="E8A020"/>
          </a:solidFill>
          <a:ln w="12700">
            <a:solidFill>
              <a:srgbClr val="E8A020"/>
            </a:solidFill>
            <a:prstDash val="solid"/>
          </a:ln>
        </p:spPr>
      </p:sp>
      <p:sp>
        <p:nvSpPr>
          <p:cNvPr id="12" name="Text 10"/>
          <p:cNvSpPr/>
          <p:nvPr/>
        </p:nvSpPr>
        <p:spPr>
          <a:xfrm>
            <a:off x="1975104" y="1170432"/>
            <a:ext cx="1664208" cy="502920"/>
          </a:xfrm>
          <a:prstGeom prst="rect">
            <a:avLst/>
          </a:prstGeom>
          <a:noFill/>
          <a:ln/>
        </p:spPr>
        <p:txBody>
          <a:bodyPr wrap="square" lIns="0" tIns="0" rIns="0" bIns="0" rtlCol="0" anchor="ctr"/>
          <a:lstStyle/>
          <a:p>
            <a:pPr algn="ctr" indent="0" marL="0">
              <a:buNone/>
            </a:pPr>
            <a:r>
              <a:rPr lang="en-US" sz="2400" b="1" dirty="0">
                <a:solidFill>
                  <a:srgbClr val="0D1B3E"/>
                </a:solidFill>
                <a:latin typeface="Calibri" pitchFamily="34" charset="0"/>
                <a:ea typeface="Calibri" pitchFamily="34" charset="-122"/>
                <a:cs typeface="Calibri" pitchFamily="34" charset="-120"/>
              </a:rPr>
              <a:t>37</a:t>
            </a:r>
            <a:endParaRPr lang="en-US" sz="2400" dirty="0"/>
          </a:p>
        </p:txBody>
      </p:sp>
      <p:sp>
        <p:nvSpPr>
          <p:cNvPr id="13" name="Text 11"/>
          <p:cNvSpPr/>
          <p:nvPr/>
        </p:nvSpPr>
        <p:spPr>
          <a:xfrm>
            <a:off x="1975104" y="1645920"/>
            <a:ext cx="1664208" cy="347472"/>
          </a:xfrm>
          <a:prstGeom prst="rect">
            <a:avLst/>
          </a:prstGeom>
          <a:noFill/>
          <a:ln/>
        </p:spPr>
        <p:txBody>
          <a:bodyPr wrap="square" lIns="0" tIns="0" rIns="0" bIns="0" rtlCol="0" anchor="ctr"/>
          <a:lstStyle/>
          <a:p>
            <a:pPr algn="ctr" indent="0" marL="0">
              <a:buNone/>
            </a:pPr>
            <a:r>
              <a:rPr lang="en-US" sz="950" dirty="0">
                <a:solidFill>
                  <a:srgbClr val="64748B"/>
                </a:solidFill>
                <a:latin typeface="Calibri" pitchFamily="34" charset="0"/>
                <a:ea typeface="Calibri" pitchFamily="34" charset="-122"/>
                <a:cs typeface="Calibri" pitchFamily="34" charset="-120"/>
              </a:rPr>
              <a:t>Stage 1 crisis</a:t>
            </a:r>
            <a:endParaRPr lang="en-US" sz="950" dirty="0"/>
          </a:p>
          <a:p>
            <a:pPr algn="ctr" indent="0" marL="0">
              <a:buNone/>
            </a:pPr>
            <a:r>
              <a:rPr lang="en-US" sz="950" dirty="0">
                <a:solidFill>
                  <a:srgbClr val="64748B"/>
                </a:solidFill>
                <a:latin typeface="Calibri" pitchFamily="34" charset="0"/>
                <a:ea typeface="Calibri" pitchFamily="34" charset="-122"/>
                <a:cs typeface="Calibri" pitchFamily="34" charset="-120"/>
              </a:rPr>
              <a:t>events (6.5%)</a:t>
            </a:r>
            <a:endParaRPr lang="en-US" sz="950" dirty="0"/>
          </a:p>
        </p:txBody>
      </p:sp>
      <p:sp>
        <p:nvSpPr>
          <p:cNvPr id="14" name="Shape 12"/>
          <p:cNvSpPr/>
          <p:nvPr/>
        </p:nvSpPr>
        <p:spPr>
          <a:xfrm>
            <a:off x="3694176" y="1078992"/>
            <a:ext cx="1664208" cy="960120"/>
          </a:xfrm>
          <a:prstGeom prst="rect">
            <a:avLst/>
          </a:prstGeom>
          <a:solidFill>
            <a:srgbClr val="F0F4F9"/>
          </a:solidFill>
          <a:ln w="12700">
            <a:solidFill>
              <a:srgbClr val="D6E4F7"/>
            </a:solidFill>
            <a:prstDash val="solid"/>
          </a:ln>
          <a:effectLst>
            <a:outerShdw sx="100000" sy="100000" kx="0" ky="0" algn="bl" rotWithShape="0" blurRad="101600" dist="38100" dir="8100000">
              <a:srgbClr val="000000">
                <a:alpha val="13000"/>
              </a:srgbClr>
            </a:outerShdw>
          </a:effectLst>
        </p:spPr>
      </p:sp>
      <p:sp>
        <p:nvSpPr>
          <p:cNvPr id="15" name="Shape 13"/>
          <p:cNvSpPr/>
          <p:nvPr/>
        </p:nvSpPr>
        <p:spPr>
          <a:xfrm>
            <a:off x="3694176" y="1078992"/>
            <a:ext cx="1664208" cy="118872"/>
          </a:xfrm>
          <a:prstGeom prst="rect">
            <a:avLst/>
          </a:prstGeom>
          <a:solidFill>
            <a:srgbClr val="2E6DB4"/>
          </a:solidFill>
          <a:ln w="12700">
            <a:solidFill>
              <a:srgbClr val="2E6DB4"/>
            </a:solidFill>
            <a:prstDash val="solid"/>
          </a:ln>
        </p:spPr>
      </p:sp>
      <p:sp>
        <p:nvSpPr>
          <p:cNvPr id="16" name="Text 14"/>
          <p:cNvSpPr/>
          <p:nvPr/>
        </p:nvSpPr>
        <p:spPr>
          <a:xfrm>
            <a:off x="3694176" y="1170432"/>
            <a:ext cx="1664208" cy="502920"/>
          </a:xfrm>
          <a:prstGeom prst="rect">
            <a:avLst/>
          </a:prstGeom>
          <a:noFill/>
          <a:ln/>
        </p:spPr>
        <p:txBody>
          <a:bodyPr wrap="square" lIns="0" tIns="0" rIns="0" bIns="0" rtlCol="0" anchor="ctr"/>
          <a:lstStyle/>
          <a:p>
            <a:pPr algn="ctr" indent="0" marL="0">
              <a:buNone/>
            </a:pPr>
            <a:r>
              <a:rPr lang="en-US" sz="2400" b="1" dirty="0">
                <a:solidFill>
                  <a:srgbClr val="0D1B3E"/>
                </a:solidFill>
                <a:latin typeface="Calibri" pitchFamily="34" charset="0"/>
                <a:ea typeface="Calibri" pitchFamily="34" charset="-122"/>
                <a:cs typeface="Calibri" pitchFamily="34" charset="-120"/>
              </a:rPr>
              <a:t>26</a:t>
            </a:r>
            <a:endParaRPr lang="en-US" sz="2400" dirty="0"/>
          </a:p>
        </p:txBody>
      </p:sp>
      <p:sp>
        <p:nvSpPr>
          <p:cNvPr id="17" name="Text 15"/>
          <p:cNvSpPr/>
          <p:nvPr/>
        </p:nvSpPr>
        <p:spPr>
          <a:xfrm>
            <a:off x="3694176" y="1645920"/>
            <a:ext cx="1664208" cy="347472"/>
          </a:xfrm>
          <a:prstGeom prst="rect">
            <a:avLst/>
          </a:prstGeom>
          <a:noFill/>
          <a:ln/>
        </p:spPr>
        <p:txBody>
          <a:bodyPr wrap="square" lIns="0" tIns="0" rIns="0" bIns="0" rtlCol="0" anchor="ctr"/>
          <a:lstStyle/>
          <a:p>
            <a:pPr algn="ctr" indent="0" marL="0">
              <a:buNone/>
            </a:pPr>
            <a:r>
              <a:rPr lang="en-US" sz="950" dirty="0">
                <a:solidFill>
                  <a:srgbClr val="64748B"/>
                </a:solidFill>
                <a:latin typeface="Calibri" pitchFamily="34" charset="0"/>
                <a:ea typeface="Calibri" pitchFamily="34" charset="-122"/>
                <a:cs typeface="Calibri" pitchFamily="34" charset="-120"/>
              </a:rPr>
              <a:t>Stage 2 crisis</a:t>
            </a:r>
            <a:endParaRPr lang="en-US" sz="950" dirty="0"/>
          </a:p>
          <a:p>
            <a:pPr algn="ctr" indent="0" marL="0">
              <a:buNone/>
            </a:pPr>
            <a:r>
              <a:rPr lang="en-US" sz="950" dirty="0">
                <a:solidFill>
                  <a:srgbClr val="64748B"/>
                </a:solidFill>
                <a:latin typeface="Calibri" pitchFamily="34" charset="0"/>
                <a:ea typeface="Calibri" pitchFamily="34" charset="-122"/>
                <a:cs typeface="Calibri" pitchFamily="34" charset="-120"/>
              </a:rPr>
              <a:t>events (8.15%)</a:t>
            </a:r>
            <a:endParaRPr lang="en-US" sz="950" dirty="0"/>
          </a:p>
        </p:txBody>
      </p:sp>
      <p:sp>
        <p:nvSpPr>
          <p:cNvPr id="18" name="Shape 16"/>
          <p:cNvSpPr/>
          <p:nvPr/>
        </p:nvSpPr>
        <p:spPr>
          <a:xfrm>
            <a:off x="5413248" y="1078992"/>
            <a:ext cx="1664208" cy="960120"/>
          </a:xfrm>
          <a:prstGeom prst="rect">
            <a:avLst/>
          </a:prstGeom>
          <a:solidFill>
            <a:srgbClr val="F0F4F9"/>
          </a:solidFill>
          <a:ln w="12700">
            <a:solidFill>
              <a:srgbClr val="D6E4F7"/>
            </a:solidFill>
            <a:prstDash val="solid"/>
          </a:ln>
          <a:effectLst>
            <a:outerShdw sx="100000" sy="100000" kx="0" ky="0" algn="bl" rotWithShape="0" blurRad="101600" dist="38100" dir="8100000">
              <a:srgbClr val="000000">
                <a:alpha val="13000"/>
              </a:srgbClr>
            </a:outerShdw>
          </a:effectLst>
        </p:spPr>
      </p:sp>
      <p:sp>
        <p:nvSpPr>
          <p:cNvPr id="19" name="Shape 17"/>
          <p:cNvSpPr/>
          <p:nvPr/>
        </p:nvSpPr>
        <p:spPr>
          <a:xfrm>
            <a:off x="5413248" y="1078992"/>
            <a:ext cx="1664208" cy="118872"/>
          </a:xfrm>
          <a:prstGeom prst="rect">
            <a:avLst/>
          </a:prstGeom>
          <a:solidFill>
            <a:srgbClr val="E8A020"/>
          </a:solidFill>
          <a:ln w="12700">
            <a:solidFill>
              <a:srgbClr val="E8A020"/>
            </a:solidFill>
            <a:prstDash val="solid"/>
          </a:ln>
        </p:spPr>
      </p:sp>
      <p:sp>
        <p:nvSpPr>
          <p:cNvPr id="20" name="Text 18"/>
          <p:cNvSpPr/>
          <p:nvPr/>
        </p:nvSpPr>
        <p:spPr>
          <a:xfrm>
            <a:off x="5413248" y="1170432"/>
            <a:ext cx="1664208" cy="502920"/>
          </a:xfrm>
          <a:prstGeom prst="rect">
            <a:avLst/>
          </a:prstGeom>
          <a:noFill/>
          <a:ln/>
        </p:spPr>
        <p:txBody>
          <a:bodyPr wrap="square" lIns="0" tIns="0" rIns="0" bIns="0" rtlCol="0" anchor="ctr"/>
          <a:lstStyle/>
          <a:p>
            <a:pPr algn="ctr" indent="0" marL="0">
              <a:buNone/>
            </a:pPr>
            <a:r>
              <a:rPr lang="en-US" sz="2400" b="1" dirty="0">
                <a:solidFill>
                  <a:srgbClr val="0D1B3E"/>
                </a:solidFill>
                <a:latin typeface="Calibri" pitchFamily="34" charset="0"/>
                <a:ea typeface="Calibri" pitchFamily="34" charset="-122"/>
                <a:cs typeface="Calibri" pitchFamily="34" charset="-120"/>
              </a:rPr>
              <a:t>16,622</a:t>
            </a:r>
            <a:endParaRPr lang="en-US" sz="2400" dirty="0"/>
          </a:p>
        </p:txBody>
      </p:sp>
      <p:sp>
        <p:nvSpPr>
          <p:cNvPr id="21" name="Text 19"/>
          <p:cNvSpPr/>
          <p:nvPr/>
        </p:nvSpPr>
        <p:spPr>
          <a:xfrm>
            <a:off x="5413248" y="1645920"/>
            <a:ext cx="1664208" cy="347472"/>
          </a:xfrm>
          <a:prstGeom prst="rect">
            <a:avLst/>
          </a:prstGeom>
          <a:noFill/>
          <a:ln/>
        </p:spPr>
        <p:txBody>
          <a:bodyPr wrap="square" lIns="0" tIns="0" rIns="0" bIns="0" rtlCol="0" anchor="ctr"/>
          <a:lstStyle/>
          <a:p>
            <a:pPr algn="ctr" indent="0" marL="0">
              <a:buNone/>
            </a:pPr>
            <a:r>
              <a:rPr lang="en-US" sz="950" dirty="0">
                <a:solidFill>
                  <a:srgbClr val="64748B"/>
                </a:solidFill>
                <a:latin typeface="Calibri" pitchFamily="34" charset="0"/>
                <a:ea typeface="Calibri" pitchFamily="34" charset="-122"/>
                <a:cs typeface="Calibri" pitchFamily="34" charset="-120"/>
              </a:rPr>
              <a:t>BIS speeches</a:t>
            </a:r>
            <a:endParaRPr lang="en-US" sz="950" dirty="0"/>
          </a:p>
          <a:p>
            <a:pPr algn="ctr" indent="0" marL="0">
              <a:buNone/>
            </a:pPr>
            <a:r>
              <a:rPr lang="en-US" sz="950" dirty="0">
                <a:solidFill>
                  <a:srgbClr val="64748B"/>
                </a:solidFill>
                <a:latin typeface="Calibri" pitchFamily="34" charset="0"/>
                <a:ea typeface="Calibri" pitchFamily="34" charset="-122"/>
                <a:cs typeface="Calibri" pitchFamily="34" charset="-120"/>
              </a:rPr>
              <a:t>FinBERT processed</a:t>
            </a:r>
            <a:endParaRPr lang="en-US" sz="950" dirty="0"/>
          </a:p>
        </p:txBody>
      </p:sp>
      <p:sp>
        <p:nvSpPr>
          <p:cNvPr id="22" name="Shape 20"/>
          <p:cNvSpPr/>
          <p:nvPr/>
        </p:nvSpPr>
        <p:spPr>
          <a:xfrm>
            <a:off x="7132320" y="1078992"/>
            <a:ext cx="1572768" cy="960120"/>
          </a:xfrm>
          <a:prstGeom prst="rect">
            <a:avLst/>
          </a:prstGeom>
          <a:solidFill>
            <a:srgbClr val="F0F4F9"/>
          </a:solidFill>
          <a:ln w="12700">
            <a:solidFill>
              <a:srgbClr val="D6E4F7"/>
            </a:solidFill>
            <a:prstDash val="solid"/>
          </a:ln>
          <a:effectLst>
            <a:outerShdw sx="100000" sy="100000" kx="0" ky="0" algn="bl" rotWithShape="0" blurRad="101600" dist="38100" dir="8100000">
              <a:srgbClr val="000000">
                <a:alpha val="13000"/>
              </a:srgbClr>
            </a:outerShdw>
          </a:effectLst>
        </p:spPr>
      </p:sp>
      <p:sp>
        <p:nvSpPr>
          <p:cNvPr id="23" name="Shape 21"/>
          <p:cNvSpPr/>
          <p:nvPr/>
        </p:nvSpPr>
        <p:spPr>
          <a:xfrm>
            <a:off x="7132320" y="1078992"/>
            <a:ext cx="1572768" cy="118872"/>
          </a:xfrm>
          <a:prstGeom prst="rect">
            <a:avLst/>
          </a:prstGeom>
          <a:solidFill>
            <a:srgbClr val="2E6DB4"/>
          </a:solidFill>
          <a:ln w="12700">
            <a:solidFill>
              <a:srgbClr val="2E6DB4"/>
            </a:solidFill>
            <a:prstDash val="solid"/>
          </a:ln>
        </p:spPr>
      </p:sp>
      <p:sp>
        <p:nvSpPr>
          <p:cNvPr id="24" name="Text 22"/>
          <p:cNvSpPr/>
          <p:nvPr/>
        </p:nvSpPr>
        <p:spPr>
          <a:xfrm>
            <a:off x="7132320" y="1170432"/>
            <a:ext cx="1572768" cy="502920"/>
          </a:xfrm>
          <a:prstGeom prst="rect">
            <a:avLst/>
          </a:prstGeom>
          <a:noFill/>
          <a:ln/>
        </p:spPr>
        <p:txBody>
          <a:bodyPr wrap="square" lIns="0" tIns="0" rIns="0" bIns="0" rtlCol="0" anchor="ctr"/>
          <a:lstStyle/>
          <a:p>
            <a:pPr algn="ctr" indent="0" marL="0">
              <a:buNone/>
            </a:pPr>
            <a:r>
              <a:rPr lang="en-US" sz="2400" b="1" dirty="0">
                <a:solidFill>
                  <a:srgbClr val="0D1B3E"/>
                </a:solidFill>
                <a:latin typeface="Calibri" pitchFamily="34" charset="0"/>
                <a:ea typeface="Calibri" pitchFamily="34" charset="-122"/>
                <a:cs typeface="Calibri" pitchFamily="34" charset="-120"/>
              </a:rPr>
              <a:t>41+14</a:t>
            </a:r>
            <a:endParaRPr lang="en-US" sz="2400" dirty="0"/>
          </a:p>
        </p:txBody>
      </p:sp>
      <p:sp>
        <p:nvSpPr>
          <p:cNvPr id="25" name="Text 23"/>
          <p:cNvSpPr/>
          <p:nvPr/>
        </p:nvSpPr>
        <p:spPr>
          <a:xfrm>
            <a:off x="7132320" y="1645920"/>
            <a:ext cx="1572768" cy="347472"/>
          </a:xfrm>
          <a:prstGeom prst="rect">
            <a:avLst/>
          </a:prstGeom>
          <a:noFill/>
          <a:ln/>
        </p:spPr>
        <p:txBody>
          <a:bodyPr wrap="square" lIns="0" tIns="0" rIns="0" bIns="0" rtlCol="0" anchor="ctr"/>
          <a:lstStyle/>
          <a:p>
            <a:pPr algn="ctr" indent="0" marL="0">
              <a:buNone/>
            </a:pPr>
            <a:r>
              <a:rPr lang="en-US" sz="950" dirty="0">
                <a:solidFill>
                  <a:srgbClr val="64748B"/>
                </a:solidFill>
                <a:latin typeface="Calibri" pitchFamily="34" charset="0"/>
                <a:ea typeface="Calibri" pitchFamily="34" charset="-122"/>
                <a:cs typeface="Calibri" pitchFamily="34" charset="-120"/>
              </a:rPr>
              <a:t>macro + sentiment</a:t>
            </a:r>
            <a:endParaRPr lang="en-US" sz="950" dirty="0"/>
          </a:p>
          <a:p>
            <a:pPr algn="ctr" indent="0" marL="0">
              <a:buNone/>
            </a:pPr>
            <a:r>
              <a:rPr lang="en-US" sz="950" dirty="0">
                <a:solidFill>
                  <a:srgbClr val="64748B"/>
                </a:solidFill>
                <a:latin typeface="Calibri" pitchFamily="34" charset="0"/>
                <a:ea typeface="Calibri" pitchFamily="34" charset="-122"/>
                <a:cs typeface="Calibri" pitchFamily="34" charset="-120"/>
              </a:rPr>
              <a:t>features</a:t>
            </a:r>
            <a:endParaRPr lang="en-US" sz="950" dirty="0"/>
          </a:p>
        </p:txBody>
      </p:sp>
      <p:sp>
        <p:nvSpPr>
          <p:cNvPr id="26" name="Shape 24"/>
          <p:cNvSpPr/>
          <p:nvPr/>
        </p:nvSpPr>
        <p:spPr>
          <a:xfrm>
            <a:off x="256032" y="2212848"/>
            <a:ext cx="1993392" cy="2468880"/>
          </a:xfrm>
          <a:prstGeom prst="rect">
            <a:avLst/>
          </a:prstGeom>
          <a:solidFill>
            <a:srgbClr val="F0F4F9"/>
          </a:solidFill>
          <a:ln w="25400">
            <a:solidFill>
              <a:srgbClr val="2E6DB4"/>
            </a:solidFill>
            <a:prstDash val="solid"/>
          </a:ln>
          <a:effectLst>
            <a:outerShdw sx="100000" sy="100000" kx="0" ky="0" algn="bl" rotWithShape="0" blurRad="101600" dist="38100" dir="8100000">
              <a:srgbClr val="000000">
                <a:alpha val="13000"/>
              </a:srgbClr>
            </a:outerShdw>
          </a:effectLst>
        </p:spPr>
      </p:sp>
      <p:sp>
        <p:nvSpPr>
          <p:cNvPr id="27" name="Shape 25"/>
          <p:cNvSpPr/>
          <p:nvPr/>
        </p:nvSpPr>
        <p:spPr>
          <a:xfrm>
            <a:off x="256032" y="2212848"/>
            <a:ext cx="1993392" cy="457200"/>
          </a:xfrm>
          <a:prstGeom prst="rect">
            <a:avLst/>
          </a:prstGeom>
          <a:solidFill>
            <a:srgbClr val="2E6DB4"/>
          </a:solidFill>
          <a:ln w="12700">
            <a:solidFill>
              <a:srgbClr val="2E6DB4"/>
            </a:solidFill>
            <a:prstDash val="solid"/>
          </a:ln>
        </p:spPr>
      </p:sp>
      <p:sp>
        <p:nvSpPr>
          <p:cNvPr id="28" name="Text 26"/>
          <p:cNvSpPr/>
          <p:nvPr/>
        </p:nvSpPr>
        <p:spPr>
          <a:xfrm>
            <a:off x="256032" y="2212848"/>
            <a:ext cx="1993392"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M1</a:t>
            </a:r>
            <a:endParaRPr lang="en-US" sz="1300" dirty="0"/>
          </a:p>
        </p:txBody>
      </p:sp>
      <p:sp>
        <p:nvSpPr>
          <p:cNvPr id="29" name="Text 27"/>
          <p:cNvSpPr/>
          <p:nvPr/>
        </p:nvSpPr>
        <p:spPr>
          <a:xfrm>
            <a:off x="347472" y="2706624"/>
            <a:ext cx="1810512" cy="1920240"/>
          </a:xfrm>
          <a:prstGeom prst="rect">
            <a:avLst/>
          </a:prstGeom>
          <a:noFill/>
          <a:ln/>
        </p:spPr>
        <p:txBody>
          <a:bodyPr wrap="square" lIns="25400" tIns="25400" rIns="25400" bIns="25400" rtlCol="0" anchor="t"/>
          <a:lstStyle/>
          <a:p>
            <a:pPr algn="l" indent="0" marL="0">
              <a:buNone/>
            </a:pPr>
            <a:r>
              <a:rPr lang="en-US" sz="1050" dirty="0">
                <a:solidFill>
                  <a:srgbClr val="2D3748"/>
                </a:solidFill>
                <a:latin typeface="Calibri" pitchFamily="34" charset="0"/>
                <a:ea typeface="Calibri" pitchFamily="34" charset="-122"/>
                <a:cs typeface="Calibri" pitchFamily="34" charset="-120"/>
              </a:rPr>
              <a:t>Logistic Regression</a:t>
            </a:r>
            <a:endParaRPr lang="en-US" sz="1050" dirty="0"/>
          </a:p>
          <a:p>
            <a:pPr algn="l" indent="0" marL="0">
              <a:buNone/>
            </a:pPr>
            <a:r>
              <a:rPr lang="en-US" sz="1050" dirty="0">
                <a:solidFill>
                  <a:srgbClr val="2D3748"/>
                </a:solidFill>
                <a:latin typeface="Calibri" pitchFamily="34" charset="0"/>
                <a:ea typeface="Calibri" pitchFamily="34" charset="-122"/>
                <a:cs typeface="Calibri" pitchFamily="34" charset="-120"/>
              </a:rPr>
              <a:t>19 features</a:t>
            </a:r>
            <a:endParaRPr lang="en-US" sz="1050" dirty="0"/>
          </a:p>
          <a:p>
            <a:pPr algn="l" indent="0" marL="0">
              <a:buNone/>
            </a:pPr>
            <a:r>
              <a:rPr lang="en-US" sz="1050" dirty="0">
                <a:solidFill>
                  <a:srgbClr val="2D3748"/>
                </a:solidFill>
                <a:latin typeface="Calibri" pitchFamily="34" charset="0"/>
                <a:ea typeface="Calibri" pitchFamily="34" charset="-122"/>
                <a:cs typeface="Calibri" pitchFamily="34" charset="-120"/>
              </a:rPr>
              <a:t>Baseline</a:t>
            </a:r>
            <a:endParaRPr lang="en-US" sz="1050" dirty="0"/>
          </a:p>
        </p:txBody>
      </p:sp>
      <p:sp>
        <p:nvSpPr>
          <p:cNvPr id="30" name="Shape 28"/>
          <p:cNvSpPr/>
          <p:nvPr/>
        </p:nvSpPr>
        <p:spPr>
          <a:xfrm>
            <a:off x="2249424" y="3447288"/>
            <a:ext cx="182880" cy="0"/>
          </a:xfrm>
          <a:prstGeom prst="line">
            <a:avLst/>
          </a:prstGeom>
          <a:noFill/>
          <a:ln w="25400">
            <a:solidFill>
              <a:srgbClr val="64748B"/>
            </a:solidFill>
            <a:prstDash val="solid"/>
          </a:ln>
        </p:spPr>
      </p:sp>
      <p:sp>
        <p:nvSpPr>
          <p:cNvPr id="31" name="Shape 29"/>
          <p:cNvSpPr/>
          <p:nvPr/>
        </p:nvSpPr>
        <p:spPr>
          <a:xfrm>
            <a:off x="2432304" y="2212848"/>
            <a:ext cx="1993392" cy="2468880"/>
          </a:xfrm>
          <a:prstGeom prst="rect">
            <a:avLst/>
          </a:prstGeom>
          <a:solidFill>
            <a:srgbClr val="F0F4F9"/>
          </a:solidFill>
          <a:ln w="25400">
            <a:solidFill>
              <a:srgbClr val="2E6DB4"/>
            </a:solidFill>
            <a:prstDash val="solid"/>
          </a:ln>
          <a:effectLst>
            <a:outerShdw sx="100000" sy="100000" kx="0" ky="0" algn="bl" rotWithShape="0" blurRad="101600" dist="38100" dir="8100000">
              <a:srgbClr val="000000">
                <a:alpha val="13000"/>
              </a:srgbClr>
            </a:outerShdw>
          </a:effectLst>
        </p:spPr>
      </p:sp>
      <p:sp>
        <p:nvSpPr>
          <p:cNvPr id="32" name="Shape 30"/>
          <p:cNvSpPr/>
          <p:nvPr/>
        </p:nvSpPr>
        <p:spPr>
          <a:xfrm>
            <a:off x="2432304" y="2212848"/>
            <a:ext cx="1993392" cy="457200"/>
          </a:xfrm>
          <a:prstGeom prst="rect">
            <a:avLst/>
          </a:prstGeom>
          <a:solidFill>
            <a:srgbClr val="2E6DB4"/>
          </a:solidFill>
          <a:ln w="12700">
            <a:solidFill>
              <a:srgbClr val="2E6DB4"/>
            </a:solidFill>
            <a:prstDash val="solid"/>
          </a:ln>
        </p:spPr>
      </p:sp>
      <p:sp>
        <p:nvSpPr>
          <p:cNvPr id="33" name="Text 31"/>
          <p:cNvSpPr/>
          <p:nvPr/>
        </p:nvSpPr>
        <p:spPr>
          <a:xfrm>
            <a:off x="2432304" y="2212848"/>
            <a:ext cx="1993392"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M2</a:t>
            </a:r>
            <a:endParaRPr lang="en-US" sz="1300" dirty="0"/>
          </a:p>
        </p:txBody>
      </p:sp>
      <p:sp>
        <p:nvSpPr>
          <p:cNvPr id="34" name="Text 32"/>
          <p:cNvSpPr/>
          <p:nvPr/>
        </p:nvSpPr>
        <p:spPr>
          <a:xfrm>
            <a:off x="2523744" y="2706624"/>
            <a:ext cx="1810512" cy="1920240"/>
          </a:xfrm>
          <a:prstGeom prst="rect">
            <a:avLst/>
          </a:prstGeom>
          <a:noFill/>
          <a:ln/>
        </p:spPr>
        <p:txBody>
          <a:bodyPr wrap="square" lIns="25400" tIns="25400" rIns="25400" bIns="25400" rtlCol="0" anchor="t"/>
          <a:lstStyle/>
          <a:p>
            <a:pPr algn="l" indent="0" marL="0">
              <a:buNone/>
            </a:pPr>
            <a:r>
              <a:rPr lang="en-US" sz="1050" dirty="0">
                <a:solidFill>
                  <a:srgbClr val="2D3748"/>
                </a:solidFill>
                <a:latin typeface="Calibri" pitchFamily="34" charset="0"/>
                <a:ea typeface="Calibri" pitchFamily="34" charset="-122"/>
                <a:cs typeface="Calibri" pitchFamily="34" charset="-120"/>
              </a:rPr>
              <a:t>Random Forest</a:t>
            </a:r>
            <a:endParaRPr lang="en-US" sz="1050" dirty="0"/>
          </a:p>
          <a:p>
            <a:pPr algn="l" indent="0" marL="0">
              <a:buNone/>
            </a:pPr>
            <a:r>
              <a:rPr lang="en-US" sz="1050" dirty="0">
                <a:solidFill>
                  <a:srgbClr val="2D3748"/>
                </a:solidFill>
                <a:latin typeface="Calibri" pitchFamily="34" charset="0"/>
                <a:ea typeface="Calibri" pitchFamily="34" charset="-122"/>
                <a:cs typeface="Calibri" pitchFamily="34" charset="-120"/>
              </a:rPr>
              <a:t>41 macro</a:t>
            </a:r>
            <a:endParaRPr lang="en-US" sz="1050" dirty="0"/>
          </a:p>
          <a:p>
            <a:pPr algn="l" indent="0" marL="0">
              <a:buNone/>
            </a:pPr>
            <a:r>
              <a:rPr lang="en-US" sz="1050" dirty="0">
                <a:solidFill>
                  <a:srgbClr val="2D3748"/>
                </a:solidFill>
                <a:latin typeface="Calibri" pitchFamily="34" charset="0"/>
                <a:ea typeface="Calibri" pitchFamily="34" charset="-122"/>
                <a:cs typeface="Calibri" pitchFamily="34" charset="-120"/>
              </a:rPr>
              <a:t>Black-box NL</a:t>
            </a:r>
            <a:endParaRPr lang="en-US" sz="1050" dirty="0"/>
          </a:p>
        </p:txBody>
      </p:sp>
      <p:sp>
        <p:nvSpPr>
          <p:cNvPr id="35" name="Shape 33"/>
          <p:cNvSpPr/>
          <p:nvPr/>
        </p:nvSpPr>
        <p:spPr>
          <a:xfrm>
            <a:off x="4425696" y="3447288"/>
            <a:ext cx="182880" cy="0"/>
          </a:xfrm>
          <a:prstGeom prst="line">
            <a:avLst/>
          </a:prstGeom>
          <a:noFill/>
          <a:ln w="25400">
            <a:solidFill>
              <a:srgbClr val="64748B"/>
            </a:solidFill>
            <a:prstDash val="solid"/>
          </a:ln>
        </p:spPr>
      </p:sp>
      <p:sp>
        <p:nvSpPr>
          <p:cNvPr id="36" name="Shape 34"/>
          <p:cNvSpPr/>
          <p:nvPr/>
        </p:nvSpPr>
        <p:spPr>
          <a:xfrm>
            <a:off x="4608576" y="2212848"/>
            <a:ext cx="1993392" cy="2468880"/>
          </a:xfrm>
          <a:prstGeom prst="rect">
            <a:avLst/>
          </a:prstGeom>
          <a:solidFill>
            <a:srgbClr val="F0F4F9"/>
          </a:solidFill>
          <a:ln w="25400">
            <a:solidFill>
              <a:srgbClr val="E8A020"/>
            </a:solidFill>
            <a:prstDash val="solid"/>
          </a:ln>
          <a:effectLst>
            <a:outerShdw sx="100000" sy="100000" kx="0" ky="0" algn="bl" rotWithShape="0" blurRad="101600" dist="38100" dir="8100000">
              <a:srgbClr val="000000">
                <a:alpha val="13000"/>
              </a:srgbClr>
            </a:outerShdw>
          </a:effectLst>
        </p:spPr>
      </p:sp>
      <p:sp>
        <p:nvSpPr>
          <p:cNvPr id="37" name="Shape 35"/>
          <p:cNvSpPr/>
          <p:nvPr/>
        </p:nvSpPr>
        <p:spPr>
          <a:xfrm>
            <a:off x="4608576" y="2212848"/>
            <a:ext cx="1993392" cy="457200"/>
          </a:xfrm>
          <a:prstGeom prst="rect">
            <a:avLst/>
          </a:prstGeom>
          <a:solidFill>
            <a:srgbClr val="E8A020"/>
          </a:solidFill>
          <a:ln w="12700">
            <a:solidFill>
              <a:srgbClr val="E8A020"/>
            </a:solidFill>
            <a:prstDash val="solid"/>
          </a:ln>
        </p:spPr>
      </p:sp>
      <p:sp>
        <p:nvSpPr>
          <p:cNvPr id="38" name="Text 36"/>
          <p:cNvSpPr/>
          <p:nvPr/>
        </p:nvSpPr>
        <p:spPr>
          <a:xfrm>
            <a:off x="4608576" y="2212848"/>
            <a:ext cx="1993392"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M2.5</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EBM ★</a:t>
            </a:r>
            <a:endParaRPr lang="en-US" sz="1300" dirty="0"/>
          </a:p>
        </p:txBody>
      </p:sp>
      <p:sp>
        <p:nvSpPr>
          <p:cNvPr id="39" name="Text 37"/>
          <p:cNvSpPr/>
          <p:nvPr/>
        </p:nvSpPr>
        <p:spPr>
          <a:xfrm>
            <a:off x="4700016" y="2706624"/>
            <a:ext cx="1810512" cy="1920240"/>
          </a:xfrm>
          <a:prstGeom prst="rect">
            <a:avLst/>
          </a:prstGeom>
          <a:noFill/>
          <a:ln/>
        </p:spPr>
        <p:txBody>
          <a:bodyPr wrap="square" lIns="25400" tIns="25400" rIns="25400" bIns="25400" rtlCol="0" anchor="t"/>
          <a:lstStyle/>
          <a:p>
            <a:pPr algn="l" indent="0" marL="0">
              <a:buNone/>
            </a:pPr>
            <a:r>
              <a:rPr lang="en-US" sz="1050" dirty="0">
                <a:solidFill>
                  <a:srgbClr val="2D3748"/>
                </a:solidFill>
                <a:latin typeface="Calibri" pitchFamily="34" charset="0"/>
                <a:ea typeface="Calibri" pitchFamily="34" charset="-122"/>
                <a:cs typeface="Calibri" pitchFamily="34" charset="-120"/>
              </a:rPr>
              <a:t>Expl. Boosting</a:t>
            </a:r>
            <a:endParaRPr lang="en-US" sz="1050" dirty="0"/>
          </a:p>
          <a:p>
            <a:pPr algn="l" indent="0" marL="0">
              <a:buNone/>
            </a:pPr>
            <a:r>
              <a:rPr lang="en-US" sz="1050" dirty="0">
                <a:solidFill>
                  <a:srgbClr val="2D3748"/>
                </a:solidFill>
                <a:latin typeface="Calibri" pitchFamily="34" charset="0"/>
                <a:ea typeface="Calibri" pitchFamily="34" charset="-122"/>
                <a:cs typeface="Calibri" pitchFamily="34" charset="-120"/>
              </a:rPr>
              <a:t>41 macro</a:t>
            </a:r>
            <a:endParaRPr lang="en-US" sz="1050" dirty="0"/>
          </a:p>
          <a:p>
            <a:pPr algn="l" indent="0" marL="0">
              <a:buNone/>
            </a:pPr>
            <a:r>
              <a:rPr lang="en-US" sz="1050" dirty="0">
                <a:solidFill>
                  <a:srgbClr val="2D3748"/>
                </a:solidFill>
                <a:latin typeface="Calibri" pitchFamily="34" charset="0"/>
                <a:ea typeface="Calibri" pitchFamily="34" charset="-122"/>
                <a:cs typeface="Calibri" pitchFamily="34" charset="-120"/>
              </a:rPr>
              <a:t>Interpretable NL</a:t>
            </a:r>
            <a:endParaRPr lang="en-US" sz="1050" dirty="0"/>
          </a:p>
        </p:txBody>
      </p:sp>
      <p:sp>
        <p:nvSpPr>
          <p:cNvPr id="40" name="Shape 38"/>
          <p:cNvSpPr/>
          <p:nvPr/>
        </p:nvSpPr>
        <p:spPr>
          <a:xfrm>
            <a:off x="6601968" y="3447288"/>
            <a:ext cx="182880" cy="0"/>
          </a:xfrm>
          <a:prstGeom prst="line">
            <a:avLst/>
          </a:prstGeom>
          <a:noFill/>
          <a:ln w="25400">
            <a:solidFill>
              <a:srgbClr val="64748B"/>
            </a:solidFill>
            <a:prstDash val="solid"/>
          </a:ln>
        </p:spPr>
      </p:sp>
      <p:sp>
        <p:nvSpPr>
          <p:cNvPr id="41" name="Shape 39"/>
          <p:cNvSpPr/>
          <p:nvPr/>
        </p:nvSpPr>
        <p:spPr>
          <a:xfrm>
            <a:off x="6784848" y="2212848"/>
            <a:ext cx="1993392" cy="2468880"/>
          </a:xfrm>
          <a:prstGeom prst="rect">
            <a:avLst/>
          </a:prstGeom>
          <a:solidFill>
            <a:srgbClr val="F0F4F9"/>
          </a:solidFill>
          <a:ln w="25400">
            <a:solidFill>
              <a:srgbClr val="C0392B"/>
            </a:solidFill>
            <a:prstDash val="solid"/>
          </a:ln>
          <a:effectLst>
            <a:outerShdw sx="100000" sy="100000" kx="0" ky="0" algn="bl" rotWithShape="0" blurRad="101600" dist="38100" dir="8100000">
              <a:srgbClr val="000000">
                <a:alpha val="13000"/>
              </a:srgbClr>
            </a:outerShdw>
          </a:effectLst>
        </p:spPr>
      </p:sp>
      <p:sp>
        <p:nvSpPr>
          <p:cNvPr id="42" name="Shape 40"/>
          <p:cNvSpPr/>
          <p:nvPr/>
        </p:nvSpPr>
        <p:spPr>
          <a:xfrm>
            <a:off x="6784848" y="2212848"/>
            <a:ext cx="1993392" cy="457200"/>
          </a:xfrm>
          <a:prstGeom prst="rect">
            <a:avLst/>
          </a:prstGeom>
          <a:solidFill>
            <a:srgbClr val="C0392B"/>
          </a:solidFill>
          <a:ln w="12700">
            <a:solidFill>
              <a:srgbClr val="C0392B"/>
            </a:solidFill>
            <a:prstDash val="solid"/>
          </a:ln>
        </p:spPr>
      </p:sp>
      <p:sp>
        <p:nvSpPr>
          <p:cNvPr id="43" name="Text 41"/>
          <p:cNvSpPr/>
          <p:nvPr/>
        </p:nvSpPr>
        <p:spPr>
          <a:xfrm>
            <a:off x="6784848" y="2212848"/>
            <a:ext cx="1993392"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M3</a:t>
            </a:r>
            <a:endParaRPr lang="en-US" sz="1300" dirty="0"/>
          </a:p>
        </p:txBody>
      </p:sp>
      <p:sp>
        <p:nvSpPr>
          <p:cNvPr id="44" name="Text 42"/>
          <p:cNvSpPr/>
          <p:nvPr/>
        </p:nvSpPr>
        <p:spPr>
          <a:xfrm>
            <a:off x="6876288" y="2706624"/>
            <a:ext cx="1810512" cy="1920240"/>
          </a:xfrm>
          <a:prstGeom prst="rect">
            <a:avLst/>
          </a:prstGeom>
          <a:noFill/>
          <a:ln/>
        </p:spPr>
        <p:txBody>
          <a:bodyPr wrap="square" lIns="25400" tIns="25400" rIns="25400" bIns="25400" rtlCol="0" anchor="t"/>
          <a:lstStyle/>
          <a:p>
            <a:pPr algn="l" indent="0" marL="0">
              <a:buNone/>
            </a:pPr>
            <a:r>
              <a:rPr lang="en-US" sz="1050" dirty="0">
                <a:solidFill>
                  <a:srgbClr val="2D3748"/>
                </a:solidFill>
                <a:latin typeface="Calibri" pitchFamily="34" charset="0"/>
                <a:ea typeface="Calibri" pitchFamily="34" charset="-122"/>
                <a:cs typeface="Calibri" pitchFamily="34" charset="-120"/>
              </a:rPr>
              <a:t>XGBoost+FinBERT</a:t>
            </a:r>
            <a:endParaRPr lang="en-US" sz="1050" dirty="0"/>
          </a:p>
          <a:p>
            <a:pPr algn="l" indent="0" marL="0">
              <a:buNone/>
            </a:pPr>
            <a:r>
              <a:rPr lang="en-US" sz="1050" dirty="0">
                <a:solidFill>
                  <a:srgbClr val="2D3748"/>
                </a:solidFill>
                <a:latin typeface="Calibri" pitchFamily="34" charset="0"/>
                <a:ea typeface="Calibri" pitchFamily="34" charset="-122"/>
                <a:cs typeface="Calibri" pitchFamily="34" charset="-120"/>
              </a:rPr>
              <a:t>55 features</a:t>
            </a:r>
            <a:endParaRPr lang="en-US" sz="1050" dirty="0"/>
          </a:p>
          <a:p>
            <a:pPr algn="l" indent="0" marL="0">
              <a:buNone/>
            </a:pPr>
            <a:r>
              <a:rPr lang="en-US" sz="1050" dirty="0">
                <a:solidFill>
                  <a:srgbClr val="2D3748"/>
                </a:solidFill>
                <a:latin typeface="Calibri" pitchFamily="34" charset="0"/>
                <a:ea typeface="Calibri" pitchFamily="34" charset="-122"/>
                <a:cs typeface="Calibri" pitchFamily="34" charset="-120"/>
              </a:rPr>
              <a:t>Sentiment NL</a:t>
            </a:r>
            <a:endParaRPr lang="en-US" sz="1050" dirty="0"/>
          </a:p>
        </p:txBody>
      </p:sp>
      <p:sp>
        <p:nvSpPr>
          <p:cNvPr id="45" name="Text 43"/>
          <p:cNvSpPr/>
          <p:nvPr/>
        </p:nvSpPr>
        <p:spPr>
          <a:xfrm>
            <a:off x="256032" y="4727448"/>
            <a:ext cx="8686800" cy="274320"/>
          </a:xfrm>
          <a:prstGeom prst="rect">
            <a:avLst/>
          </a:prstGeom>
          <a:noFill/>
          <a:ln/>
        </p:spPr>
        <p:txBody>
          <a:bodyPr wrap="square" lIns="0" tIns="0" rIns="0" bIns="0" rtlCol="0" anchor="ctr"/>
          <a:lstStyle/>
          <a:p>
            <a:pPr algn="l" indent="0" marL="0">
              <a:buNone/>
            </a:pPr>
            <a:r>
              <a:rPr lang="en-US" sz="950" i="1" dirty="0">
                <a:solidFill>
                  <a:srgbClr val="64748B"/>
                </a:solidFill>
                <a:latin typeface="Calibri" pitchFamily="34" charset="0"/>
                <a:ea typeface="Calibri" pitchFamily="34" charset="-122"/>
                <a:cs typeface="Calibri" pitchFamily="34" charset="-120"/>
              </a:rPr>
              <a:t>★ Novel contribution: only model that makes failure mechanism directly visible</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8A020"/>
          </a:solidFill>
          <a:ln w="12700">
            <a:solidFill>
              <a:srgbClr val="E8A020"/>
            </a:solidFill>
            <a:prstDash val="solid"/>
          </a:ln>
        </p:spPr>
      </p:sp>
      <p:sp>
        <p:nvSpPr>
          <p:cNvPr id="3" name="Text 1"/>
          <p:cNvSpPr/>
          <p:nvPr/>
        </p:nvSpPr>
        <p:spPr>
          <a:xfrm>
            <a:off x="256032" y="118872"/>
            <a:ext cx="8686800" cy="566928"/>
          </a:xfrm>
          <a:prstGeom prst="rect">
            <a:avLst/>
          </a:prstGeom>
          <a:noFill/>
          <a:ln/>
        </p:spPr>
        <p:txBody>
          <a:bodyPr wrap="square" lIns="0" tIns="0" rIns="0" bIns="0" rtlCol="0" anchor="ctr"/>
          <a:lstStyle/>
          <a:p>
            <a:pPr algn="l" indent="0" marL="0">
              <a:buNone/>
            </a:pPr>
            <a:r>
              <a:rPr lang="en-US" sz="2600" b="1" dirty="0">
                <a:solidFill>
                  <a:srgbClr val="0D1B3E"/>
                </a:solidFill>
                <a:latin typeface="Calibri" pitchFamily="34" charset="0"/>
                <a:ea typeface="Calibri" pitchFamily="34" charset="-122"/>
                <a:cs typeface="Calibri" pitchFamily="34" charset="-120"/>
              </a:rPr>
              <a:t>Stage 1 Results: EBM Leads Across All Metrics</a:t>
            </a:r>
            <a:endParaRPr lang="en-US" sz="2600" dirty="0"/>
          </a:p>
        </p:txBody>
      </p:sp>
      <p:sp>
        <p:nvSpPr>
          <p:cNvPr id="4" name="Text 2"/>
          <p:cNvSpPr/>
          <p:nvPr/>
        </p:nvSpPr>
        <p:spPr>
          <a:xfrm>
            <a:off x="256032" y="685800"/>
            <a:ext cx="8686800" cy="274320"/>
          </a:xfrm>
          <a:prstGeom prst="rect">
            <a:avLst/>
          </a:prstGeom>
          <a:noFill/>
          <a:ln/>
        </p:spPr>
        <p:txBody>
          <a:bodyPr wrap="square" lIns="0" tIns="0" rIns="0" bIns="0" rtlCol="0" anchor="t"/>
          <a:lstStyle/>
          <a:p>
            <a:pPr algn="l" indent="0" marL="0">
              <a:buNone/>
            </a:pPr>
            <a:r>
              <a:rPr lang="en-US" sz="1200" i="1" dirty="0">
                <a:solidFill>
                  <a:srgbClr val="2E6DB4"/>
                </a:solidFill>
                <a:latin typeface="Calibri" pitchFamily="34" charset="0"/>
                <a:ea typeface="Calibri" pitchFamily="34" charset="-122"/>
                <a:cs typeface="Calibri" pitchFamily="34" charset="-120"/>
              </a:rPr>
              <a:t>Expanding-window evaluation · 1988–2020 · 37 crisis events · 27 folds</a:t>
            </a:r>
            <a:endParaRPr lang="en-US" sz="1200" dirty="0"/>
          </a:p>
        </p:txBody>
      </p:sp>
      <p:sp>
        <p:nvSpPr>
          <p:cNvPr id="5" name="Shape 3"/>
          <p:cNvSpPr/>
          <p:nvPr/>
        </p:nvSpPr>
        <p:spPr>
          <a:xfrm>
            <a:off x="256032" y="987552"/>
            <a:ext cx="8686800" cy="0"/>
          </a:xfrm>
          <a:prstGeom prst="line">
            <a:avLst/>
          </a:prstGeom>
          <a:noFill/>
          <a:ln w="10160">
            <a:solidFill>
              <a:srgbClr val="D6E4F7"/>
            </a:solidFill>
            <a:prstDash val="solid"/>
          </a:ln>
        </p:spPr>
      </p:sp>
      <p:graphicFrame>
        <p:nvGraphicFramePr>
          <p:cNvPr id="6" name="Chart 0" descr=""/>
          <p:cNvGraphicFramePr/>
          <p:nvPr/>
        </p:nvGraphicFramePr>
        <p:xfrm>
          <a:off x="256032" y="1097280"/>
          <a:ext cx="5212080" cy="320040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623560" y="1097280"/>
          <a:ext cx="3337560" cy="1280160"/>
        </p:xfrm>
        <a:graphic>
          <a:graphicData uri="http://schemas.openxmlformats.org/drawingml/2006/table">
            <a:tbl>
              <a:tblPr/>
              <a:tblGrid>
                <a:gridCol w="1463040"/>
                <a:gridCol w="640080"/>
                <a:gridCol w="640080"/>
                <a:gridCol w="594360"/>
              </a:tblGrid>
              <a:tr h="320040">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Model</a:t>
                      </a:r>
                      <a:endParaRPr lang="en-US" sz="1050" dirty="0">
                        <a:latin typeface="Calibri" charset="0"/>
                        <a:ea typeface="Calibri" charset="0"/>
                        <a:cs typeface="Calibri" charset="0"/>
                      </a:endParaRPr>
                    </a:p>
                  </a:txBody>
                  <a:tcPr marL="91440" marR="91440" marT="45720" marB="45720">
                    <a:lnL w="6350" cap="flat" cmpd="sng" algn="ctr">
                      <a:solidFill>
                        <a:srgbClr val="D0D7E5"/>
                      </a:solidFill>
                      <a:prstDash val="solid"/>
                      <a:round/>
                      <a:headEnd type="none" w="med" len="med"/>
                      <a:tailEnd type="none" w="med" len="med"/>
                    </a:lnL>
                    <a:lnR w="6350" cap="flat" cmpd="sng" algn="ctr">
                      <a:solidFill>
                        <a:srgbClr val="D0D7E5"/>
                      </a:solidFill>
                      <a:prstDash val="solid"/>
                      <a:round/>
                      <a:headEnd type="none" w="med" len="med"/>
                      <a:tailEnd type="none" w="med" len="med"/>
                    </a:lnR>
                    <a:lnT w="6350" cap="flat" cmpd="sng" algn="ctr">
                      <a:solidFill>
                        <a:srgbClr val="D0D7E5"/>
                      </a:solidFill>
                      <a:prstDash val="solid"/>
                      <a:round/>
                      <a:headEnd type="none" w="med" len="med"/>
                      <a:tailEnd type="none" w="med" len="med"/>
                    </a:lnT>
                    <a:lnB w="6350" cap="flat" cmpd="sng" algn="ctr">
                      <a:solidFill>
                        <a:srgbClr val="D0D7E5"/>
                      </a:solidFill>
                      <a:prstDash val="solid"/>
                      <a:round/>
                      <a:headEnd type="none" w="med" len="med"/>
                      <a:tailEnd type="none" w="med" len="med"/>
                    </a:lnB>
                    <a:solidFill>
                      <a:srgbClr val="1A3A6B"/>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AUROC</a:t>
                      </a:r>
                      <a:endParaRPr lang="en-US" sz="1050" dirty="0">
                        <a:latin typeface="Calibri" charset="0"/>
                        <a:ea typeface="Calibri" charset="0"/>
                        <a:cs typeface="Calibri" charset="0"/>
                      </a:endParaRPr>
                    </a:p>
                  </a:txBody>
                  <a:tcPr marL="91440" marR="91440" marT="45720" marB="45720">
                    <a:lnL w="6350" cap="flat" cmpd="sng" algn="ctr">
                      <a:solidFill>
                        <a:srgbClr val="D0D7E5"/>
                      </a:solidFill>
                      <a:prstDash val="solid"/>
                      <a:round/>
                      <a:headEnd type="none" w="med" len="med"/>
                      <a:tailEnd type="none" w="med" len="med"/>
                    </a:lnL>
                    <a:lnR w="6350" cap="flat" cmpd="sng" algn="ctr">
                      <a:solidFill>
                        <a:srgbClr val="D0D7E5"/>
                      </a:solidFill>
                      <a:prstDash val="solid"/>
                      <a:round/>
                      <a:headEnd type="none" w="med" len="med"/>
                      <a:tailEnd type="none" w="med" len="med"/>
                    </a:lnR>
                    <a:lnT w="6350" cap="flat" cmpd="sng" algn="ctr">
                      <a:solidFill>
                        <a:srgbClr val="D0D7E5"/>
                      </a:solidFill>
                      <a:prstDash val="solid"/>
                      <a:round/>
                      <a:headEnd type="none" w="med" len="med"/>
                      <a:tailEnd type="none" w="med" len="med"/>
                    </a:lnT>
                    <a:lnB w="6350" cap="flat" cmpd="sng" algn="ctr">
                      <a:solidFill>
                        <a:srgbClr val="D0D7E5"/>
                      </a:solidFill>
                      <a:prstDash val="solid"/>
                      <a:round/>
                      <a:headEnd type="none" w="med" len="med"/>
                      <a:tailEnd type="none" w="med" len="med"/>
                    </a:lnB>
                    <a:solidFill>
                      <a:srgbClr val="1A3A6B"/>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AUPRC</a:t>
                      </a:r>
                      <a:endParaRPr lang="en-US" sz="1050" dirty="0">
                        <a:latin typeface="Calibri" charset="0"/>
                        <a:ea typeface="Calibri" charset="0"/>
                        <a:cs typeface="Calibri" charset="0"/>
                      </a:endParaRPr>
                    </a:p>
                  </a:txBody>
                  <a:tcPr marL="91440" marR="91440" marT="45720" marB="45720">
                    <a:lnL w="6350" cap="flat" cmpd="sng" algn="ctr">
                      <a:solidFill>
                        <a:srgbClr val="D0D7E5"/>
                      </a:solidFill>
                      <a:prstDash val="solid"/>
                      <a:round/>
                      <a:headEnd type="none" w="med" len="med"/>
                      <a:tailEnd type="none" w="med" len="med"/>
                    </a:lnL>
                    <a:lnR w="6350" cap="flat" cmpd="sng" algn="ctr">
                      <a:solidFill>
                        <a:srgbClr val="D0D7E5"/>
                      </a:solidFill>
                      <a:prstDash val="solid"/>
                      <a:round/>
                      <a:headEnd type="none" w="med" len="med"/>
                      <a:tailEnd type="none" w="med" len="med"/>
                    </a:lnR>
                    <a:lnT w="6350" cap="flat" cmpd="sng" algn="ctr">
                      <a:solidFill>
                        <a:srgbClr val="D0D7E5"/>
                      </a:solidFill>
                      <a:prstDash val="solid"/>
                      <a:round/>
                      <a:headEnd type="none" w="med" len="med"/>
                      <a:tailEnd type="none" w="med" len="med"/>
                    </a:lnT>
                    <a:lnB w="6350" cap="flat" cmpd="sng" algn="ctr">
                      <a:solidFill>
                        <a:srgbClr val="D0D7E5"/>
                      </a:solidFill>
                      <a:prstDash val="solid"/>
                      <a:round/>
                      <a:headEnd type="none" w="med" len="med"/>
                      <a:tailEnd type="none" w="med" len="med"/>
                    </a:lnB>
                    <a:solidFill>
                      <a:srgbClr val="1A3A6B"/>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Brier</a:t>
                      </a:r>
                      <a:endParaRPr lang="en-US" sz="1050" dirty="0">
                        <a:latin typeface="Calibri" charset="0"/>
                        <a:ea typeface="Calibri" charset="0"/>
                        <a:cs typeface="Calibri" charset="0"/>
                      </a:endParaRPr>
                    </a:p>
                  </a:txBody>
                  <a:tcPr marL="91440" marR="91440" marT="45720" marB="45720">
                    <a:lnL w="6350" cap="flat" cmpd="sng" algn="ctr">
                      <a:solidFill>
                        <a:srgbClr val="D0D7E5"/>
                      </a:solidFill>
                      <a:prstDash val="solid"/>
                      <a:round/>
                      <a:headEnd type="none" w="med" len="med"/>
                      <a:tailEnd type="none" w="med" len="med"/>
                    </a:lnL>
                    <a:lnR w="6350" cap="flat" cmpd="sng" algn="ctr">
                      <a:solidFill>
                        <a:srgbClr val="D0D7E5"/>
                      </a:solidFill>
                      <a:prstDash val="solid"/>
                      <a:round/>
                      <a:headEnd type="none" w="med" len="med"/>
                      <a:tailEnd type="none" w="med" len="med"/>
                    </a:lnR>
                    <a:lnT w="6350" cap="flat" cmpd="sng" algn="ctr">
                      <a:solidFill>
                        <a:srgbClr val="D0D7E5"/>
                      </a:solidFill>
                      <a:prstDash val="solid"/>
                      <a:round/>
                      <a:headEnd type="none" w="med" len="med"/>
                      <a:tailEnd type="none" w="med" len="med"/>
                    </a:lnT>
                    <a:lnB w="6350" cap="flat" cmpd="sng" algn="ctr">
                      <a:solidFill>
                        <a:srgbClr val="D0D7E5"/>
                      </a:solidFill>
                      <a:prstDash val="solid"/>
                      <a:round/>
                      <a:headEnd type="none" w="med" len="med"/>
                      <a:tailEnd type="none" w="med" len="med"/>
                    </a:lnB>
                    <a:solidFill>
                      <a:srgbClr val="1A3A6B"/>
                    </a:solidFill>
                  </a:tcPr>
                </a:tc>
              </a:tr>
              <a:tr h="320040">
                <a:tc>
                  <a:txBody>
                    <a:bodyPr/>
                    <a:lstStyle/>
                    <a:p>
                      <a:pPr algn="ctr" indent="0" marL="0">
                        <a:buNone/>
                      </a:pPr>
                      <a:r>
                        <a:rPr lang="en-US" sz="1050" dirty="0">
                          <a:solidFill>
                            <a:srgbClr val="000000"/>
                          </a:solidFill>
                          <a:latin typeface="Calibri" pitchFamily="34" charset="0"/>
                          <a:ea typeface="Calibri" pitchFamily="34" charset="-122"/>
                          <a:cs typeface="Calibri" pitchFamily="34" charset="-120"/>
                        </a:rPr>
                        <a:t>M1: Logistic</a:t>
                      </a:r>
                      <a:endParaRPr lang="en-US" sz="1050" dirty="0">
                        <a:latin typeface="Calibri" charset="0"/>
                        <a:ea typeface="Calibri" charset="0"/>
                        <a:cs typeface="Calibri" charset="0"/>
                      </a:endParaRPr>
                    </a:p>
                  </a:txBody>
                  <a:tcPr marL="91440" marR="91440" marT="45720" marB="45720">
                    <a:lnL w="6350" cap="flat" cmpd="sng" algn="ctr">
                      <a:solidFill>
                        <a:srgbClr val="D0D7E5"/>
                      </a:solidFill>
                      <a:prstDash val="solid"/>
                      <a:round/>
                      <a:headEnd type="none" w="med" len="med"/>
                      <a:tailEnd type="none" w="med" len="med"/>
                    </a:lnL>
                    <a:lnR w="6350" cap="flat" cmpd="sng" algn="ctr">
                      <a:solidFill>
                        <a:srgbClr val="D0D7E5"/>
                      </a:solidFill>
                      <a:prstDash val="solid"/>
                      <a:round/>
                      <a:headEnd type="none" w="med" len="med"/>
                      <a:tailEnd type="none" w="med" len="med"/>
                    </a:lnR>
                    <a:lnT w="6350" cap="flat" cmpd="sng" algn="ctr">
                      <a:solidFill>
                        <a:srgbClr val="D0D7E5"/>
                      </a:solidFill>
                      <a:prstDash val="solid"/>
                      <a:round/>
                      <a:headEnd type="none" w="med" len="med"/>
                      <a:tailEnd type="none" w="med" len="med"/>
                    </a:lnT>
                    <a:lnB w="6350" cap="flat" cmpd="sng" algn="ctr">
                      <a:solidFill>
                        <a:srgbClr val="D0D7E5"/>
                      </a:solidFill>
                      <a:prstDash val="solid"/>
                      <a:round/>
                      <a:headEnd type="none" w="med" len="med"/>
                      <a:tailEnd type="none" w="med" len="med"/>
                    </a:lnB>
                  </a:tcPr>
                </a:tc>
                <a:tc>
                  <a:txBody>
                    <a:bodyPr/>
                    <a:lstStyle/>
                    <a:p>
                      <a:pPr algn="ctr" indent="0" marL="0">
                        <a:buNone/>
                      </a:pPr>
                      <a:r>
                        <a:rPr lang="en-US" sz="1050" dirty="0">
                          <a:solidFill>
                            <a:srgbClr val="000000"/>
                          </a:solidFill>
                          <a:latin typeface="Calibri" pitchFamily="34" charset="0"/>
                          <a:ea typeface="Calibri" pitchFamily="34" charset="-122"/>
                          <a:cs typeface="Calibri" pitchFamily="34" charset="-120"/>
                        </a:rPr>
                        <a:t>0.606</a:t>
                      </a:r>
                      <a:endParaRPr lang="en-US" sz="1050" dirty="0">
                        <a:latin typeface="Calibri" charset="0"/>
                        <a:ea typeface="Calibri" charset="0"/>
                        <a:cs typeface="Calibri" charset="0"/>
                      </a:endParaRPr>
                    </a:p>
                  </a:txBody>
                  <a:tcPr marL="91440" marR="91440" marT="45720" marB="45720">
                    <a:lnL w="6350" cap="flat" cmpd="sng" algn="ctr">
                      <a:solidFill>
                        <a:srgbClr val="D0D7E5"/>
                      </a:solidFill>
                      <a:prstDash val="solid"/>
                      <a:round/>
                      <a:headEnd type="none" w="med" len="med"/>
                      <a:tailEnd type="none" w="med" len="med"/>
                    </a:lnL>
                    <a:lnR w="6350" cap="flat" cmpd="sng" algn="ctr">
                      <a:solidFill>
                        <a:srgbClr val="D0D7E5"/>
                      </a:solidFill>
                      <a:prstDash val="solid"/>
                      <a:round/>
                      <a:headEnd type="none" w="med" len="med"/>
                      <a:tailEnd type="none" w="med" len="med"/>
                    </a:lnR>
                    <a:lnT w="6350" cap="flat" cmpd="sng" algn="ctr">
                      <a:solidFill>
                        <a:srgbClr val="D0D7E5"/>
                      </a:solidFill>
                      <a:prstDash val="solid"/>
                      <a:round/>
                      <a:headEnd type="none" w="med" len="med"/>
                      <a:tailEnd type="none" w="med" len="med"/>
                    </a:lnT>
                    <a:lnB w="6350" cap="flat" cmpd="sng" algn="ctr">
                      <a:solidFill>
                        <a:srgbClr val="D0D7E5"/>
                      </a:solidFill>
                      <a:prstDash val="solid"/>
                      <a:round/>
                      <a:headEnd type="none" w="med" len="med"/>
                      <a:tailEnd type="none" w="med" len="med"/>
                    </a:lnB>
                  </a:tcPr>
                </a:tc>
                <a:tc>
                  <a:txBody>
                    <a:bodyPr/>
                    <a:lstStyle/>
                    <a:p>
                      <a:pPr algn="ctr" indent="0" marL="0">
                        <a:buNone/>
                      </a:pPr>
                      <a:r>
                        <a:rPr lang="en-US" sz="1050" dirty="0">
                          <a:solidFill>
                            <a:srgbClr val="000000"/>
                          </a:solidFill>
                          <a:latin typeface="Calibri" pitchFamily="34" charset="0"/>
                          <a:ea typeface="Calibri" pitchFamily="34" charset="-122"/>
                          <a:cs typeface="Calibri" pitchFamily="34" charset="-120"/>
                        </a:rPr>
                        <a:t>0.139</a:t>
                      </a:r>
                      <a:endParaRPr lang="en-US" sz="1050" dirty="0">
                        <a:latin typeface="Calibri" charset="0"/>
                        <a:ea typeface="Calibri" charset="0"/>
                        <a:cs typeface="Calibri" charset="0"/>
                      </a:endParaRPr>
                    </a:p>
                  </a:txBody>
                  <a:tcPr marL="91440" marR="91440" marT="45720" marB="45720">
                    <a:lnL w="6350" cap="flat" cmpd="sng" algn="ctr">
                      <a:solidFill>
                        <a:srgbClr val="D0D7E5"/>
                      </a:solidFill>
                      <a:prstDash val="solid"/>
                      <a:round/>
                      <a:headEnd type="none" w="med" len="med"/>
                      <a:tailEnd type="none" w="med" len="med"/>
                    </a:lnL>
                    <a:lnR w="6350" cap="flat" cmpd="sng" algn="ctr">
                      <a:solidFill>
                        <a:srgbClr val="D0D7E5"/>
                      </a:solidFill>
                      <a:prstDash val="solid"/>
                      <a:round/>
                      <a:headEnd type="none" w="med" len="med"/>
                      <a:tailEnd type="none" w="med" len="med"/>
                    </a:lnR>
                    <a:lnT w="6350" cap="flat" cmpd="sng" algn="ctr">
                      <a:solidFill>
                        <a:srgbClr val="D0D7E5"/>
                      </a:solidFill>
                      <a:prstDash val="solid"/>
                      <a:round/>
                      <a:headEnd type="none" w="med" len="med"/>
                      <a:tailEnd type="none" w="med" len="med"/>
                    </a:lnT>
                    <a:lnB w="6350" cap="flat" cmpd="sng" algn="ctr">
                      <a:solidFill>
                        <a:srgbClr val="D0D7E5"/>
                      </a:solidFill>
                      <a:prstDash val="solid"/>
                      <a:round/>
                      <a:headEnd type="none" w="med" len="med"/>
                      <a:tailEnd type="none" w="med" len="med"/>
                    </a:lnB>
                  </a:tcPr>
                </a:tc>
                <a:tc>
                  <a:txBody>
                    <a:bodyPr/>
                    <a:lstStyle/>
                    <a:p>
                      <a:pPr algn="ctr" indent="0" marL="0">
                        <a:buNone/>
                      </a:pPr>
                      <a:r>
                        <a:rPr lang="en-US" sz="1050" dirty="0">
                          <a:solidFill>
                            <a:srgbClr val="000000"/>
                          </a:solidFill>
                          <a:latin typeface="Calibri" pitchFamily="34" charset="0"/>
                          <a:ea typeface="Calibri" pitchFamily="34" charset="-122"/>
                          <a:cs typeface="Calibri" pitchFamily="34" charset="-120"/>
                        </a:rPr>
                        <a:t>0.157</a:t>
                      </a:r>
                      <a:endParaRPr lang="en-US" sz="1050" dirty="0">
                        <a:latin typeface="Calibri" charset="0"/>
                        <a:ea typeface="Calibri" charset="0"/>
                        <a:cs typeface="Calibri" charset="0"/>
                      </a:endParaRPr>
                    </a:p>
                  </a:txBody>
                  <a:tcPr marL="91440" marR="91440" marT="45720" marB="45720">
                    <a:lnL w="6350" cap="flat" cmpd="sng" algn="ctr">
                      <a:solidFill>
                        <a:srgbClr val="D0D7E5"/>
                      </a:solidFill>
                      <a:prstDash val="solid"/>
                      <a:round/>
                      <a:headEnd type="none" w="med" len="med"/>
                      <a:tailEnd type="none" w="med" len="med"/>
                    </a:lnL>
                    <a:lnR w="6350" cap="flat" cmpd="sng" algn="ctr">
                      <a:solidFill>
                        <a:srgbClr val="D0D7E5"/>
                      </a:solidFill>
                      <a:prstDash val="solid"/>
                      <a:round/>
                      <a:headEnd type="none" w="med" len="med"/>
                      <a:tailEnd type="none" w="med" len="med"/>
                    </a:lnR>
                    <a:lnT w="6350" cap="flat" cmpd="sng" algn="ctr">
                      <a:solidFill>
                        <a:srgbClr val="D0D7E5"/>
                      </a:solidFill>
                      <a:prstDash val="solid"/>
                      <a:round/>
                      <a:headEnd type="none" w="med" len="med"/>
                      <a:tailEnd type="none" w="med" len="med"/>
                    </a:lnT>
                    <a:lnB w="6350" cap="flat" cmpd="sng" algn="ctr">
                      <a:solidFill>
                        <a:srgbClr val="D0D7E5"/>
                      </a:solidFill>
                      <a:prstDash val="solid"/>
                      <a:round/>
                      <a:headEnd type="none" w="med" len="med"/>
                      <a:tailEnd type="none" w="med" len="med"/>
                    </a:lnB>
                  </a:tcPr>
                </a:tc>
              </a:tr>
              <a:tr h="320040">
                <a:tc>
                  <a:txBody>
                    <a:bodyPr/>
                    <a:lstStyle/>
                    <a:p>
                      <a:pPr algn="ctr" indent="0" marL="0">
                        <a:buNone/>
                      </a:pPr>
                      <a:r>
                        <a:rPr lang="en-US" sz="1050" dirty="0">
                          <a:solidFill>
                            <a:srgbClr val="000000"/>
                          </a:solidFill>
                          <a:latin typeface="Calibri" pitchFamily="34" charset="0"/>
                          <a:ea typeface="Calibri" pitchFamily="34" charset="-122"/>
                          <a:cs typeface="Calibri" pitchFamily="34" charset="-120"/>
                        </a:rPr>
                        <a:t>M2: Random Forest</a:t>
                      </a:r>
                      <a:endParaRPr lang="en-US" sz="1050" dirty="0">
                        <a:latin typeface="Calibri" charset="0"/>
                        <a:ea typeface="Calibri" charset="0"/>
                        <a:cs typeface="Calibri" charset="0"/>
                      </a:endParaRPr>
                    </a:p>
                  </a:txBody>
                  <a:tcPr marL="91440" marR="91440" marT="45720" marB="45720">
                    <a:lnL w="6350" cap="flat" cmpd="sng" algn="ctr">
                      <a:solidFill>
                        <a:srgbClr val="D0D7E5"/>
                      </a:solidFill>
                      <a:prstDash val="solid"/>
                      <a:round/>
                      <a:headEnd type="none" w="med" len="med"/>
                      <a:tailEnd type="none" w="med" len="med"/>
                    </a:lnL>
                    <a:lnR w="6350" cap="flat" cmpd="sng" algn="ctr">
                      <a:solidFill>
                        <a:srgbClr val="D0D7E5"/>
                      </a:solidFill>
                      <a:prstDash val="solid"/>
                      <a:round/>
                      <a:headEnd type="none" w="med" len="med"/>
                      <a:tailEnd type="none" w="med" len="med"/>
                    </a:lnR>
                    <a:lnT w="6350" cap="flat" cmpd="sng" algn="ctr">
                      <a:solidFill>
                        <a:srgbClr val="D0D7E5"/>
                      </a:solidFill>
                      <a:prstDash val="solid"/>
                      <a:round/>
                      <a:headEnd type="none" w="med" len="med"/>
                      <a:tailEnd type="none" w="med" len="med"/>
                    </a:lnT>
                    <a:lnB w="6350" cap="flat" cmpd="sng" algn="ctr">
                      <a:solidFill>
                        <a:srgbClr val="D0D7E5"/>
                      </a:solidFill>
                      <a:prstDash val="solid"/>
                      <a:round/>
                      <a:headEnd type="none" w="med" len="med"/>
                      <a:tailEnd type="none" w="med" len="med"/>
                    </a:lnB>
                  </a:tcPr>
                </a:tc>
                <a:tc>
                  <a:txBody>
                    <a:bodyPr/>
                    <a:lstStyle/>
                    <a:p>
                      <a:pPr algn="ctr" indent="0" marL="0">
                        <a:buNone/>
                      </a:pPr>
                      <a:r>
                        <a:rPr lang="en-US" sz="1050" dirty="0">
                          <a:solidFill>
                            <a:srgbClr val="000000"/>
                          </a:solidFill>
                          <a:latin typeface="Calibri" pitchFamily="34" charset="0"/>
                          <a:ea typeface="Calibri" pitchFamily="34" charset="-122"/>
                          <a:cs typeface="Calibri" pitchFamily="34" charset="-120"/>
                        </a:rPr>
                        <a:t>0.636</a:t>
                      </a:r>
                      <a:endParaRPr lang="en-US" sz="1050" dirty="0">
                        <a:latin typeface="Calibri" charset="0"/>
                        <a:ea typeface="Calibri" charset="0"/>
                        <a:cs typeface="Calibri" charset="0"/>
                      </a:endParaRPr>
                    </a:p>
                  </a:txBody>
                  <a:tcPr marL="91440" marR="91440" marT="45720" marB="45720">
                    <a:lnL w="6350" cap="flat" cmpd="sng" algn="ctr">
                      <a:solidFill>
                        <a:srgbClr val="D0D7E5"/>
                      </a:solidFill>
                      <a:prstDash val="solid"/>
                      <a:round/>
                      <a:headEnd type="none" w="med" len="med"/>
                      <a:tailEnd type="none" w="med" len="med"/>
                    </a:lnL>
                    <a:lnR w="6350" cap="flat" cmpd="sng" algn="ctr">
                      <a:solidFill>
                        <a:srgbClr val="D0D7E5"/>
                      </a:solidFill>
                      <a:prstDash val="solid"/>
                      <a:round/>
                      <a:headEnd type="none" w="med" len="med"/>
                      <a:tailEnd type="none" w="med" len="med"/>
                    </a:lnR>
                    <a:lnT w="6350" cap="flat" cmpd="sng" algn="ctr">
                      <a:solidFill>
                        <a:srgbClr val="D0D7E5"/>
                      </a:solidFill>
                      <a:prstDash val="solid"/>
                      <a:round/>
                      <a:headEnd type="none" w="med" len="med"/>
                      <a:tailEnd type="none" w="med" len="med"/>
                    </a:lnT>
                    <a:lnB w="6350" cap="flat" cmpd="sng" algn="ctr">
                      <a:solidFill>
                        <a:srgbClr val="D0D7E5"/>
                      </a:solidFill>
                      <a:prstDash val="solid"/>
                      <a:round/>
                      <a:headEnd type="none" w="med" len="med"/>
                      <a:tailEnd type="none" w="med" len="med"/>
                    </a:lnB>
                  </a:tcPr>
                </a:tc>
                <a:tc>
                  <a:txBody>
                    <a:bodyPr/>
                    <a:lstStyle/>
                    <a:p>
                      <a:pPr algn="ctr" indent="0" marL="0">
                        <a:buNone/>
                      </a:pPr>
                      <a:r>
                        <a:rPr lang="en-US" sz="1050" dirty="0">
                          <a:solidFill>
                            <a:srgbClr val="000000"/>
                          </a:solidFill>
                          <a:latin typeface="Calibri" pitchFamily="34" charset="0"/>
                          <a:ea typeface="Calibri" pitchFamily="34" charset="-122"/>
                          <a:cs typeface="Calibri" pitchFamily="34" charset="-120"/>
                        </a:rPr>
                        <a:t>0.224</a:t>
                      </a:r>
                      <a:endParaRPr lang="en-US" sz="1050" dirty="0">
                        <a:latin typeface="Calibri" charset="0"/>
                        <a:ea typeface="Calibri" charset="0"/>
                        <a:cs typeface="Calibri" charset="0"/>
                      </a:endParaRPr>
                    </a:p>
                  </a:txBody>
                  <a:tcPr marL="91440" marR="91440" marT="45720" marB="45720">
                    <a:lnL w="6350" cap="flat" cmpd="sng" algn="ctr">
                      <a:solidFill>
                        <a:srgbClr val="D0D7E5"/>
                      </a:solidFill>
                      <a:prstDash val="solid"/>
                      <a:round/>
                      <a:headEnd type="none" w="med" len="med"/>
                      <a:tailEnd type="none" w="med" len="med"/>
                    </a:lnL>
                    <a:lnR w="6350" cap="flat" cmpd="sng" algn="ctr">
                      <a:solidFill>
                        <a:srgbClr val="D0D7E5"/>
                      </a:solidFill>
                      <a:prstDash val="solid"/>
                      <a:round/>
                      <a:headEnd type="none" w="med" len="med"/>
                      <a:tailEnd type="none" w="med" len="med"/>
                    </a:lnR>
                    <a:lnT w="6350" cap="flat" cmpd="sng" algn="ctr">
                      <a:solidFill>
                        <a:srgbClr val="D0D7E5"/>
                      </a:solidFill>
                      <a:prstDash val="solid"/>
                      <a:round/>
                      <a:headEnd type="none" w="med" len="med"/>
                      <a:tailEnd type="none" w="med" len="med"/>
                    </a:lnT>
                    <a:lnB w="6350" cap="flat" cmpd="sng" algn="ctr">
                      <a:solidFill>
                        <a:srgbClr val="D0D7E5"/>
                      </a:solidFill>
                      <a:prstDash val="solid"/>
                      <a:round/>
                      <a:headEnd type="none" w="med" len="med"/>
                      <a:tailEnd type="none" w="med" len="med"/>
                    </a:lnB>
                  </a:tcPr>
                </a:tc>
                <a:tc>
                  <a:txBody>
                    <a:bodyPr/>
                    <a:lstStyle/>
                    <a:p>
                      <a:pPr algn="ctr" indent="0" marL="0">
                        <a:buNone/>
                      </a:pPr>
                      <a:r>
                        <a:rPr lang="en-US" sz="1050" dirty="0">
                          <a:solidFill>
                            <a:srgbClr val="000000"/>
                          </a:solidFill>
                          <a:latin typeface="Calibri" pitchFamily="34" charset="0"/>
                          <a:ea typeface="Calibri" pitchFamily="34" charset="-122"/>
                          <a:cs typeface="Calibri" pitchFamily="34" charset="-120"/>
                        </a:rPr>
                        <a:t>0.060</a:t>
                      </a:r>
                      <a:endParaRPr lang="en-US" sz="1050" dirty="0">
                        <a:latin typeface="Calibri" charset="0"/>
                        <a:ea typeface="Calibri" charset="0"/>
                        <a:cs typeface="Calibri" charset="0"/>
                      </a:endParaRPr>
                    </a:p>
                  </a:txBody>
                  <a:tcPr marL="91440" marR="91440" marT="45720" marB="45720">
                    <a:lnL w="6350" cap="flat" cmpd="sng" algn="ctr">
                      <a:solidFill>
                        <a:srgbClr val="D0D7E5"/>
                      </a:solidFill>
                      <a:prstDash val="solid"/>
                      <a:round/>
                      <a:headEnd type="none" w="med" len="med"/>
                      <a:tailEnd type="none" w="med" len="med"/>
                    </a:lnL>
                    <a:lnR w="6350" cap="flat" cmpd="sng" algn="ctr">
                      <a:solidFill>
                        <a:srgbClr val="D0D7E5"/>
                      </a:solidFill>
                      <a:prstDash val="solid"/>
                      <a:round/>
                      <a:headEnd type="none" w="med" len="med"/>
                      <a:tailEnd type="none" w="med" len="med"/>
                    </a:lnR>
                    <a:lnT w="6350" cap="flat" cmpd="sng" algn="ctr">
                      <a:solidFill>
                        <a:srgbClr val="D0D7E5"/>
                      </a:solidFill>
                      <a:prstDash val="solid"/>
                      <a:round/>
                      <a:headEnd type="none" w="med" len="med"/>
                      <a:tailEnd type="none" w="med" len="med"/>
                    </a:lnT>
                    <a:lnB w="6350" cap="flat" cmpd="sng" algn="ctr">
                      <a:solidFill>
                        <a:srgbClr val="D0D7E5"/>
                      </a:solidFill>
                      <a:prstDash val="solid"/>
                      <a:round/>
                      <a:headEnd type="none" w="med" len="med"/>
                      <a:tailEnd type="none" w="med" len="med"/>
                    </a:lnB>
                  </a:tcPr>
                </a:tc>
              </a:tr>
              <a:tr h="320040">
                <a:tc>
                  <a:txBody>
                    <a:bodyPr/>
                    <a:lstStyle/>
                    <a:p>
                      <a:pPr algn="ctr" indent="0" marL="0">
                        <a:buNone/>
                      </a:pPr>
                      <a:r>
                        <a:rPr lang="en-US" sz="1050" b="1" dirty="0">
                          <a:solidFill>
                            <a:srgbClr val="000000"/>
                          </a:solidFill>
                          <a:latin typeface="Calibri" pitchFamily="34" charset="0"/>
                          <a:ea typeface="Calibri" pitchFamily="34" charset="-122"/>
                          <a:cs typeface="Calibri" pitchFamily="34" charset="-120"/>
                        </a:rPr>
                        <a:t>M2.5: EBM ★</a:t>
                      </a:r>
                      <a:endParaRPr lang="en-US" sz="1050" dirty="0">
                        <a:latin typeface="Calibri" charset="0"/>
                        <a:ea typeface="Calibri" charset="0"/>
                        <a:cs typeface="Calibri" charset="0"/>
                      </a:endParaRPr>
                    </a:p>
                  </a:txBody>
                  <a:tcPr marL="91440" marR="91440" marT="45720" marB="45720">
                    <a:lnL w="6350" cap="flat" cmpd="sng" algn="ctr">
                      <a:solidFill>
                        <a:srgbClr val="D0D7E5"/>
                      </a:solidFill>
                      <a:prstDash val="solid"/>
                      <a:round/>
                      <a:headEnd type="none" w="med" len="med"/>
                      <a:tailEnd type="none" w="med" len="med"/>
                    </a:lnL>
                    <a:lnR w="6350" cap="flat" cmpd="sng" algn="ctr">
                      <a:solidFill>
                        <a:srgbClr val="D0D7E5"/>
                      </a:solidFill>
                      <a:prstDash val="solid"/>
                      <a:round/>
                      <a:headEnd type="none" w="med" len="med"/>
                      <a:tailEnd type="none" w="med" len="med"/>
                    </a:lnR>
                    <a:lnT w="6350" cap="flat" cmpd="sng" algn="ctr">
                      <a:solidFill>
                        <a:srgbClr val="D0D7E5"/>
                      </a:solidFill>
                      <a:prstDash val="solid"/>
                      <a:round/>
                      <a:headEnd type="none" w="med" len="med"/>
                      <a:tailEnd type="none" w="med" len="med"/>
                    </a:lnT>
                    <a:lnB w="6350" cap="flat" cmpd="sng" algn="ctr">
                      <a:solidFill>
                        <a:srgbClr val="D0D7E5"/>
                      </a:solidFill>
                      <a:prstDash val="solid"/>
                      <a:round/>
                      <a:headEnd type="none" w="med" len="med"/>
                      <a:tailEnd type="none" w="med" len="med"/>
                    </a:lnB>
                  </a:tcPr>
                </a:tc>
                <a:tc>
                  <a:txBody>
                    <a:bodyPr/>
                    <a:lstStyle/>
                    <a:p>
                      <a:pPr algn="ctr" indent="0" marL="0">
                        <a:buNone/>
                      </a:pPr>
                      <a:r>
                        <a:rPr lang="en-US" sz="1050" b="1" dirty="0">
                          <a:solidFill>
                            <a:srgbClr val="1D7A4A"/>
                          </a:solidFill>
                          <a:latin typeface="Calibri" pitchFamily="34" charset="0"/>
                          <a:ea typeface="Calibri" pitchFamily="34" charset="-122"/>
                          <a:cs typeface="Calibri" pitchFamily="34" charset="-120"/>
                        </a:rPr>
                        <a:t>0.753</a:t>
                      </a:r>
                      <a:endParaRPr lang="en-US" sz="1050" dirty="0">
                        <a:latin typeface="Calibri" charset="0"/>
                        <a:ea typeface="Calibri" charset="0"/>
                        <a:cs typeface="Calibri" charset="0"/>
                      </a:endParaRPr>
                    </a:p>
                  </a:txBody>
                  <a:tcPr marL="91440" marR="91440" marT="45720" marB="45720">
                    <a:lnL w="6350" cap="flat" cmpd="sng" algn="ctr">
                      <a:solidFill>
                        <a:srgbClr val="D0D7E5"/>
                      </a:solidFill>
                      <a:prstDash val="solid"/>
                      <a:round/>
                      <a:headEnd type="none" w="med" len="med"/>
                      <a:tailEnd type="none" w="med" len="med"/>
                    </a:lnL>
                    <a:lnR w="6350" cap="flat" cmpd="sng" algn="ctr">
                      <a:solidFill>
                        <a:srgbClr val="D0D7E5"/>
                      </a:solidFill>
                      <a:prstDash val="solid"/>
                      <a:round/>
                      <a:headEnd type="none" w="med" len="med"/>
                      <a:tailEnd type="none" w="med" len="med"/>
                    </a:lnR>
                    <a:lnT w="6350" cap="flat" cmpd="sng" algn="ctr">
                      <a:solidFill>
                        <a:srgbClr val="D0D7E5"/>
                      </a:solidFill>
                      <a:prstDash val="solid"/>
                      <a:round/>
                      <a:headEnd type="none" w="med" len="med"/>
                      <a:tailEnd type="none" w="med" len="med"/>
                    </a:lnT>
                    <a:lnB w="6350" cap="flat" cmpd="sng" algn="ctr">
                      <a:solidFill>
                        <a:srgbClr val="D0D7E5"/>
                      </a:solidFill>
                      <a:prstDash val="solid"/>
                      <a:round/>
                      <a:headEnd type="none" w="med" len="med"/>
                      <a:tailEnd type="none" w="med" len="med"/>
                    </a:lnB>
                  </a:tcPr>
                </a:tc>
                <a:tc>
                  <a:txBody>
                    <a:bodyPr/>
                    <a:lstStyle/>
                    <a:p>
                      <a:pPr algn="ctr" indent="0" marL="0">
                        <a:buNone/>
                      </a:pPr>
                      <a:r>
                        <a:rPr lang="en-US" sz="1050" b="1" dirty="0">
                          <a:solidFill>
                            <a:srgbClr val="1D7A4A"/>
                          </a:solidFill>
                          <a:latin typeface="Calibri" pitchFamily="34" charset="0"/>
                          <a:ea typeface="Calibri" pitchFamily="34" charset="-122"/>
                          <a:cs typeface="Calibri" pitchFamily="34" charset="-120"/>
                        </a:rPr>
                        <a:t>0.273</a:t>
                      </a:r>
                      <a:endParaRPr lang="en-US" sz="1050" dirty="0">
                        <a:latin typeface="Calibri" charset="0"/>
                        <a:ea typeface="Calibri" charset="0"/>
                        <a:cs typeface="Calibri" charset="0"/>
                      </a:endParaRPr>
                    </a:p>
                  </a:txBody>
                  <a:tcPr marL="91440" marR="91440" marT="45720" marB="45720">
                    <a:lnL w="6350" cap="flat" cmpd="sng" algn="ctr">
                      <a:solidFill>
                        <a:srgbClr val="D0D7E5"/>
                      </a:solidFill>
                      <a:prstDash val="solid"/>
                      <a:round/>
                      <a:headEnd type="none" w="med" len="med"/>
                      <a:tailEnd type="none" w="med" len="med"/>
                    </a:lnL>
                    <a:lnR w="6350" cap="flat" cmpd="sng" algn="ctr">
                      <a:solidFill>
                        <a:srgbClr val="D0D7E5"/>
                      </a:solidFill>
                      <a:prstDash val="solid"/>
                      <a:round/>
                      <a:headEnd type="none" w="med" len="med"/>
                      <a:tailEnd type="none" w="med" len="med"/>
                    </a:lnR>
                    <a:lnT w="6350" cap="flat" cmpd="sng" algn="ctr">
                      <a:solidFill>
                        <a:srgbClr val="D0D7E5"/>
                      </a:solidFill>
                      <a:prstDash val="solid"/>
                      <a:round/>
                      <a:headEnd type="none" w="med" len="med"/>
                      <a:tailEnd type="none" w="med" len="med"/>
                    </a:lnT>
                    <a:lnB w="6350" cap="flat" cmpd="sng" algn="ctr">
                      <a:solidFill>
                        <a:srgbClr val="D0D7E5"/>
                      </a:solidFill>
                      <a:prstDash val="solid"/>
                      <a:round/>
                      <a:headEnd type="none" w="med" len="med"/>
                      <a:tailEnd type="none" w="med" len="med"/>
                    </a:lnB>
                  </a:tcPr>
                </a:tc>
                <a:tc>
                  <a:txBody>
                    <a:bodyPr/>
                    <a:lstStyle/>
                    <a:p>
                      <a:pPr algn="ctr" indent="0" marL="0">
                        <a:buNone/>
                      </a:pPr>
                      <a:r>
                        <a:rPr lang="en-US" sz="1050" b="1" dirty="0">
                          <a:solidFill>
                            <a:srgbClr val="000000"/>
                          </a:solidFill>
                          <a:latin typeface="Calibri" pitchFamily="34" charset="0"/>
                          <a:ea typeface="Calibri" pitchFamily="34" charset="-122"/>
                          <a:cs typeface="Calibri" pitchFamily="34" charset="-120"/>
                        </a:rPr>
                        <a:t>0.064</a:t>
                      </a:r>
                      <a:endParaRPr lang="en-US" sz="1050" dirty="0">
                        <a:latin typeface="Calibri" charset="0"/>
                        <a:ea typeface="Calibri" charset="0"/>
                        <a:cs typeface="Calibri" charset="0"/>
                      </a:endParaRPr>
                    </a:p>
                  </a:txBody>
                  <a:tcPr marL="91440" marR="91440" marT="45720" marB="45720">
                    <a:lnL w="6350" cap="flat" cmpd="sng" algn="ctr">
                      <a:solidFill>
                        <a:srgbClr val="D0D7E5"/>
                      </a:solidFill>
                      <a:prstDash val="solid"/>
                      <a:round/>
                      <a:headEnd type="none" w="med" len="med"/>
                      <a:tailEnd type="none" w="med" len="med"/>
                    </a:lnL>
                    <a:lnR w="6350" cap="flat" cmpd="sng" algn="ctr">
                      <a:solidFill>
                        <a:srgbClr val="D0D7E5"/>
                      </a:solidFill>
                      <a:prstDash val="solid"/>
                      <a:round/>
                      <a:headEnd type="none" w="med" len="med"/>
                      <a:tailEnd type="none" w="med" len="med"/>
                    </a:lnR>
                    <a:lnT w="6350" cap="flat" cmpd="sng" algn="ctr">
                      <a:solidFill>
                        <a:srgbClr val="D0D7E5"/>
                      </a:solidFill>
                      <a:prstDash val="solid"/>
                      <a:round/>
                      <a:headEnd type="none" w="med" len="med"/>
                      <a:tailEnd type="none" w="med" len="med"/>
                    </a:lnT>
                    <a:lnB w="6350" cap="flat" cmpd="sng" algn="ctr">
                      <a:solidFill>
                        <a:srgbClr val="D0D7E5"/>
                      </a:solidFill>
                      <a:prstDash val="solid"/>
                      <a:round/>
                      <a:headEnd type="none" w="med" len="med"/>
                      <a:tailEnd type="none" w="med" len="med"/>
                    </a:lnB>
                  </a:tcPr>
                </a:tc>
              </a:tr>
            </a:tbl>
          </a:graphicData>
        </a:graphic>
      </p:graphicFrame>
      <p:sp>
        <p:nvSpPr>
          <p:cNvPr id="8" name="Shape 4"/>
          <p:cNvSpPr/>
          <p:nvPr/>
        </p:nvSpPr>
        <p:spPr>
          <a:xfrm>
            <a:off x="5623560" y="2487168"/>
            <a:ext cx="3337560" cy="1783080"/>
          </a:xfrm>
          <a:prstGeom prst="rect">
            <a:avLst/>
          </a:prstGeom>
          <a:solidFill>
            <a:srgbClr val="F0F4F9"/>
          </a:solidFill>
          <a:ln w="19050">
            <a:solidFill>
              <a:srgbClr val="2E6DB4"/>
            </a:solidFill>
            <a:prstDash val="solid"/>
          </a:ln>
          <a:effectLst>
            <a:outerShdw sx="100000" sy="100000" kx="0" ky="0" algn="bl" rotWithShape="0" blurRad="101600" dist="38100" dir="8100000">
              <a:srgbClr val="000000">
                <a:alpha val="13000"/>
              </a:srgbClr>
            </a:outerShdw>
          </a:effectLst>
        </p:spPr>
      </p:sp>
      <p:sp>
        <p:nvSpPr>
          <p:cNvPr id="9" name="Shape 5"/>
          <p:cNvSpPr/>
          <p:nvPr/>
        </p:nvSpPr>
        <p:spPr>
          <a:xfrm>
            <a:off x="5623560" y="2487168"/>
            <a:ext cx="3337560" cy="301752"/>
          </a:xfrm>
          <a:prstGeom prst="rect">
            <a:avLst/>
          </a:prstGeom>
          <a:solidFill>
            <a:srgbClr val="2E6DB4"/>
          </a:solidFill>
          <a:ln w="12700">
            <a:solidFill>
              <a:srgbClr val="2E6DB4"/>
            </a:solidFill>
            <a:prstDash val="solid"/>
          </a:ln>
        </p:spPr>
      </p:sp>
      <p:sp>
        <p:nvSpPr>
          <p:cNvPr id="10" name="Text 6"/>
          <p:cNvSpPr/>
          <p:nvPr/>
        </p:nvSpPr>
        <p:spPr>
          <a:xfrm>
            <a:off x="5678424" y="2487168"/>
            <a:ext cx="3246120" cy="301752"/>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Key observation</a:t>
            </a:r>
            <a:endParaRPr lang="en-US" sz="1100" dirty="0"/>
          </a:p>
        </p:txBody>
      </p:sp>
      <p:sp>
        <p:nvSpPr>
          <p:cNvPr id="11" name="Text 7"/>
          <p:cNvSpPr/>
          <p:nvPr/>
        </p:nvSpPr>
        <p:spPr>
          <a:xfrm>
            <a:off x="5715000" y="2816352"/>
            <a:ext cx="3172968" cy="1399032"/>
          </a:xfrm>
          <a:prstGeom prst="rect">
            <a:avLst/>
          </a:prstGeom>
          <a:noFill/>
          <a:ln/>
        </p:spPr>
        <p:txBody>
          <a:bodyPr wrap="square" lIns="25400" tIns="25400" rIns="25400" bIns="25400" rtlCol="0" anchor="t"/>
          <a:lstStyle/>
          <a:p>
            <a:pPr algn="l" indent="0" marL="0">
              <a:buNone/>
            </a:pPr>
            <a:r>
              <a:rPr lang="en-US" sz="1000" dirty="0">
                <a:solidFill>
                  <a:srgbClr val="2D3748"/>
                </a:solidFill>
                <a:latin typeface="Calibri" pitchFamily="34" charset="0"/>
                <a:ea typeface="Calibri" pitchFamily="34" charset="-122"/>
                <a:cs typeface="Calibri" pitchFamily="34" charset="-120"/>
              </a:rPr>
              <a:t>EBM achieves AUROC 0.753 — meeting the 0.75 benchmark — with identical features and CV design as M2 RF (AUROC 0.636). The AUROC gap of +0.117 has partially overlapping CIs. This is promising but subject to the same evaluation bias as all expanding-window figures.</a:t>
            </a:r>
            <a:endParaRPr lang="en-US" sz="1000" dirty="0"/>
          </a:p>
        </p:txBody>
      </p:sp>
      <p:sp>
        <p:nvSpPr>
          <p:cNvPr id="12" name="Shape 8"/>
          <p:cNvSpPr/>
          <p:nvPr/>
        </p:nvSpPr>
        <p:spPr>
          <a:xfrm>
            <a:off x="256032" y="4718304"/>
            <a:ext cx="8686800" cy="320040"/>
          </a:xfrm>
          <a:prstGeom prst="rect">
            <a:avLst/>
          </a:prstGeom>
          <a:solidFill>
            <a:srgbClr val="0D1B3E"/>
          </a:solidFill>
          <a:ln w="12700">
            <a:solidFill>
              <a:srgbClr val="0D1B3E"/>
            </a:solidFill>
            <a:prstDash val="solid"/>
          </a:ln>
        </p:spPr>
      </p:sp>
      <p:sp>
        <p:nvSpPr>
          <p:cNvPr id="13" name="Shape 9"/>
          <p:cNvSpPr/>
          <p:nvPr/>
        </p:nvSpPr>
        <p:spPr>
          <a:xfrm>
            <a:off x="256032" y="4718304"/>
            <a:ext cx="411480" cy="320040"/>
          </a:xfrm>
          <a:prstGeom prst="rect">
            <a:avLst/>
          </a:prstGeom>
          <a:solidFill>
            <a:srgbClr val="E8A020"/>
          </a:solidFill>
          <a:ln w="12700">
            <a:solidFill>
              <a:srgbClr val="E8A020"/>
            </a:solidFill>
            <a:prstDash val="solid"/>
          </a:ln>
        </p:spPr>
      </p:sp>
      <p:sp>
        <p:nvSpPr>
          <p:cNvPr id="14" name="Text 10"/>
          <p:cNvSpPr/>
          <p:nvPr/>
        </p:nvSpPr>
        <p:spPr>
          <a:xfrm>
            <a:off x="731520" y="4718304"/>
            <a:ext cx="8183880" cy="320040"/>
          </a:xfrm>
          <a:prstGeom prst="rect">
            <a:avLst/>
          </a:prstGeom>
          <a:noFill/>
          <a:ln/>
        </p:spPr>
        <p:txBody>
          <a:bodyPr wrap="square" lIns="38100" tIns="38100" rIns="38100" bIns="38100" rtlCol="0" anchor="ctr"/>
          <a:lstStyle/>
          <a:p>
            <a:pPr algn="l" indent="0" marL="0">
              <a:buNone/>
            </a:pPr>
            <a:r>
              <a:rPr lang="en-US" sz="950" i="1" dirty="0">
                <a:solidFill>
                  <a:srgbClr val="FFFFFF"/>
                </a:solidFill>
                <a:latin typeface="Calibri" pitchFamily="34" charset="0"/>
                <a:ea typeface="Calibri" pitchFamily="34" charset="-122"/>
                <a:cs typeface="Calibri" pitchFamily="34" charset="-120"/>
              </a:rPr>
              <a:t>All metrics are upper bounds on prospective performance — strict temporal validation in Slide 5 reveals the true picture.</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8A020"/>
          </a:solidFill>
          <a:ln w="12700">
            <a:solidFill>
              <a:srgbClr val="E8A020"/>
            </a:solidFill>
            <a:prstDash val="solid"/>
          </a:ln>
        </p:spPr>
      </p:sp>
      <p:sp>
        <p:nvSpPr>
          <p:cNvPr id="3" name="Text 1"/>
          <p:cNvSpPr/>
          <p:nvPr/>
        </p:nvSpPr>
        <p:spPr>
          <a:xfrm>
            <a:off x="256032" y="118872"/>
            <a:ext cx="8686800" cy="566928"/>
          </a:xfrm>
          <a:prstGeom prst="rect">
            <a:avLst/>
          </a:prstGeom>
          <a:noFill/>
          <a:ln/>
        </p:spPr>
        <p:txBody>
          <a:bodyPr wrap="square" lIns="0" tIns="0" rIns="0" bIns="0" rtlCol="0" anchor="ctr"/>
          <a:lstStyle/>
          <a:p>
            <a:pPr algn="l" indent="0" marL="0">
              <a:buNone/>
            </a:pPr>
            <a:r>
              <a:rPr lang="en-US" sz="2600" b="1" dirty="0">
                <a:solidFill>
                  <a:srgbClr val="0D1B3E"/>
                </a:solidFill>
                <a:latin typeface="Calibri" pitchFamily="34" charset="0"/>
                <a:ea typeface="Calibri" pitchFamily="34" charset="-122"/>
                <a:cs typeface="Calibri" pitchFamily="34" charset="-120"/>
              </a:rPr>
              <a:t>The Prospective Collapse: Why EBM Fails Hardest</a:t>
            </a:r>
            <a:endParaRPr lang="en-US" sz="2600" dirty="0"/>
          </a:p>
        </p:txBody>
      </p:sp>
      <p:sp>
        <p:nvSpPr>
          <p:cNvPr id="4" name="Text 2"/>
          <p:cNvSpPr/>
          <p:nvPr/>
        </p:nvSpPr>
        <p:spPr>
          <a:xfrm>
            <a:off x="256032" y="685800"/>
            <a:ext cx="8686800" cy="274320"/>
          </a:xfrm>
          <a:prstGeom prst="rect">
            <a:avLst/>
          </a:prstGeom>
          <a:noFill/>
          <a:ln/>
        </p:spPr>
        <p:txBody>
          <a:bodyPr wrap="square" lIns="0" tIns="0" rIns="0" bIns="0" rtlCol="0" anchor="t"/>
          <a:lstStyle/>
          <a:p>
            <a:pPr algn="l" indent="0" marL="0">
              <a:buNone/>
            </a:pPr>
            <a:r>
              <a:rPr lang="en-US" sz="1200" i="1" dirty="0">
                <a:solidFill>
                  <a:srgbClr val="2E6DB4"/>
                </a:solidFill>
                <a:latin typeface="Calibri" pitchFamily="34" charset="0"/>
                <a:ea typeface="Calibri" pitchFamily="34" charset="-122"/>
                <a:cs typeface="Calibri" pitchFamily="34" charset="-120"/>
              </a:rPr>
              <a:t>Strict temporal validation — the primary empirical finding</a:t>
            </a:r>
            <a:endParaRPr lang="en-US" sz="1200" dirty="0"/>
          </a:p>
        </p:txBody>
      </p:sp>
      <p:sp>
        <p:nvSpPr>
          <p:cNvPr id="5" name="Shape 3"/>
          <p:cNvSpPr/>
          <p:nvPr/>
        </p:nvSpPr>
        <p:spPr>
          <a:xfrm>
            <a:off x="256032" y="987552"/>
            <a:ext cx="8686800" cy="0"/>
          </a:xfrm>
          <a:prstGeom prst="line">
            <a:avLst/>
          </a:prstGeom>
          <a:noFill/>
          <a:ln w="10160">
            <a:solidFill>
              <a:srgbClr val="D6E4F7"/>
            </a:solidFill>
            <a:prstDash val="solid"/>
          </a:ln>
        </p:spPr>
      </p:sp>
      <p:sp>
        <p:nvSpPr>
          <p:cNvPr id="6" name="Shape 4"/>
          <p:cNvSpPr/>
          <p:nvPr/>
        </p:nvSpPr>
        <p:spPr>
          <a:xfrm>
            <a:off x="256032" y="1097280"/>
            <a:ext cx="4160520" cy="2926080"/>
          </a:xfrm>
          <a:prstGeom prst="rect">
            <a:avLst/>
          </a:prstGeom>
          <a:solidFill>
            <a:srgbClr val="FFF3F3"/>
          </a:solidFill>
          <a:ln w="25400">
            <a:solidFill>
              <a:srgbClr val="C0392B"/>
            </a:solidFill>
            <a:prstDash val="solid"/>
          </a:ln>
          <a:effectLst>
            <a:outerShdw sx="100000" sy="100000" kx="0" ky="0" algn="bl" rotWithShape="0" blurRad="101600" dist="38100" dir="8100000">
              <a:srgbClr val="000000">
                <a:alpha val="13000"/>
              </a:srgbClr>
            </a:outerShdw>
          </a:effectLst>
        </p:spPr>
      </p:sp>
      <p:sp>
        <p:nvSpPr>
          <p:cNvPr id="7" name="Shape 5"/>
          <p:cNvSpPr/>
          <p:nvPr/>
        </p:nvSpPr>
        <p:spPr>
          <a:xfrm>
            <a:off x="256032" y="1097280"/>
            <a:ext cx="4160520" cy="347472"/>
          </a:xfrm>
          <a:prstGeom prst="rect">
            <a:avLst/>
          </a:prstGeom>
          <a:solidFill>
            <a:srgbClr val="C0392B"/>
          </a:solidFill>
          <a:ln w="12700">
            <a:solidFill>
              <a:srgbClr val="C0392B"/>
            </a:solidFill>
            <a:prstDash val="solid"/>
          </a:ln>
        </p:spPr>
      </p:sp>
      <p:sp>
        <p:nvSpPr>
          <p:cNvPr id="8" name="Text 6"/>
          <p:cNvSpPr/>
          <p:nvPr/>
        </p:nvSpPr>
        <p:spPr>
          <a:xfrm>
            <a:off x="347472" y="1097280"/>
            <a:ext cx="3977640" cy="347472"/>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M2: Random Forest — Split B</a:t>
            </a:r>
            <a:endParaRPr lang="en-US" sz="1100" dirty="0"/>
          </a:p>
        </p:txBody>
      </p:sp>
      <p:sp>
        <p:nvSpPr>
          <p:cNvPr id="9" name="Text 7"/>
          <p:cNvSpPr/>
          <p:nvPr/>
        </p:nvSpPr>
        <p:spPr>
          <a:xfrm>
            <a:off x="256032" y="1508760"/>
            <a:ext cx="4160520" cy="365760"/>
          </a:xfrm>
          <a:prstGeom prst="rect">
            <a:avLst/>
          </a:prstGeom>
          <a:noFill/>
          <a:ln/>
        </p:spPr>
        <p:txBody>
          <a:bodyPr wrap="square" lIns="0" tIns="0" rIns="0" bIns="0" rtlCol="0" anchor="ctr"/>
          <a:lstStyle/>
          <a:p>
            <a:pPr algn="ctr" indent="0" marL="0">
              <a:buNone/>
            </a:pPr>
            <a:r>
              <a:rPr lang="en-US" sz="1300" dirty="0">
                <a:solidFill>
                  <a:srgbClr val="64748B"/>
                </a:solidFill>
                <a:latin typeface="Calibri" pitchFamily="34" charset="0"/>
                <a:ea typeface="Calibri" pitchFamily="34" charset="-122"/>
                <a:cs typeface="Calibri" pitchFamily="34" charset="-120"/>
              </a:rPr>
              <a:t>AUROC</a:t>
            </a:r>
            <a:endParaRPr lang="en-US" sz="1300" dirty="0"/>
          </a:p>
        </p:txBody>
      </p:sp>
      <p:sp>
        <p:nvSpPr>
          <p:cNvPr id="10" name="Text 8"/>
          <p:cNvSpPr/>
          <p:nvPr/>
        </p:nvSpPr>
        <p:spPr>
          <a:xfrm>
            <a:off x="256032" y="1828800"/>
            <a:ext cx="4160520" cy="868680"/>
          </a:xfrm>
          <a:prstGeom prst="rect">
            <a:avLst/>
          </a:prstGeom>
          <a:noFill/>
          <a:ln/>
        </p:spPr>
        <p:txBody>
          <a:bodyPr wrap="square" lIns="0" tIns="0" rIns="0" bIns="0" rtlCol="0" anchor="ctr"/>
          <a:lstStyle/>
          <a:p>
            <a:pPr algn="ctr" indent="0" marL="0">
              <a:buNone/>
            </a:pPr>
            <a:r>
              <a:rPr lang="en-US" sz="6200" b="1" dirty="0">
                <a:solidFill>
                  <a:srgbClr val="C0392B"/>
                </a:solidFill>
                <a:latin typeface="Calibri" pitchFamily="34" charset="0"/>
                <a:ea typeface="Calibri" pitchFamily="34" charset="-122"/>
                <a:cs typeface="Calibri" pitchFamily="34" charset="-120"/>
              </a:rPr>
              <a:t>0.481</a:t>
            </a:r>
            <a:endParaRPr lang="en-US" sz="6200" dirty="0"/>
          </a:p>
        </p:txBody>
      </p:sp>
      <p:sp>
        <p:nvSpPr>
          <p:cNvPr id="11" name="Text 9"/>
          <p:cNvSpPr/>
          <p:nvPr/>
        </p:nvSpPr>
        <p:spPr>
          <a:xfrm>
            <a:off x="256032" y="2724912"/>
            <a:ext cx="4160520" cy="320040"/>
          </a:xfrm>
          <a:prstGeom prst="rect">
            <a:avLst/>
          </a:prstGeom>
          <a:noFill/>
          <a:ln/>
        </p:spPr>
        <p:txBody>
          <a:bodyPr wrap="square" lIns="0" tIns="0" rIns="0" bIns="0" rtlCol="0" anchor="ctr"/>
          <a:lstStyle/>
          <a:p>
            <a:pPr algn="ctr" indent="0" marL="0">
              <a:buNone/>
            </a:pPr>
            <a:r>
              <a:rPr lang="en-US" sz="950" i="1" dirty="0">
                <a:solidFill>
                  <a:srgbClr val="64748B"/>
                </a:solidFill>
                <a:latin typeface="Calibri" pitchFamily="34" charset="0"/>
                <a:ea typeface="Calibri" pitchFamily="34" charset="-122"/>
                <a:cs typeface="Calibri" pitchFamily="34" charset="-120"/>
              </a:rPr>
              <a:t>Below random (0.5) · Train 1988–2002 · Test 2003–2011</a:t>
            </a:r>
            <a:endParaRPr lang="en-US" sz="950" dirty="0"/>
          </a:p>
        </p:txBody>
      </p:sp>
      <p:sp>
        <p:nvSpPr>
          <p:cNvPr id="12" name="Shape 10"/>
          <p:cNvSpPr/>
          <p:nvPr/>
        </p:nvSpPr>
        <p:spPr>
          <a:xfrm>
            <a:off x="4572000" y="1097280"/>
            <a:ext cx="4343400" cy="2926080"/>
          </a:xfrm>
          <a:prstGeom prst="rect">
            <a:avLst/>
          </a:prstGeom>
          <a:solidFill>
            <a:srgbClr val="FFF0EE"/>
          </a:solidFill>
          <a:ln w="31750">
            <a:solidFill>
              <a:srgbClr val="C0392B"/>
            </a:solidFill>
            <a:prstDash val="solid"/>
          </a:ln>
          <a:effectLst>
            <a:outerShdw sx="100000" sy="100000" kx="0" ky="0" algn="bl" rotWithShape="0" blurRad="101600" dist="38100" dir="8100000">
              <a:srgbClr val="000000">
                <a:alpha val="13000"/>
              </a:srgbClr>
            </a:outerShdw>
          </a:effectLst>
        </p:spPr>
      </p:sp>
      <p:sp>
        <p:nvSpPr>
          <p:cNvPr id="13" name="Shape 11"/>
          <p:cNvSpPr/>
          <p:nvPr/>
        </p:nvSpPr>
        <p:spPr>
          <a:xfrm>
            <a:off x="4572000" y="1097280"/>
            <a:ext cx="4343400" cy="347472"/>
          </a:xfrm>
          <a:prstGeom prst="rect">
            <a:avLst/>
          </a:prstGeom>
          <a:solidFill>
            <a:srgbClr val="8B0000"/>
          </a:solidFill>
          <a:ln w="12700">
            <a:solidFill>
              <a:srgbClr val="8B0000"/>
            </a:solidFill>
            <a:prstDash val="solid"/>
          </a:ln>
        </p:spPr>
      </p:sp>
      <p:sp>
        <p:nvSpPr>
          <p:cNvPr id="14" name="Text 12"/>
          <p:cNvSpPr/>
          <p:nvPr/>
        </p:nvSpPr>
        <p:spPr>
          <a:xfrm>
            <a:off x="4663440" y="1097280"/>
            <a:ext cx="4160520" cy="347472"/>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M2.5: EBM ★ — Split B</a:t>
            </a:r>
            <a:endParaRPr lang="en-US" sz="1100" dirty="0"/>
          </a:p>
        </p:txBody>
      </p:sp>
      <p:sp>
        <p:nvSpPr>
          <p:cNvPr id="15" name="Text 13"/>
          <p:cNvSpPr/>
          <p:nvPr/>
        </p:nvSpPr>
        <p:spPr>
          <a:xfrm>
            <a:off x="4572000" y="1508760"/>
            <a:ext cx="4343400" cy="365760"/>
          </a:xfrm>
          <a:prstGeom prst="rect">
            <a:avLst/>
          </a:prstGeom>
          <a:noFill/>
          <a:ln/>
        </p:spPr>
        <p:txBody>
          <a:bodyPr wrap="square" lIns="0" tIns="0" rIns="0" bIns="0" rtlCol="0" anchor="ctr"/>
          <a:lstStyle/>
          <a:p>
            <a:pPr algn="ctr" indent="0" marL="0">
              <a:buNone/>
            </a:pPr>
            <a:r>
              <a:rPr lang="en-US" sz="1300" dirty="0">
                <a:solidFill>
                  <a:srgbClr val="64748B"/>
                </a:solidFill>
                <a:latin typeface="Calibri" pitchFamily="34" charset="0"/>
                <a:ea typeface="Calibri" pitchFamily="34" charset="-122"/>
                <a:cs typeface="Calibri" pitchFamily="34" charset="-120"/>
              </a:rPr>
              <a:t>AUROC</a:t>
            </a:r>
            <a:endParaRPr lang="en-US" sz="1300" dirty="0"/>
          </a:p>
        </p:txBody>
      </p:sp>
      <p:sp>
        <p:nvSpPr>
          <p:cNvPr id="16" name="Text 14"/>
          <p:cNvSpPr/>
          <p:nvPr/>
        </p:nvSpPr>
        <p:spPr>
          <a:xfrm>
            <a:off x="4572000" y="1828800"/>
            <a:ext cx="4343400" cy="868680"/>
          </a:xfrm>
          <a:prstGeom prst="rect">
            <a:avLst/>
          </a:prstGeom>
          <a:noFill/>
          <a:ln/>
        </p:spPr>
        <p:txBody>
          <a:bodyPr wrap="square" lIns="0" tIns="0" rIns="0" bIns="0" rtlCol="0" anchor="ctr"/>
          <a:lstStyle/>
          <a:p>
            <a:pPr algn="ctr" indent="0" marL="0">
              <a:buNone/>
            </a:pPr>
            <a:r>
              <a:rPr lang="en-US" sz="6200" b="1" dirty="0">
                <a:solidFill>
                  <a:srgbClr val="8B0000"/>
                </a:solidFill>
                <a:latin typeface="Calibri" pitchFamily="34" charset="0"/>
                <a:ea typeface="Calibri" pitchFamily="34" charset="-122"/>
                <a:cs typeface="Calibri" pitchFamily="34" charset="-120"/>
              </a:rPr>
              <a:t>0.333</a:t>
            </a:r>
            <a:endParaRPr lang="en-US" sz="6200" dirty="0"/>
          </a:p>
        </p:txBody>
      </p:sp>
      <p:sp>
        <p:nvSpPr>
          <p:cNvPr id="17" name="Text 15"/>
          <p:cNvSpPr/>
          <p:nvPr/>
        </p:nvSpPr>
        <p:spPr>
          <a:xfrm>
            <a:off x="4572000" y="2724912"/>
            <a:ext cx="4343400" cy="320040"/>
          </a:xfrm>
          <a:prstGeom prst="rect">
            <a:avLst/>
          </a:prstGeom>
          <a:noFill/>
          <a:ln/>
        </p:spPr>
        <p:txBody>
          <a:bodyPr wrap="square" lIns="0" tIns="0" rIns="0" bIns="0" rtlCol="0" anchor="ctr"/>
          <a:lstStyle/>
          <a:p>
            <a:pPr algn="ctr" indent="0" marL="0">
              <a:buNone/>
            </a:pPr>
            <a:r>
              <a:rPr lang="en-US" sz="950" i="1" dirty="0">
                <a:solidFill>
                  <a:srgbClr val="64748B"/>
                </a:solidFill>
                <a:latin typeface="Calibri" pitchFamily="34" charset="0"/>
                <a:ea typeface="Calibri" pitchFamily="34" charset="-122"/>
                <a:cs typeface="Calibri" pitchFamily="34" charset="-120"/>
              </a:rPr>
              <a:t>Severely below random · Worse than RF · Most flexible = most brittle</a:t>
            </a:r>
            <a:endParaRPr lang="en-US" sz="950" dirty="0"/>
          </a:p>
        </p:txBody>
      </p:sp>
      <p:graphicFrame>
        <p:nvGraphicFramePr>
          <p:cNvPr id="18" name="Chart 0" descr=""/>
          <p:cNvGraphicFramePr/>
          <p:nvPr/>
        </p:nvGraphicFramePr>
        <p:xfrm>
          <a:off x="256032" y="4096512"/>
          <a:ext cx="8686800" cy="91440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8A020"/>
          </a:solidFill>
          <a:ln w="12700">
            <a:solidFill>
              <a:srgbClr val="E8A020"/>
            </a:solidFill>
            <a:prstDash val="solid"/>
          </a:ln>
        </p:spPr>
      </p:sp>
      <p:sp>
        <p:nvSpPr>
          <p:cNvPr id="3" name="Text 1"/>
          <p:cNvSpPr/>
          <p:nvPr/>
        </p:nvSpPr>
        <p:spPr>
          <a:xfrm>
            <a:off x="256032" y="118872"/>
            <a:ext cx="8686800" cy="566928"/>
          </a:xfrm>
          <a:prstGeom prst="rect">
            <a:avLst/>
          </a:prstGeom>
          <a:noFill/>
          <a:ln/>
        </p:spPr>
        <p:txBody>
          <a:bodyPr wrap="square" lIns="0" tIns="0" rIns="0" bIns="0" rtlCol="0" anchor="ctr"/>
          <a:lstStyle/>
          <a:p>
            <a:pPr algn="l" indent="0" marL="0">
              <a:buNone/>
            </a:pPr>
            <a:r>
              <a:rPr lang="en-US" sz="2600" b="1" dirty="0">
                <a:solidFill>
                  <a:srgbClr val="0D1B3E"/>
                </a:solidFill>
                <a:latin typeface="Calibri" pitchFamily="34" charset="0"/>
                <a:ea typeface="Calibri" pitchFamily="34" charset="-122"/>
                <a:cs typeface="Calibri" pitchFamily="34" charset="-120"/>
              </a:rPr>
              <a:t>Why EBM Fails: Shape Function Regime Instability</a:t>
            </a:r>
            <a:endParaRPr lang="en-US" sz="2600" dirty="0"/>
          </a:p>
        </p:txBody>
      </p:sp>
      <p:sp>
        <p:nvSpPr>
          <p:cNvPr id="4" name="Text 2"/>
          <p:cNvSpPr/>
          <p:nvPr/>
        </p:nvSpPr>
        <p:spPr>
          <a:xfrm>
            <a:off x="256032" y="685800"/>
            <a:ext cx="8686800" cy="274320"/>
          </a:xfrm>
          <a:prstGeom prst="rect">
            <a:avLst/>
          </a:prstGeom>
          <a:noFill/>
          <a:ln/>
        </p:spPr>
        <p:txBody>
          <a:bodyPr wrap="square" lIns="0" tIns="0" rIns="0" bIns="0" rtlCol="0" anchor="t"/>
          <a:lstStyle/>
          <a:p>
            <a:pPr algn="l" indent="0" marL="0">
              <a:buNone/>
            </a:pPr>
            <a:r>
              <a:rPr lang="en-US" sz="1200" i="1" dirty="0">
                <a:solidFill>
                  <a:srgbClr val="2E6DB4"/>
                </a:solidFill>
                <a:latin typeface="Calibri" pitchFamily="34" charset="0"/>
                <a:ea typeface="Calibri" pitchFamily="34" charset="-122"/>
                <a:cs typeface="Calibri" pitchFamily="34" charset="-120"/>
              </a:rPr>
              <a:t>Figure 4.7 — direct evidence of non-stationarity in the DGP</a:t>
            </a:r>
            <a:endParaRPr lang="en-US" sz="1200" dirty="0"/>
          </a:p>
        </p:txBody>
      </p:sp>
      <p:sp>
        <p:nvSpPr>
          <p:cNvPr id="5" name="Shape 3"/>
          <p:cNvSpPr/>
          <p:nvPr/>
        </p:nvSpPr>
        <p:spPr>
          <a:xfrm>
            <a:off x="256032" y="987552"/>
            <a:ext cx="8686800" cy="0"/>
          </a:xfrm>
          <a:prstGeom prst="line">
            <a:avLst/>
          </a:prstGeom>
          <a:noFill/>
          <a:ln w="10160">
            <a:solidFill>
              <a:srgbClr val="D6E4F7"/>
            </a:solidFill>
            <a:prstDash val="solid"/>
          </a:ln>
        </p:spPr>
      </p:sp>
      <p:sp>
        <p:nvSpPr>
          <p:cNvPr id="6" name="Shape 4"/>
          <p:cNvSpPr/>
          <p:nvPr/>
        </p:nvSpPr>
        <p:spPr>
          <a:xfrm>
            <a:off x="256032" y="1078992"/>
            <a:ext cx="5394960" cy="3246120"/>
          </a:xfrm>
          <a:prstGeom prst="rect">
            <a:avLst/>
          </a:prstGeom>
          <a:solidFill>
            <a:srgbClr val="F0F4F9"/>
          </a:solidFill>
          <a:ln w="19050">
            <a:solidFill>
              <a:srgbClr val="2E6DB4"/>
            </a:solidFill>
            <a:prstDash val="solid"/>
          </a:ln>
          <a:effectLst>
            <a:outerShdw sx="100000" sy="100000" kx="0" ky="0" algn="bl" rotWithShape="0" blurRad="101600" dist="38100" dir="8100000">
              <a:srgbClr val="000000">
                <a:alpha val="13000"/>
              </a:srgbClr>
            </a:outerShdw>
          </a:effectLst>
        </p:spPr>
      </p:sp>
      <p:sp>
        <p:nvSpPr>
          <p:cNvPr id="7" name="Text 5"/>
          <p:cNvSpPr/>
          <p:nvPr/>
        </p:nvSpPr>
        <p:spPr>
          <a:xfrm>
            <a:off x="256032" y="1078992"/>
            <a:ext cx="5394960" cy="3246120"/>
          </a:xfrm>
          <a:prstGeom prst="rect">
            <a:avLst/>
          </a:prstGeom>
          <a:noFill/>
          <a:ln/>
        </p:spPr>
        <p:txBody>
          <a:bodyPr wrap="square" lIns="0" tIns="0" rIns="0" bIns="0" rtlCol="0" anchor="ctr"/>
          <a:lstStyle/>
          <a:p>
            <a:pPr algn="ctr" indent="0" marL="0">
              <a:buNone/>
            </a:pPr>
            <a:r>
              <a:rPr lang="en-US" sz="1200" dirty="0">
                <a:solidFill>
                  <a:srgbClr val="64748B"/>
                </a:solidFill>
                <a:latin typeface="Calibri" pitchFamily="34" charset="0"/>
                <a:ea typeface="Calibri" pitchFamily="34" charset="-122"/>
                <a:cs typeface="Calibri" pitchFamily="34" charset="-120"/>
              </a:rPr>
              <a:t>INSERT FIGURE 4.7</a:t>
            </a:r>
            <a:endParaRPr lang="en-US" sz="1200" dirty="0"/>
          </a:p>
          <a:p>
            <a:pPr algn="ctr" indent="0" marL="0">
              <a:buNone/>
            </a:pPr>
            <a:endParaRPr lang="en-US" sz="1200" dirty="0"/>
          </a:p>
          <a:p>
            <a:pPr algn="ctr" indent="0" marL="0">
              <a:buNone/>
            </a:pPr>
            <a:r>
              <a:rPr lang="en-US" sz="1200" dirty="0">
                <a:solidFill>
                  <a:srgbClr val="64748B"/>
                </a:solidFill>
                <a:latin typeface="Calibri" pitchFamily="34" charset="0"/>
                <a:ea typeface="Calibri" pitchFamily="34" charset="-122"/>
                <a:cs typeface="Calibri" pitchFamily="34" charset="-120"/>
              </a:rPr>
              <a:t>EBM shape functions:</a:t>
            </a:r>
            <a:endParaRPr lang="en-US" sz="1200" dirty="0"/>
          </a:p>
          <a:p>
            <a:pPr algn="ctr" indent="0" marL="0">
              <a:buNone/>
            </a:pPr>
            <a:r>
              <a:rPr lang="en-US" sz="1200" dirty="0">
                <a:solidFill>
                  <a:srgbClr val="64748B"/>
                </a:solidFill>
                <a:latin typeface="Calibri" pitchFamily="34" charset="0"/>
                <a:ea typeface="Calibri" pitchFamily="34" charset="-122"/>
                <a:cs typeface="Calibri" pitchFamily="34" charset="-120"/>
              </a:rPr>
              <a:t>term spread lags 1–3 &amp; total credit lags 1–3</a:t>
            </a:r>
            <a:endParaRPr lang="en-US" sz="1200" dirty="0"/>
          </a:p>
          <a:p>
            <a:pPr algn="ctr" indent="0" marL="0">
              <a:buNone/>
            </a:pPr>
            <a:endParaRPr lang="en-US" sz="1200" dirty="0"/>
          </a:p>
          <a:p>
            <a:pPr algn="ctr" indent="0" marL="0">
              <a:buNone/>
            </a:pPr>
            <a:r>
              <a:rPr lang="en-US" sz="1200" dirty="0">
                <a:solidFill>
                  <a:srgbClr val="64748B"/>
                </a:solidFill>
                <a:latin typeface="Calibri" pitchFamily="34" charset="0"/>
                <a:ea typeface="Calibri" pitchFamily="34" charset="-122"/>
                <a:cs typeface="Calibri" pitchFamily="34" charset="-120"/>
              </a:rPr>
              <a:t>Blue = Pre-GFC (2003–2006)</a:t>
            </a:r>
            <a:endParaRPr lang="en-US" sz="1200" dirty="0"/>
          </a:p>
          <a:p>
            <a:pPr algn="ctr" indent="0" marL="0">
              <a:buNone/>
            </a:pPr>
            <a:r>
              <a:rPr lang="en-US" sz="1200" dirty="0">
                <a:solidFill>
                  <a:srgbClr val="64748B"/>
                </a:solidFill>
                <a:latin typeface="Calibri" pitchFamily="34" charset="0"/>
                <a:ea typeface="Calibri" pitchFamily="34" charset="-122"/>
                <a:cs typeface="Calibri" pitchFamily="34" charset="-120"/>
              </a:rPr>
              <a:t>Red dashed = GFC-inclusive (2003–2010)</a:t>
            </a:r>
            <a:endParaRPr lang="en-US" sz="1200" dirty="0"/>
          </a:p>
        </p:txBody>
      </p:sp>
      <p:sp>
        <p:nvSpPr>
          <p:cNvPr id="8" name="Shape 6"/>
          <p:cNvSpPr/>
          <p:nvPr/>
        </p:nvSpPr>
        <p:spPr>
          <a:xfrm>
            <a:off x="5806440" y="1078992"/>
            <a:ext cx="3154680" cy="1051560"/>
          </a:xfrm>
          <a:prstGeom prst="rect">
            <a:avLst/>
          </a:prstGeom>
          <a:solidFill>
            <a:srgbClr val="F0F4F9"/>
          </a:solidFill>
          <a:ln w="19050">
            <a:solidFill>
              <a:srgbClr val="2E6DB4"/>
            </a:solidFill>
            <a:prstDash val="solid"/>
          </a:ln>
          <a:effectLst>
            <a:outerShdw sx="100000" sy="100000" kx="0" ky="0" algn="bl" rotWithShape="0" blurRad="101600" dist="38100" dir="8100000">
              <a:srgbClr val="000000">
                <a:alpha val="13000"/>
              </a:srgbClr>
            </a:outerShdw>
          </a:effectLst>
        </p:spPr>
      </p:sp>
      <p:sp>
        <p:nvSpPr>
          <p:cNvPr id="9" name="Shape 7"/>
          <p:cNvSpPr/>
          <p:nvPr/>
        </p:nvSpPr>
        <p:spPr>
          <a:xfrm>
            <a:off x="5806440" y="1078992"/>
            <a:ext cx="3154680" cy="301752"/>
          </a:xfrm>
          <a:prstGeom prst="rect">
            <a:avLst/>
          </a:prstGeom>
          <a:solidFill>
            <a:srgbClr val="2E6DB4"/>
          </a:solidFill>
          <a:ln w="12700">
            <a:solidFill>
              <a:srgbClr val="2E6DB4"/>
            </a:solidFill>
            <a:prstDash val="solid"/>
          </a:ln>
        </p:spPr>
      </p:sp>
      <p:sp>
        <p:nvSpPr>
          <p:cNvPr id="10" name="Text 8"/>
          <p:cNvSpPr/>
          <p:nvPr/>
        </p:nvSpPr>
        <p:spPr>
          <a:xfrm>
            <a:off x="5861304" y="1078992"/>
            <a:ext cx="3063240" cy="301752"/>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Finding 1 — Same feature, opposite risk</a:t>
            </a:r>
            <a:endParaRPr lang="en-US" sz="1100" dirty="0"/>
          </a:p>
        </p:txBody>
      </p:sp>
      <p:sp>
        <p:nvSpPr>
          <p:cNvPr id="11" name="Text 9"/>
          <p:cNvSpPr/>
          <p:nvPr/>
        </p:nvSpPr>
        <p:spPr>
          <a:xfrm>
            <a:off x="5897880" y="1408176"/>
            <a:ext cx="2990088" cy="667512"/>
          </a:xfrm>
          <a:prstGeom prst="rect">
            <a:avLst/>
          </a:prstGeom>
          <a:noFill/>
          <a:ln/>
        </p:spPr>
        <p:txBody>
          <a:bodyPr wrap="square" lIns="25400" tIns="25400" rIns="25400" bIns="25400" rtlCol="0" anchor="t"/>
          <a:lstStyle/>
          <a:p>
            <a:pPr algn="l" indent="0" marL="0">
              <a:buNone/>
            </a:pPr>
            <a:r>
              <a:rPr lang="en-US" sz="1000" dirty="0">
                <a:solidFill>
                  <a:srgbClr val="2D3748"/>
                </a:solidFill>
                <a:latin typeface="Calibri" pitchFamily="34" charset="0"/>
                <a:ea typeface="Calibri" pitchFamily="34" charset="-122"/>
                <a:cs typeface="Calibri" pitchFamily="34" charset="-120"/>
              </a:rPr>
              <a:t>At high term_spread_lag3 values: pre-GFC model assigns REDUCED risk; GFC-inclusive assigns INCREASED risk. The curves cross. Sign reversal at the top-ranked feature.</a:t>
            </a:r>
            <a:endParaRPr lang="en-US" sz="1000" dirty="0"/>
          </a:p>
        </p:txBody>
      </p:sp>
      <p:sp>
        <p:nvSpPr>
          <p:cNvPr id="12" name="Shape 10"/>
          <p:cNvSpPr/>
          <p:nvPr/>
        </p:nvSpPr>
        <p:spPr>
          <a:xfrm>
            <a:off x="5806440" y="2194560"/>
            <a:ext cx="3154680" cy="1051560"/>
          </a:xfrm>
          <a:prstGeom prst="rect">
            <a:avLst/>
          </a:prstGeom>
          <a:solidFill>
            <a:srgbClr val="F0F4F9"/>
          </a:solidFill>
          <a:ln w="19050">
            <a:solidFill>
              <a:srgbClr val="0D1B3E"/>
            </a:solidFill>
            <a:prstDash val="solid"/>
          </a:ln>
          <a:effectLst>
            <a:outerShdw sx="100000" sy="100000" kx="0" ky="0" algn="bl" rotWithShape="0" blurRad="101600" dist="38100" dir="8100000">
              <a:srgbClr val="000000">
                <a:alpha val="13000"/>
              </a:srgbClr>
            </a:outerShdw>
          </a:effectLst>
        </p:spPr>
      </p:sp>
      <p:sp>
        <p:nvSpPr>
          <p:cNvPr id="13" name="Shape 11"/>
          <p:cNvSpPr/>
          <p:nvPr/>
        </p:nvSpPr>
        <p:spPr>
          <a:xfrm>
            <a:off x="5806440" y="2194560"/>
            <a:ext cx="3154680" cy="301752"/>
          </a:xfrm>
          <a:prstGeom prst="rect">
            <a:avLst/>
          </a:prstGeom>
          <a:solidFill>
            <a:srgbClr val="0D1B3E"/>
          </a:solidFill>
          <a:ln w="12700">
            <a:solidFill>
              <a:srgbClr val="0D1B3E"/>
            </a:solidFill>
            <a:prstDash val="solid"/>
          </a:ln>
        </p:spPr>
      </p:sp>
      <p:sp>
        <p:nvSpPr>
          <p:cNvPr id="14" name="Text 12"/>
          <p:cNvSpPr/>
          <p:nvPr/>
        </p:nvSpPr>
        <p:spPr>
          <a:xfrm>
            <a:off x="5861304" y="2194560"/>
            <a:ext cx="3063240" cy="301752"/>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Finding 2 — Not an approximation error</a:t>
            </a:r>
            <a:endParaRPr lang="en-US" sz="1100" dirty="0"/>
          </a:p>
        </p:txBody>
      </p:sp>
      <p:sp>
        <p:nvSpPr>
          <p:cNvPr id="15" name="Text 13"/>
          <p:cNvSpPr/>
          <p:nvPr/>
        </p:nvSpPr>
        <p:spPr>
          <a:xfrm>
            <a:off x="5897880" y="2523744"/>
            <a:ext cx="2990088" cy="667512"/>
          </a:xfrm>
          <a:prstGeom prst="rect">
            <a:avLst/>
          </a:prstGeom>
          <a:noFill/>
          <a:ln/>
        </p:spPr>
        <p:txBody>
          <a:bodyPr wrap="square" lIns="25400" tIns="25400" rIns="25400" bIns="25400" rtlCol="0" anchor="t"/>
          <a:lstStyle/>
          <a:p>
            <a:pPr algn="l" indent="0" marL="0">
              <a:buNone/>
            </a:pPr>
            <a:r>
              <a:rPr lang="en-US" sz="1000" dirty="0">
                <a:solidFill>
                  <a:srgbClr val="2D3748"/>
                </a:solidFill>
                <a:latin typeface="Calibri" pitchFamily="34" charset="0"/>
                <a:ea typeface="Calibri" pitchFamily="34" charset="-122"/>
                <a:cs typeface="Calibri" pitchFamily="34" charset="-120"/>
              </a:rPr>
              <a:t>EBM shape functions ARE the model parameters. No SHAP step. Any instability = property of the data-generating process, not the attribution tool. This is the unique contribution.</a:t>
            </a:r>
            <a:endParaRPr lang="en-US" sz="1000" dirty="0"/>
          </a:p>
        </p:txBody>
      </p:sp>
      <p:sp>
        <p:nvSpPr>
          <p:cNvPr id="16" name="Shape 14"/>
          <p:cNvSpPr/>
          <p:nvPr/>
        </p:nvSpPr>
        <p:spPr>
          <a:xfrm>
            <a:off x="5806440" y="3310128"/>
            <a:ext cx="3154680" cy="1051560"/>
          </a:xfrm>
          <a:prstGeom prst="rect">
            <a:avLst/>
          </a:prstGeom>
          <a:solidFill>
            <a:srgbClr val="F0F4F9"/>
          </a:solidFill>
          <a:ln w="19050">
            <a:solidFill>
              <a:srgbClr val="C0392B"/>
            </a:solidFill>
            <a:prstDash val="solid"/>
          </a:ln>
          <a:effectLst>
            <a:outerShdw sx="100000" sy="100000" kx="0" ky="0" algn="bl" rotWithShape="0" blurRad="101600" dist="38100" dir="8100000">
              <a:srgbClr val="000000">
                <a:alpha val="13000"/>
              </a:srgbClr>
            </a:outerShdw>
          </a:effectLst>
        </p:spPr>
      </p:sp>
      <p:sp>
        <p:nvSpPr>
          <p:cNvPr id="17" name="Shape 15"/>
          <p:cNvSpPr/>
          <p:nvPr/>
        </p:nvSpPr>
        <p:spPr>
          <a:xfrm>
            <a:off x="5806440" y="3310128"/>
            <a:ext cx="3154680" cy="301752"/>
          </a:xfrm>
          <a:prstGeom prst="rect">
            <a:avLst/>
          </a:prstGeom>
          <a:solidFill>
            <a:srgbClr val="C0392B"/>
          </a:solidFill>
          <a:ln w="12700">
            <a:solidFill>
              <a:srgbClr val="C0392B"/>
            </a:solidFill>
            <a:prstDash val="solid"/>
          </a:ln>
        </p:spPr>
      </p:sp>
      <p:sp>
        <p:nvSpPr>
          <p:cNvPr id="18" name="Text 16"/>
          <p:cNvSpPr/>
          <p:nvPr/>
        </p:nvSpPr>
        <p:spPr>
          <a:xfrm>
            <a:off x="5861304" y="3310128"/>
            <a:ext cx="3063240" cy="301752"/>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Finding 3 — Mechanism explains 0.333</a:t>
            </a:r>
            <a:endParaRPr lang="en-US" sz="1100" dirty="0"/>
          </a:p>
        </p:txBody>
      </p:sp>
      <p:sp>
        <p:nvSpPr>
          <p:cNvPr id="19" name="Text 17"/>
          <p:cNvSpPr/>
          <p:nvPr/>
        </p:nvSpPr>
        <p:spPr>
          <a:xfrm>
            <a:off x="5897880" y="3639312"/>
            <a:ext cx="2990088" cy="667512"/>
          </a:xfrm>
          <a:prstGeom prst="rect">
            <a:avLst/>
          </a:prstGeom>
          <a:noFill/>
          <a:ln/>
        </p:spPr>
        <p:txBody>
          <a:bodyPr wrap="square" lIns="25400" tIns="25400" rIns="25400" bIns="25400" rtlCol="0" anchor="t"/>
          <a:lstStyle/>
          <a:p>
            <a:pPr algn="l" indent="0" marL="0">
              <a:buNone/>
            </a:pPr>
            <a:r>
              <a:rPr lang="en-US" sz="1000" dirty="0">
                <a:solidFill>
                  <a:srgbClr val="2D3748"/>
                </a:solidFill>
                <a:latin typeface="Calibri" pitchFamily="34" charset="0"/>
                <a:ea typeface="Calibri" pitchFamily="34" charset="-122"/>
                <a:cs typeface="Calibri" pitchFamily="34" charset="-120"/>
              </a:rPr>
              <a:t>Model trained on pre-GFC applies blue-line mappings to GFC data. Gets the sign wrong on the dominant feature. Systematic misclassification. AUROC below random is the arithmetically necessary result.</a:t>
            </a:r>
            <a:endParaRPr lang="en-US" sz="1000" dirty="0"/>
          </a:p>
        </p:txBody>
      </p:sp>
      <p:sp>
        <p:nvSpPr>
          <p:cNvPr id="20" name="Shape 18"/>
          <p:cNvSpPr/>
          <p:nvPr/>
        </p:nvSpPr>
        <p:spPr>
          <a:xfrm>
            <a:off x="256032" y="4389120"/>
            <a:ext cx="5394960" cy="640080"/>
          </a:xfrm>
          <a:prstGeom prst="rect">
            <a:avLst/>
          </a:prstGeom>
          <a:solidFill>
            <a:srgbClr val="FFFBF0"/>
          </a:solidFill>
          <a:ln w="19050">
            <a:solidFill>
              <a:srgbClr val="E8A020"/>
            </a:solidFill>
            <a:prstDash val="solid"/>
          </a:ln>
        </p:spPr>
      </p:sp>
      <p:sp>
        <p:nvSpPr>
          <p:cNvPr id="21" name="Shape 19"/>
          <p:cNvSpPr/>
          <p:nvPr/>
        </p:nvSpPr>
        <p:spPr>
          <a:xfrm>
            <a:off x="256032" y="4389120"/>
            <a:ext cx="91440" cy="640080"/>
          </a:xfrm>
          <a:prstGeom prst="rect">
            <a:avLst/>
          </a:prstGeom>
          <a:solidFill>
            <a:srgbClr val="E8A020"/>
          </a:solidFill>
          <a:ln w="12700">
            <a:solidFill>
              <a:srgbClr val="E8A020"/>
            </a:solidFill>
            <a:prstDash val="solid"/>
          </a:ln>
        </p:spPr>
      </p:sp>
      <p:sp>
        <p:nvSpPr>
          <p:cNvPr id="22" name="Text 20"/>
          <p:cNvSpPr/>
          <p:nvPr/>
        </p:nvSpPr>
        <p:spPr>
          <a:xfrm>
            <a:off x="411480" y="4389120"/>
            <a:ext cx="5166360" cy="640080"/>
          </a:xfrm>
          <a:prstGeom prst="rect">
            <a:avLst/>
          </a:prstGeom>
          <a:noFill/>
          <a:ln/>
        </p:spPr>
        <p:txBody>
          <a:bodyPr wrap="square" lIns="38100" tIns="38100" rIns="38100" bIns="38100" rtlCol="0" anchor="ctr"/>
          <a:lstStyle/>
          <a:p>
            <a:pPr indent="0" marL="0">
              <a:buNone/>
            </a:pPr>
            <a:r>
              <a:rPr lang="en-US" sz="1000" i="1" dirty="0">
                <a:solidFill>
                  <a:srgbClr val="2D3748"/>
                </a:solidFill>
                <a:latin typeface="Calibri" pitchFamily="34" charset="0"/>
                <a:ea typeface="Calibri" pitchFamily="34" charset="-122"/>
                <a:cs typeface="Calibri" pitchFamily="34" charset="-120"/>
              </a:rPr>
              <a:t>Independent parametric confirmation: Panel logistic — term_spread_lag1 β = −0.646 (p=0.004) vs lag3 β = +0.630 (p=0.003). Sign reversal confirmed from a completely separate analytical framework.</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8A020"/>
          </a:solidFill>
          <a:ln w="12700">
            <a:solidFill>
              <a:srgbClr val="E8A020"/>
            </a:solidFill>
            <a:prstDash val="solid"/>
          </a:ln>
        </p:spPr>
      </p:sp>
      <p:sp>
        <p:nvSpPr>
          <p:cNvPr id="3" name="Text 1"/>
          <p:cNvSpPr/>
          <p:nvPr/>
        </p:nvSpPr>
        <p:spPr>
          <a:xfrm>
            <a:off x="256032" y="118872"/>
            <a:ext cx="8686800" cy="566928"/>
          </a:xfrm>
          <a:prstGeom prst="rect">
            <a:avLst/>
          </a:prstGeom>
          <a:noFill/>
          <a:ln/>
        </p:spPr>
        <p:txBody>
          <a:bodyPr wrap="square" lIns="0" tIns="0" rIns="0" bIns="0" rtlCol="0" anchor="ctr"/>
          <a:lstStyle/>
          <a:p>
            <a:pPr algn="l" indent="0" marL="0">
              <a:buNone/>
            </a:pPr>
            <a:r>
              <a:rPr lang="en-US" sz="2600" b="1" dirty="0">
                <a:solidFill>
                  <a:srgbClr val="0D1B3E"/>
                </a:solidFill>
                <a:latin typeface="Calibri" pitchFamily="34" charset="0"/>
                <a:ea typeface="Calibri" pitchFamily="34" charset="-122"/>
                <a:cs typeface="Calibri" pitchFamily="34" charset="-120"/>
              </a:rPr>
              <a:t>Cross-Country and Stage 2 Performance</a:t>
            </a:r>
            <a:endParaRPr lang="en-US" sz="2600" dirty="0"/>
          </a:p>
        </p:txBody>
      </p:sp>
      <p:sp>
        <p:nvSpPr>
          <p:cNvPr id="4" name="Text 2"/>
          <p:cNvSpPr/>
          <p:nvPr/>
        </p:nvSpPr>
        <p:spPr>
          <a:xfrm>
            <a:off x="256032" y="685800"/>
            <a:ext cx="8686800" cy="274320"/>
          </a:xfrm>
          <a:prstGeom prst="rect">
            <a:avLst/>
          </a:prstGeom>
          <a:noFill/>
          <a:ln/>
        </p:spPr>
        <p:txBody>
          <a:bodyPr wrap="square" lIns="0" tIns="0" rIns="0" bIns="0" rtlCol="0" anchor="t"/>
          <a:lstStyle/>
          <a:p>
            <a:pPr algn="l" indent="0" marL="0">
              <a:buNone/>
            </a:pPr>
            <a:r>
              <a:rPr lang="en-US" sz="1200" i="1" dirty="0">
                <a:solidFill>
                  <a:srgbClr val="2E6DB4"/>
                </a:solidFill>
                <a:latin typeface="Calibri" pitchFamily="34" charset="0"/>
                <a:ea typeface="Calibri" pitchFamily="34" charset="-122"/>
                <a:cs typeface="Calibri" pitchFamily="34" charset="-120"/>
              </a:rPr>
              <a:t>LOCO validation · Stage 2 model comparison · EBM vs sentiment</a:t>
            </a:r>
            <a:endParaRPr lang="en-US" sz="1200" dirty="0"/>
          </a:p>
        </p:txBody>
      </p:sp>
      <p:sp>
        <p:nvSpPr>
          <p:cNvPr id="5" name="Shape 3"/>
          <p:cNvSpPr/>
          <p:nvPr/>
        </p:nvSpPr>
        <p:spPr>
          <a:xfrm>
            <a:off x="256032" y="987552"/>
            <a:ext cx="8686800" cy="0"/>
          </a:xfrm>
          <a:prstGeom prst="line">
            <a:avLst/>
          </a:prstGeom>
          <a:noFill/>
          <a:ln w="10160">
            <a:solidFill>
              <a:srgbClr val="D6E4F7"/>
            </a:solidFill>
            <a:prstDash val="solid"/>
          </a:ln>
        </p:spPr>
      </p:sp>
      <p:graphicFrame>
        <p:nvGraphicFramePr>
          <p:cNvPr id="6" name="Chart 0" descr=""/>
          <p:cNvGraphicFramePr/>
          <p:nvPr/>
        </p:nvGraphicFramePr>
        <p:xfrm>
          <a:off x="256032" y="1078992"/>
          <a:ext cx="5029200" cy="3291840"/>
        </p:xfrm>
        <a:graphic xmlns:a="http://schemas.openxmlformats.org/drawingml/2006/main">
          <a:graphicData uri="http://schemas.openxmlformats.org/drawingml/2006/chart">
            <c:chart xmlns:c="http://schemas.openxmlformats.org/drawingml/2006/chart" r:id="rId1"/>
          </a:graphicData>
        </a:graphic>
      </p:graphicFrame>
      <p:graphicFrame>
        <p:nvGraphicFramePr>
          <p:cNvPr id="7" name="Chart 1" descr=""/>
          <p:cNvGraphicFramePr/>
          <p:nvPr/>
        </p:nvGraphicFramePr>
        <p:xfrm>
          <a:off x="5440680" y="1078992"/>
          <a:ext cx="3520440" cy="2103120"/>
        </p:xfrm>
        <a:graphic xmlns:a="http://schemas.openxmlformats.org/drawingml/2006/main">
          <a:graphicData uri="http://schemas.openxmlformats.org/drawingml/2006/chart">
            <c:chart xmlns:c="http://schemas.openxmlformats.org/drawingml/2006/chart" r:id="rId2"/>
          </a:graphicData>
        </a:graphic>
      </p:graphicFrame>
      <p:sp>
        <p:nvSpPr>
          <p:cNvPr id="8" name="Shape 4"/>
          <p:cNvSpPr/>
          <p:nvPr/>
        </p:nvSpPr>
        <p:spPr>
          <a:xfrm>
            <a:off x="5440680" y="3291840"/>
            <a:ext cx="3520440" cy="1097280"/>
          </a:xfrm>
          <a:prstGeom prst="rect">
            <a:avLst/>
          </a:prstGeom>
          <a:solidFill>
            <a:srgbClr val="F0F4F9"/>
          </a:solidFill>
          <a:ln w="19050">
            <a:solidFill>
              <a:srgbClr val="E8A020"/>
            </a:solidFill>
            <a:prstDash val="solid"/>
          </a:ln>
          <a:effectLst>
            <a:outerShdw sx="100000" sy="100000" kx="0" ky="0" algn="bl" rotWithShape="0" blurRad="101600" dist="38100" dir="8100000">
              <a:srgbClr val="000000">
                <a:alpha val="13000"/>
              </a:srgbClr>
            </a:outerShdw>
          </a:effectLst>
        </p:spPr>
      </p:sp>
      <p:sp>
        <p:nvSpPr>
          <p:cNvPr id="9" name="Shape 5"/>
          <p:cNvSpPr/>
          <p:nvPr/>
        </p:nvSpPr>
        <p:spPr>
          <a:xfrm>
            <a:off x="5440680" y="3291840"/>
            <a:ext cx="3520440" cy="301752"/>
          </a:xfrm>
          <a:prstGeom prst="rect">
            <a:avLst/>
          </a:prstGeom>
          <a:solidFill>
            <a:srgbClr val="E8A020"/>
          </a:solidFill>
          <a:ln w="12700">
            <a:solidFill>
              <a:srgbClr val="E8A020"/>
            </a:solidFill>
            <a:prstDash val="solid"/>
          </a:ln>
        </p:spPr>
      </p:sp>
      <p:sp>
        <p:nvSpPr>
          <p:cNvPr id="10" name="Text 6"/>
          <p:cNvSpPr/>
          <p:nvPr/>
        </p:nvSpPr>
        <p:spPr>
          <a:xfrm>
            <a:off x="5495544" y="3291840"/>
            <a:ext cx="3429000" cy="301752"/>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EBM macro-only beats M3+sentiment</a:t>
            </a:r>
            <a:endParaRPr lang="en-US" sz="1100" dirty="0"/>
          </a:p>
        </p:txBody>
      </p:sp>
      <p:sp>
        <p:nvSpPr>
          <p:cNvPr id="11" name="Text 7"/>
          <p:cNvSpPr/>
          <p:nvPr/>
        </p:nvSpPr>
        <p:spPr>
          <a:xfrm>
            <a:off x="5532120" y="3621024"/>
            <a:ext cx="3355848" cy="713232"/>
          </a:xfrm>
          <a:prstGeom prst="rect">
            <a:avLst/>
          </a:prstGeom>
          <a:noFill/>
          <a:ln/>
        </p:spPr>
        <p:txBody>
          <a:bodyPr wrap="square" lIns="25400" tIns="25400" rIns="25400" bIns="25400" rtlCol="0" anchor="t"/>
          <a:lstStyle/>
          <a:p>
            <a:pPr algn="l" indent="0" marL="0">
              <a:buNone/>
            </a:pPr>
            <a:r>
              <a:rPr lang="en-US" sz="1000" dirty="0">
                <a:solidFill>
                  <a:srgbClr val="2D3748"/>
                </a:solidFill>
                <a:latin typeface="Calibri" pitchFamily="34" charset="0"/>
                <a:ea typeface="Calibri" pitchFamily="34" charset="-122"/>
                <a:cs typeface="Calibri" pitchFamily="34" charset="-120"/>
              </a:rPr>
              <a:t>EBM AUPRC 0.532 &gt; M3 (macro+FinBERT) 0.411. Algorithm choice explains at least as much of the Stage 2 difference as the sentiment extension. CI [−0.130, +0.312] spans zero.</a:t>
            </a:r>
            <a:endParaRPr lang="en-US" sz="1000" dirty="0"/>
          </a:p>
        </p:txBody>
      </p:sp>
      <p:sp>
        <p:nvSpPr>
          <p:cNvPr id="12" name="Shape 8"/>
          <p:cNvSpPr/>
          <p:nvPr/>
        </p:nvSpPr>
        <p:spPr>
          <a:xfrm>
            <a:off x="256032" y="4718304"/>
            <a:ext cx="8686800" cy="320040"/>
          </a:xfrm>
          <a:prstGeom prst="rect">
            <a:avLst/>
          </a:prstGeom>
          <a:solidFill>
            <a:srgbClr val="0D1B3E"/>
          </a:solidFill>
          <a:ln w="12700">
            <a:solidFill>
              <a:srgbClr val="0D1B3E"/>
            </a:solidFill>
            <a:prstDash val="solid"/>
          </a:ln>
        </p:spPr>
      </p:sp>
      <p:sp>
        <p:nvSpPr>
          <p:cNvPr id="13" name="Shape 9"/>
          <p:cNvSpPr/>
          <p:nvPr/>
        </p:nvSpPr>
        <p:spPr>
          <a:xfrm>
            <a:off x="256032" y="4718304"/>
            <a:ext cx="411480" cy="320040"/>
          </a:xfrm>
          <a:prstGeom prst="rect">
            <a:avLst/>
          </a:prstGeom>
          <a:solidFill>
            <a:srgbClr val="E8A020"/>
          </a:solidFill>
          <a:ln w="12700">
            <a:solidFill>
              <a:srgbClr val="E8A020"/>
            </a:solidFill>
            <a:prstDash val="solid"/>
          </a:ln>
        </p:spPr>
      </p:sp>
      <p:sp>
        <p:nvSpPr>
          <p:cNvPr id="14" name="Text 10"/>
          <p:cNvSpPr/>
          <p:nvPr/>
        </p:nvSpPr>
        <p:spPr>
          <a:xfrm>
            <a:off x="731520" y="4718304"/>
            <a:ext cx="8183880" cy="320040"/>
          </a:xfrm>
          <a:prstGeom prst="rect">
            <a:avLst/>
          </a:prstGeom>
          <a:noFill/>
          <a:ln/>
        </p:spPr>
        <p:txBody>
          <a:bodyPr wrap="square" lIns="38100" tIns="38100" rIns="38100" bIns="38100" rtlCol="0" anchor="ctr"/>
          <a:lstStyle/>
          <a:p>
            <a:pPr algn="l" indent="0" marL="0">
              <a:buNone/>
            </a:pPr>
            <a:r>
              <a:rPr lang="en-US" sz="950" i="1" dirty="0">
                <a:solidFill>
                  <a:srgbClr val="FFFFFF"/>
                </a:solidFill>
                <a:latin typeface="Calibri" pitchFamily="34" charset="0"/>
                <a:ea typeface="Calibri" pitchFamily="34" charset="-122"/>
                <a:cs typeface="Calibri" pitchFamily="34" charset="-120"/>
              </a:rPr>
              <a:t>LOCO: EBM mean 0.893 (std 0.215) vs RF 0.839 (0.254). Japan near-random for both models — asset-deflation dynamics poorly represented in cross-country training distribution.</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8A020"/>
          </a:solidFill>
          <a:ln w="12700">
            <a:solidFill>
              <a:srgbClr val="E8A020"/>
            </a:solidFill>
            <a:prstDash val="solid"/>
          </a:ln>
        </p:spPr>
      </p:sp>
      <p:sp>
        <p:nvSpPr>
          <p:cNvPr id="3" name="Text 1"/>
          <p:cNvSpPr/>
          <p:nvPr/>
        </p:nvSpPr>
        <p:spPr>
          <a:xfrm>
            <a:off x="256032" y="118872"/>
            <a:ext cx="8686800" cy="566928"/>
          </a:xfrm>
          <a:prstGeom prst="rect">
            <a:avLst/>
          </a:prstGeom>
          <a:noFill/>
          <a:ln/>
        </p:spPr>
        <p:txBody>
          <a:bodyPr wrap="square" lIns="0" tIns="0" rIns="0" bIns="0" rtlCol="0" anchor="ctr"/>
          <a:lstStyle/>
          <a:p>
            <a:pPr algn="l" indent="0" marL="0">
              <a:buNone/>
            </a:pPr>
            <a:r>
              <a:rPr lang="en-US" sz="2600" b="1" dirty="0">
                <a:solidFill>
                  <a:srgbClr val="0D1B3E"/>
                </a:solidFill>
                <a:latin typeface="Calibri" pitchFamily="34" charset="0"/>
                <a:ea typeface="Calibri" pitchFamily="34" charset="-122"/>
                <a:cs typeface="Calibri" pitchFamily="34" charset="-120"/>
              </a:rPr>
              <a:t>Feature Attribution and Calibration</a:t>
            </a:r>
            <a:endParaRPr lang="en-US" sz="2600" dirty="0"/>
          </a:p>
        </p:txBody>
      </p:sp>
      <p:sp>
        <p:nvSpPr>
          <p:cNvPr id="4" name="Text 2"/>
          <p:cNvSpPr/>
          <p:nvPr/>
        </p:nvSpPr>
        <p:spPr>
          <a:xfrm>
            <a:off x="256032" y="685800"/>
            <a:ext cx="8686800" cy="274320"/>
          </a:xfrm>
          <a:prstGeom prst="rect">
            <a:avLst/>
          </a:prstGeom>
          <a:noFill/>
          <a:ln/>
        </p:spPr>
        <p:txBody>
          <a:bodyPr wrap="square" lIns="0" tIns="0" rIns="0" bIns="0" rtlCol="0" anchor="t"/>
          <a:lstStyle/>
          <a:p>
            <a:pPr algn="l" indent="0" marL="0">
              <a:buNone/>
            </a:pPr>
            <a:r>
              <a:rPr lang="en-US" sz="1200" i="1" dirty="0">
                <a:solidFill>
                  <a:srgbClr val="2E6DB4"/>
                </a:solidFill>
                <a:latin typeface="Calibri" pitchFamily="34" charset="0"/>
                <a:ea typeface="Calibri" pitchFamily="34" charset="-122"/>
                <a:cs typeface="Calibri" pitchFamily="34" charset="-120"/>
              </a:rPr>
              <a:t>SHAP vs EBM native importance · ECE and Brier scores</a:t>
            </a:r>
            <a:endParaRPr lang="en-US" sz="1200" dirty="0"/>
          </a:p>
        </p:txBody>
      </p:sp>
      <p:sp>
        <p:nvSpPr>
          <p:cNvPr id="5" name="Shape 3"/>
          <p:cNvSpPr/>
          <p:nvPr/>
        </p:nvSpPr>
        <p:spPr>
          <a:xfrm>
            <a:off x="256032" y="987552"/>
            <a:ext cx="8686800" cy="0"/>
          </a:xfrm>
          <a:prstGeom prst="line">
            <a:avLst/>
          </a:prstGeom>
          <a:noFill/>
          <a:ln w="10160">
            <a:solidFill>
              <a:srgbClr val="D6E4F7"/>
            </a:solidFill>
            <a:prstDash val="solid"/>
          </a:ln>
        </p:spPr>
      </p:sp>
      <p:graphicFrame>
        <p:nvGraphicFramePr>
          <p:cNvPr id="6" name="Chart 0" descr=""/>
          <p:cNvGraphicFramePr/>
          <p:nvPr/>
        </p:nvGraphicFramePr>
        <p:xfrm>
          <a:off x="256032" y="1078992"/>
          <a:ext cx="3474720" cy="2560320"/>
        </p:xfrm>
        <a:graphic xmlns:a="http://schemas.openxmlformats.org/drawingml/2006/main">
          <a:graphicData uri="http://schemas.openxmlformats.org/drawingml/2006/chart">
            <c:chart xmlns:c="http://schemas.openxmlformats.org/drawingml/2006/chart" r:id="rId1"/>
          </a:graphicData>
        </a:graphic>
      </p:graphicFrame>
      <p:graphicFrame>
        <p:nvGraphicFramePr>
          <p:cNvPr id="7" name="Chart 1" descr=""/>
          <p:cNvGraphicFramePr/>
          <p:nvPr/>
        </p:nvGraphicFramePr>
        <p:xfrm>
          <a:off x="3858768" y="1078992"/>
          <a:ext cx="5120640" cy="2560320"/>
        </p:xfrm>
        <a:graphic xmlns:a="http://schemas.openxmlformats.org/drawingml/2006/main">
          <a:graphicData uri="http://schemas.openxmlformats.org/drawingml/2006/chart">
            <c:chart xmlns:c="http://schemas.openxmlformats.org/drawingml/2006/chart" r:id="rId2"/>
          </a:graphicData>
        </a:graphic>
      </p:graphicFrame>
      <p:sp>
        <p:nvSpPr>
          <p:cNvPr id="8" name="Text 4"/>
          <p:cNvSpPr/>
          <p:nvPr/>
        </p:nvSpPr>
        <p:spPr>
          <a:xfrm>
            <a:off x="256032" y="3703320"/>
            <a:ext cx="3474720" cy="274320"/>
          </a:xfrm>
          <a:prstGeom prst="rect">
            <a:avLst/>
          </a:prstGeom>
          <a:noFill/>
          <a:ln/>
        </p:spPr>
        <p:txBody>
          <a:bodyPr wrap="square" lIns="0" tIns="0" rIns="0" bIns="0" rtlCol="0" anchor="ctr"/>
          <a:lstStyle/>
          <a:p>
            <a:pPr algn="l" indent="0" marL="0">
              <a:buNone/>
            </a:pPr>
            <a:r>
              <a:rPr lang="en-US" sz="1100" b="1" dirty="0">
                <a:solidFill>
                  <a:srgbClr val="0D1B3E"/>
                </a:solidFill>
                <a:latin typeface="Calibri" pitchFamily="34" charset="0"/>
                <a:ea typeface="Calibri" pitchFamily="34" charset="-122"/>
                <a:cs typeface="Calibri" pitchFamily="34" charset="-120"/>
              </a:rPr>
              <a:t>Calibration (Stage 2):</a:t>
            </a:r>
            <a:endParaRPr lang="en-US" sz="11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256032" y="4005072"/>
          <a:ext cx="3474720" cy="1024128"/>
        </p:xfrm>
        <a:graphic>
          <a:graphicData uri="http://schemas.openxmlformats.org/drawingml/2006/table">
            <a:tbl>
              <a:tblPr/>
              <a:tblGrid>
                <a:gridCol w="1737360"/>
                <a:gridCol w="868680"/>
                <a:gridCol w="868680"/>
              </a:tblGrid>
              <a:tr h="204826">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Model</a:t>
                      </a:r>
                      <a:endParaRPr lang="en-US" sz="1000" dirty="0">
                        <a:latin typeface="Calibri" charset="0"/>
                        <a:ea typeface="Calibri" charset="0"/>
                        <a:cs typeface="Calibri" charset="0"/>
                      </a:endParaRPr>
                    </a:p>
                  </a:txBody>
                  <a:tcPr marL="91440" marR="91440" marT="45720" marB="45720">
                    <a:lnL w="6350" cap="flat" cmpd="sng" algn="ctr">
                      <a:solidFill>
                        <a:srgbClr val="D0D7E5"/>
                      </a:solidFill>
                      <a:prstDash val="solid"/>
                      <a:round/>
                      <a:headEnd type="none" w="med" len="med"/>
                      <a:tailEnd type="none" w="med" len="med"/>
                    </a:lnL>
                    <a:lnR w="6350" cap="flat" cmpd="sng" algn="ctr">
                      <a:solidFill>
                        <a:srgbClr val="D0D7E5"/>
                      </a:solidFill>
                      <a:prstDash val="solid"/>
                      <a:round/>
                      <a:headEnd type="none" w="med" len="med"/>
                      <a:tailEnd type="none" w="med" len="med"/>
                    </a:lnR>
                    <a:lnT w="6350" cap="flat" cmpd="sng" algn="ctr">
                      <a:solidFill>
                        <a:srgbClr val="D0D7E5"/>
                      </a:solidFill>
                      <a:prstDash val="solid"/>
                      <a:round/>
                      <a:headEnd type="none" w="med" len="med"/>
                      <a:tailEnd type="none" w="med" len="med"/>
                    </a:lnT>
                    <a:lnB w="6350" cap="flat" cmpd="sng" algn="ctr">
                      <a:solidFill>
                        <a:srgbClr val="D0D7E5"/>
                      </a:solidFill>
                      <a:prstDash val="solid"/>
                      <a:round/>
                      <a:headEnd type="none" w="med" len="med"/>
                      <a:tailEnd type="none" w="med" len="med"/>
                    </a:lnB>
                    <a:solidFill>
                      <a:srgbClr val="1A3A6B"/>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ECE</a:t>
                      </a:r>
                      <a:endParaRPr lang="en-US" sz="1000" dirty="0">
                        <a:latin typeface="Calibri" charset="0"/>
                        <a:ea typeface="Calibri" charset="0"/>
                        <a:cs typeface="Calibri" charset="0"/>
                      </a:endParaRPr>
                    </a:p>
                  </a:txBody>
                  <a:tcPr marL="91440" marR="91440" marT="45720" marB="45720">
                    <a:lnL w="6350" cap="flat" cmpd="sng" algn="ctr">
                      <a:solidFill>
                        <a:srgbClr val="D0D7E5"/>
                      </a:solidFill>
                      <a:prstDash val="solid"/>
                      <a:round/>
                      <a:headEnd type="none" w="med" len="med"/>
                      <a:tailEnd type="none" w="med" len="med"/>
                    </a:lnL>
                    <a:lnR w="6350" cap="flat" cmpd="sng" algn="ctr">
                      <a:solidFill>
                        <a:srgbClr val="D0D7E5"/>
                      </a:solidFill>
                      <a:prstDash val="solid"/>
                      <a:round/>
                      <a:headEnd type="none" w="med" len="med"/>
                      <a:tailEnd type="none" w="med" len="med"/>
                    </a:lnR>
                    <a:lnT w="6350" cap="flat" cmpd="sng" algn="ctr">
                      <a:solidFill>
                        <a:srgbClr val="D0D7E5"/>
                      </a:solidFill>
                      <a:prstDash val="solid"/>
                      <a:round/>
                      <a:headEnd type="none" w="med" len="med"/>
                      <a:tailEnd type="none" w="med" len="med"/>
                    </a:lnT>
                    <a:lnB w="6350" cap="flat" cmpd="sng" algn="ctr">
                      <a:solidFill>
                        <a:srgbClr val="D0D7E5"/>
                      </a:solidFill>
                      <a:prstDash val="solid"/>
                      <a:round/>
                      <a:headEnd type="none" w="med" len="med"/>
                      <a:tailEnd type="none" w="med" len="med"/>
                    </a:lnB>
                    <a:solidFill>
                      <a:srgbClr val="1A3A6B"/>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Brier</a:t>
                      </a:r>
                      <a:endParaRPr lang="en-US" sz="1000" dirty="0">
                        <a:latin typeface="Calibri" charset="0"/>
                        <a:ea typeface="Calibri" charset="0"/>
                        <a:cs typeface="Calibri" charset="0"/>
                      </a:endParaRPr>
                    </a:p>
                  </a:txBody>
                  <a:tcPr marL="91440" marR="91440" marT="45720" marB="45720">
                    <a:lnL w="6350" cap="flat" cmpd="sng" algn="ctr">
                      <a:solidFill>
                        <a:srgbClr val="D0D7E5"/>
                      </a:solidFill>
                      <a:prstDash val="solid"/>
                      <a:round/>
                      <a:headEnd type="none" w="med" len="med"/>
                      <a:tailEnd type="none" w="med" len="med"/>
                    </a:lnL>
                    <a:lnR w="6350" cap="flat" cmpd="sng" algn="ctr">
                      <a:solidFill>
                        <a:srgbClr val="D0D7E5"/>
                      </a:solidFill>
                      <a:prstDash val="solid"/>
                      <a:round/>
                      <a:headEnd type="none" w="med" len="med"/>
                      <a:tailEnd type="none" w="med" len="med"/>
                    </a:lnR>
                    <a:lnT w="6350" cap="flat" cmpd="sng" algn="ctr">
                      <a:solidFill>
                        <a:srgbClr val="D0D7E5"/>
                      </a:solidFill>
                      <a:prstDash val="solid"/>
                      <a:round/>
                      <a:headEnd type="none" w="med" len="med"/>
                      <a:tailEnd type="none" w="med" len="med"/>
                    </a:lnT>
                    <a:lnB w="6350" cap="flat" cmpd="sng" algn="ctr">
                      <a:solidFill>
                        <a:srgbClr val="D0D7E5"/>
                      </a:solidFill>
                      <a:prstDash val="solid"/>
                      <a:round/>
                      <a:headEnd type="none" w="med" len="med"/>
                      <a:tailEnd type="none" w="med" len="med"/>
                    </a:lnB>
                    <a:solidFill>
                      <a:srgbClr val="1A3A6B"/>
                    </a:solidFill>
                  </a:tcPr>
                </a:tc>
              </a:tr>
              <a:tr h="204826">
                <a:tc>
                  <a:txBody>
                    <a:bodyPr/>
                    <a:lstStyle/>
                    <a:p>
                      <a:pPr algn="ctr" indent="0" marL="0">
                        <a:buNone/>
                      </a:pPr>
                      <a:r>
                        <a:rPr lang="en-US" sz="1000" dirty="0">
                          <a:solidFill>
                            <a:srgbClr val="000000"/>
                          </a:solidFill>
                          <a:latin typeface="Calibri" pitchFamily="34" charset="0"/>
                          <a:ea typeface="Calibri" pitchFamily="34" charset="-122"/>
                          <a:cs typeface="Calibri" pitchFamily="34" charset="-120"/>
                        </a:rPr>
                        <a:t>M2-matched RF</a:t>
                      </a:r>
                      <a:endParaRPr lang="en-US" sz="1000" dirty="0">
                        <a:latin typeface="Calibri" charset="0"/>
                        <a:ea typeface="Calibri" charset="0"/>
                        <a:cs typeface="Calibri" charset="0"/>
                      </a:endParaRPr>
                    </a:p>
                  </a:txBody>
                  <a:tcPr marL="91440" marR="91440" marT="45720" marB="45720">
                    <a:lnL w="6350" cap="flat" cmpd="sng" algn="ctr">
                      <a:solidFill>
                        <a:srgbClr val="D0D7E5"/>
                      </a:solidFill>
                      <a:prstDash val="solid"/>
                      <a:round/>
                      <a:headEnd type="none" w="med" len="med"/>
                      <a:tailEnd type="none" w="med" len="med"/>
                    </a:lnL>
                    <a:lnR w="6350" cap="flat" cmpd="sng" algn="ctr">
                      <a:solidFill>
                        <a:srgbClr val="D0D7E5"/>
                      </a:solidFill>
                      <a:prstDash val="solid"/>
                      <a:round/>
                      <a:headEnd type="none" w="med" len="med"/>
                      <a:tailEnd type="none" w="med" len="med"/>
                    </a:lnR>
                    <a:lnT w="6350" cap="flat" cmpd="sng" algn="ctr">
                      <a:solidFill>
                        <a:srgbClr val="D0D7E5"/>
                      </a:solidFill>
                      <a:prstDash val="solid"/>
                      <a:round/>
                      <a:headEnd type="none" w="med" len="med"/>
                      <a:tailEnd type="none" w="med" len="med"/>
                    </a:lnT>
                    <a:lnB w="6350" cap="flat" cmpd="sng" algn="ctr">
                      <a:solidFill>
                        <a:srgbClr val="D0D7E5"/>
                      </a:solidFill>
                      <a:prstDash val="solid"/>
                      <a:round/>
                      <a:headEnd type="none" w="med" len="med"/>
                      <a:tailEnd type="none" w="med" len="med"/>
                    </a:lnB>
                  </a:tcPr>
                </a:tc>
                <a:tc>
                  <a:txBody>
                    <a:bodyPr/>
                    <a:lstStyle/>
                    <a:p>
                      <a:pPr algn="ctr" indent="0" marL="0">
                        <a:buNone/>
                      </a:pPr>
                      <a:r>
                        <a:rPr lang="en-US" sz="1000" dirty="0">
                          <a:solidFill>
                            <a:srgbClr val="000000"/>
                          </a:solidFill>
                          <a:latin typeface="Calibri" pitchFamily="34" charset="0"/>
                          <a:ea typeface="Calibri" pitchFamily="34" charset="-122"/>
                          <a:cs typeface="Calibri" pitchFamily="34" charset="-120"/>
                        </a:rPr>
                        <a:t>0.127</a:t>
                      </a:r>
                      <a:endParaRPr lang="en-US" sz="1000" dirty="0">
                        <a:latin typeface="Calibri" charset="0"/>
                        <a:ea typeface="Calibri" charset="0"/>
                        <a:cs typeface="Calibri" charset="0"/>
                      </a:endParaRPr>
                    </a:p>
                  </a:txBody>
                  <a:tcPr marL="91440" marR="91440" marT="45720" marB="45720">
                    <a:lnL w="6350" cap="flat" cmpd="sng" algn="ctr">
                      <a:solidFill>
                        <a:srgbClr val="D0D7E5"/>
                      </a:solidFill>
                      <a:prstDash val="solid"/>
                      <a:round/>
                      <a:headEnd type="none" w="med" len="med"/>
                      <a:tailEnd type="none" w="med" len="med"/>
                    </a:lnL>
                    <a:lnR w="6350" cap="flat" cmpd="sng" algn="ctr">
                      <a:solidFill>
                        <a:srgbClr val="D0D7E5"/>
                      </a:solidFill>
                      <a:prstDash val="solid"/>
                      <a:round/>
                      <a:headEnd type="none" w="med" len="med"/>
                      <a:tailEnd type="none" w="med" len="med"/>
                    </a:lnR>
                    <a:lnT w="6350" cap="flat" cmpd="sng" algn="ctr">
                      <a:solidFill>
                        <a:srgbClr val="D0D7E5"/>
                      </a:solidFill>
                      <a:prstDash val="solid"/>
                      <a:round/>
                      <a:headEnd type="none" w="med" len="med"/>
                      <a:tailEnd type="none" w="med" len="med"/>
                    </a:lnT>
                    <a:lnB w="6350" cap="flat" cmpd="sng" algn="ctr">
                      <a:solidFill>
                        <a:srgbClr val="D0D7E5"/>
                      </a:solidFill>
                      <a:prstDash val="solid"/>
                      <a:round/>
                      <a:headEnd type="none" w="med" len="med"/>
                      <a:tailEnd type="none" w="med" len="med"/>
                    </a:lnB>
                  </a:tcPr>
                </a:tc>
                <a:tc>
                  <a:txBody>
                    <a:bodyPr/>
                    <a:lstStyle/>
                    <a:p>
                      <a:pPr algn="ctr" indent="0" marL="0">
                        <a:buNone/>
                      </a:pPr>
                      <a:r>
                        <a:rPr lang="en-US" sz="1000" dirty="0">
                          <a:solidFill>
                            <a:srgbClr val="000000"/>
                          </a:solidFill>
                          <a:latin typeface="Calibri" pitchFamily="34" charset="0"/>
                          <a:ea typeface="Calibri" pitchFamily="34" charset="-122"/>
                          <a:cs typeface="Calibri" pitchFamily="34" charset="-120"/>
                        </a:rPr>
                        <a:t>0.060</a:t>
                      </a:r>
                      <a:endParaRPr lang="en-US" sz="1000" dirty="0">
                        <a:latin typeface="Calibri" charset="0"/>
                        <a:ea typeface="Calibri" charset="0"/>
                        <a:cs typeface="Calibri" charset="0"/>
                      </a:endParaRPr>
                    </a:p>
                  </a:txBody>
                  <a:tcPr marL="91440" marR="91440" marT="45720" marB="45720">
                    <a:lnL w="6350" cap="flat" cmpd="sng" algn="ctr">
                      <a:solidFill>
                        <a:srgbClr val="D0D7E5"/>
                      </a:solidFill>
                      <a:prstDash val="solid"/>
                      <a:round/>
                      <a:headEnd type="none" w="med" len="med"/>
                      <a:tailEnd type="none" w="med" len="med"/>
                    </a:lnL>
                    <a:lnR w="6350" cap="flat" cmpd="sng" algn="ctr">
                      <a:solidFill>
                        <a:srgbClr val="D0D7E5"/>
                      </a:solidFill>
                      <a:prstDash val="solid"/>
                      <a:round/>
                      <a:headEnd type="none" w="med" len="med"/>
                      <a:tailEnd type="none" w="med" len="med"/>
                    </a:lnR>
                    <a:lnT w="6350" cap="flat" cmpd="sng" algn="ctr">
                      <a:solidFill>
                        <a:srgbClr val="D0D7E5"/>
                      </a:solidFill>
                      <a:prstDash val="solid"/>
                      <a:round/>
                      <a:headEnd type="none" w="med" len="med"/>
                      <a:tailEnd type="none" w="med" len="med"/>
                    </a:lnT>
                    <a:lnB w="6350" cap="flat" cmpd="sng" algn="ctr">
                      <a:solidFill>
                        <a:srgbClr val="D0D7E5"/>
                      </a:solidFill>
                      <a:prstDash val="solid"/>
                      <a:round/>
                      <a:headEnd type="none" w="med" len="med"/>
                      <a:tailEnd type="none" w="med" len="med"/>
                    </a:lnB>
                  </a:tcPr>
                </a:tc>
              </a:tr>
              <a:tr h="204826">
                <a:tc>
                  <a:txBody>
                    <a:bodyPr/>
                    <a:lstStyle/>
                    <a:p>
                      <a:pPr algn="ctr" indent="0" marL="0">
                        <a:buNone/>
                      </a:pPr>
                      <a:r>
                        <a:rPr lang="en-US" sz="1000" b="1" dirty="0">
                          <a:solidFill>
                            <a:srgbClr val="000000"/>
                          </a:solidFill>
                          <a:latin typeface="Calibri" pitchFamily="34" charset="0"/>
                          <a:ea typeface="Calibri" pitchFamily="34" charset="-122"/>
                          <a:cs typeface="Calibri" pitchFamily="34" charset="-120"/>
                        </a:rPr>
                        <a:t>M2.5 EBM ★</a:t>
                      </a:r>
                      <a:endParaRPr lang="en-US" sz="1000" dirty="0">
                        <a:latin typeface="Calibri" charset="0"/>
                        <a:ea typeface="Calibri" charset="0"/>
                        <a:cs typeface="Calibri" charset="0"/>
                      </a:endParaRPr>
                    </a:p>
                  </a:txBody>
                  <a:tcPr marL="91440" marR="91440" marT="45720" marB="45720">
                    <a:lnL w="6350" cap="flat" cmpd="sng" algn="ctr">
                      <a:solidFill>
                        <a:srgbClr val="D0D7E5"/>
                      </a:solidFill>
                      <a:prstDash val="solid"/>
                      <a:round/>
                      <a:headEnd type="none" w="med" len="med"/>
                      <a:tailEnd type="none" w="med" len="med"/>
                    </a:lnL>
                    <a:lnR w="6350" cap="flat" cmpd="sng" algn="ctr">
                      <a:solidFill>
                        <a:srgbClr val="D0D7E5"/>
                      </a:solidFill>
                      <a:prstDash val="solid"/>
                      <a:round/>
                      <a:headEnd type="none" w="med" len="med"/>
                      <a:tailEnd type="none" w="med" len="med"/>
                    </a:lnR>
                    <a:lnT w="6350" cap="flat" cmpd="sng" algn="ctr">
                      <a:solidFill>
                        <a:srgbClr val="D0D7E5"/>
                      </a:solidFill>
                      <a:prstDash val="solid"/>
                      <a:round/>
                      <a:headEnd type="none" w="med" len="med"/>
                      <a:tailEnd type="none" w="med" len="med"/>
                    </a:lnT>
                    <a:lnB w="6350" cap="flat" cmpd="sng" algn="ctr">
                      <a:solidFill>
                        <a:srgbClr val="D0D7E5"/>
                      </a:solidFill>
                      <a:prstDash val="solid"/>
                      <a:round/>
                      <a:headEnd type="none" w="med" len="med"/>
                      <a:tailEnd type="none" w="med" len="med"/>
                    </a:lnB>
                  </a:tcPr>
                </a:tc>
                <a:tc>
                  <a:txBody>
                    <a:bodyPr/>
                    <a:lstStyle/>
                    <a:p>
                      <a:pPr algn="ctr" indent="0" marL="0">
                        <a:buNone/>
                      </a:pPr>
                      <a:r>
                        <a:rPr lang="en-US" sz="1000" b="1" dirty="0">
                          <a:solidFill>
                            <a:srgbClr val="1D7A4A"/>
                          </a:solidFill>
                          <a:latin typeface="Calibri" pitchFamily="34" charset="0"/>
                          <a:ea typeface="Calibri" pitchFamily="34" charset="-122"/>
                          <a:cs typeface="Calibri" pitchFamily="34" charset="-120"/>
                        </a:rPr>
                        <a:t>0.084</a:t>
                      </a:r>
                      <a:endParaRPr lang="en-US" sz="1000" dirty="0">
                        <a:latin typeface="Calibri" charset="0"/>
                        <a:ea typeface="Calibri" charset="0"/>
                        <a:cs typeface="Calibri" charset="0"/>
                      </a:endParaRPr>
                    </a:p>
                  </a:txBody>
                  <a:tcPr marL="91440" marR="91440" marT="45720" marB="45720">
                    <a:lnL w="6350" cap="flat" cmpd="sng" algn="ctr">
                      <a:solidFill>
                        <a:srgbClr val="D0D7E5"/>
                      </a:solidFill>
                      <a:prstDash val="solid"/>
                      <a:round/>
                      <a:headEnd type="none" w="med" len="med"/>
                      <a:tailEnd type="none" w="med" len="med"/>
                    </a:lnL>
                    <a:lnR w="6350" cap="flat" cmpd="sng" algn="ctr">
                      <a:solidFill>
                        <a:srgbClr val="D0D7E5"/>
                      </a:solidFill>
                      <a:prstDash val="solid"/>
                      <a:round/>
                      <a:headEnd type="none" w="med" len="med"/>
                      <a:tailEnd type="none" w="med" len="med"/>
                    </a:lnR>
                    <a:lnT w="6350" cap="flat" cmpd="sng" algn="ctr">
                      <a:solidFill>
                        <a:srgbClr val="D0D7E5"/>
                      </a:solidFill>
                      <a:prstDash val="solid"/>
                      <a:round/>
                      <a:headEnd type="none" w="med" len="med"/>
                      <a:tailEnd type="none" w="med" len="med"/>
                    </a:lnT>
                    <a:lnB w="6350" cap="flat" cmpd="sng" algn="ctr">
                      <a:solidFill>
                        <a:srgbClr val="D0D7E5"/>
                      </a:solidFill>
                      <a:prstDash val="solid"/>
                      <a:round/>
                      <a:headEnd type="none" w="med" len="med"/>
                      <a:tailEnd type="none" w="med" len="med"/>
                    </a:lnB>
                  </a:tcPr>
                </a:tc>
                <a:tc>
                  <a:txBody>
                    <a:bodyPr/>
                    <a:lstStyle/>
                    <a:p>
                      <a:pPr algn="ctr" indent="0" marL="0">
                        <a:buNone/>
                      </a:pPr>
                      <a:r>
                        <a:rPr lang="en-US" sz="1000" b="1" dirty="0">
                          <a:solidFill>
                            <a:srgbClr val="000000"/>
                          </a:solidFill>
                          <a:latin typeface="Calibri" pitchFamily="34" charset="0"/>
                          <a:ea typeface="Calibri" pitchFamily="34" charset="-122"/>
                          <a:cs typeface="Calibri" pitchFamily="34" charset="-120"/>
                        </a:rPr>
                        <a:t>0.067</a:t>
                      </a:r>
                      <a:endParaRPr lang="en-US" sz="1000" dirty="0">
                        <a:latin typeface="Calibri" charset="0"/>
                        <a:ea typeface="Calibri" charset="0"/>
                        <a:cs typeface="Calibri" charset="0"/>
                      </a:endParaRPr>
                    </a:p>
                  </a:txBody>
                  <a:tcPr marL="91440" marR="91440" marT="45720" marB="45720">
                    <a:lnL w="6350" cap="flat" cmpd="sng" algn="ctr">
                      <a:solidFill>
                        <a:srgbClr val="D0D7E5"/>
                      </a:solidFill>
                      <a:prstDash val="solid"/>
                      <a:round/>
                      <a:headEnd type="none" w="med" len="med"/>
                      <a:tailEnd type="none" w="med" len="med"/>
                    </a:lnL>
                    <a:lnR w="6350" cap="flat" cmpd="sng" algn="ctr">
                      <a:solidFill>
                        <a:srgbClr val="D0D7E5"/>
                      </a:solidFill>
                      <a:prstDash val="solid"/>
                      <a:round/>
                      <a:headEnd type="none" w="med" len="med"/>
                      <a:tailEnd type="none" w="med" len="med"/>
                    </a:lnR>
                    <a:lnT w="6350" cap="flat" cmpd="sng" algn="ctr">
                      <a:solidFill>
                        <a:srgbClr val="D0D7E5"/>
                      </a:solidFill>
                      <a:prstDash val="solid"/>
                      <a:round/>
                      <a:headEnd type="none" w="med" len="med"/>
                      <a:tailEnd type="none" w="med" len="med"/>
                    </a:lnT>
                    <a:lnB w="6350" cap="flat" cmpd="sng" algn="ctr">
                      <a:solidFill>
                        <a:srgbClr val="D0D7E5"/>
                      </a:solidFill>
                      <a:prstDash val="solid"/>
                      <a:round/>
                      <a:headEnd type="none" w="med" len="med"/>
                      <a:tailEnd type="none" w="med" len="med"/>
                    </a:lnB>
                  </a:tcPr>
                </a:tc>
              </a:tr>
              <a:tr h="204826">
                <a:tc>
                  <a:txBody>
                    <a:bodyPr/>
                    <a:lstStyle/>
                    <a:p>
                      <a:pPr algn="ctr" indent="0" marL="0">
                        <a:buNone/>
                      </a:pPr>
                      <a:r>
                        <a:rPr lang="en-US" sz="1000" dirty="0">
                          <a:solidFill>
                            <a:srgbClr val="000000"/>
                          </a:solidFill>
                          <a:latin typeface="Calibri" pitchFamily="34" charset="0"/>
                          <a:ea typeface="Calibri" pitchFamily="34" charset="-122"/>
                          <a:cs typeface="Calibri" pitchFamily="34" charset="-120"/>
                        </a:rPr>
                        <a:t>M3 XGB+FinBERT</a:t>
                      </a:r>
                      <a:endParaRPr lang="en-US" sz="1000" dirty="0">
                        <a:latin typeface="Calibri" charset="0"/>
                        <a:ea typeface="Calibri" charset="0"/>
                        <a:cs typeface="Calibri" charset="0"/>
                      </a:endParaRPr>
                    </a:p>
                  </a:txBody>
                  <a:tcPr marL="91440" marR="91440" marT="45720" marB="45720">
                    <a:lnL w="6350" cap="flat" cmpd="sng" algn="ctr">
                      <a:solidFill>
                        <a:srgbClr val="D0D7E5"/>
                      </a:solidFill>
                      <a:prstDash val="solid"/>
                      <a:round/>
                      <a:headEnd type="none" w="med" len="med"/>
                      <a:tailEnd type="none" w="med" len="med"/>
                    </a:lnL>
                    <a:lnR w="6350" cap="flat" cmpd="sng" algn="ctr">
                      <a:solidFill>
                        <a:srgbClr val="D0D7E5"/>
                      </a:solidFill>
                      <a:prstDash val="solid"/>
                      <a:round/>
                      <a:headEnd type="none" w="med" len="med"/>
                      <a:tailEnd type="none" w="med" len="med"/>
                    </a:lnR>
                    <a:lnT w="6350" cap="flat" cmpd="sng" algn="ctr">
                      <a:solidFill>
                        <a:srgbClr val="D0D7E5"/>
                      </a:solidFill>
                      <a:prstDash val="solid"/>
                      <a:round/>
                      <a:headEnd type="none" w="med" len="med"/>
                      <a:tailEnd type="none" w="med" len="med"/>
                    </a:lnT>
                    <a:lnB w="6350" cap="flat" cmpd="sng" algn="ctr">
                      <a:solidFill>
                        <a:srgbClr val="D0D7E5"/>
                      </a:solidFill>
                      <a:prstDash val="solid"/>
                      <a:round/>
                      <a:headEnd type="none" w="med" len="med"/>
                      <a:tailEnd type="none" w="med" len="med"/>
                    </a:lnB>
                  </a:tcPr>
                </a:tc>
                <a:tc>
                  <a:txBody>
                    <a:bodyPr/>
                    <a:lstStyle/>
                    <a:p>
                      <a:pPr algn="ctr" indent="0" marL="0">
                        <a:buNone/>
                      </a:pPr>
                      <a:r>
                        <a:rPr lang="en-US" sz="1000" dirty="0">
                          <a:solidFill>
                            <a:srgbClr val="000000"/>
                          </a:solidFill>
                          <a:latin typeface="Calibri" pitchFamily="34" charset="0"/>
                          <a:ea typeface="Calibri" pitchFamily="34" charset="-122"/>
                          <a:cs typeface="Calibri" pitchFamily="34" charset="-120"/>
                        </a:rPr>
                        <a:t>0.109</a:t>
                      </a:r>
                      <a:endParaRPr lang="en-US" sz="1000" dirty="0">
                        <a:latin typeface="Calibri" charset="0"/>
                        <a:ea typeface="Calibri" charset="0"/>
                        <a:cs typeface="Calibri" charset="0"/>
                      </a:endParaRPr>
                    </a:p>
                  </a:txBody>
                  <a:tcPr marL="91440" marR="91440" marT="45720" marB="45720">
                    <a:lnL w="6350" cap="flat" cmpd="sng" algn="ctr">
                      <a:solidFill>
                        <a:srgbClr val="D0D7E5"/>
                      </a:solidFill>
                      <a:prstDash val="solid"/>
                      <a:round/>
                      <a:headEnd type="none" w="med" len="med"/>
                      <a:tailEnd type="none" w="med" len="med"/>
                    </a:lnL>
                    <a:lnR w="6350" cap="flat" cmpd="sng" algn="ctr">
                      <a:solidFill>
                        <a:srgbClr val="D0D7E5"/>
                      </a:solidFill>
                      <a:prstDash val="solid"/>
                      <a:round/>
                      <a:headEnd type="none" w="med" len="med"/>
                      <a:tailEnd type="none" w="med" len="med"/>
                    </a:lnR>
                    <a:lnT w="6350" cap="flat" cmpd="sng" algn="ctr">
                      <a:solidFill>
                        <a:srgbClr val="D0D7E5"/>
                      </a:solidFill>
                      <a:prstDash val="solid"/>
                      <a:round/>
                      <a:headEnd type="none" w="med" len="med"/>
                      <a:tailEnd type="none" w="med" len="med"/>
                    </a:lnT>
                    <a:lnB w="6350" cap="flat" cmpd="sng" algn="ctr">
                      <a:solidFill>
                        <a:srgbClr val="D0D7E5"/>
                      </a:solidFill>
                      <a:prstDash val="solid"/>
                      <a:round/>
                      <a:headEnd type="none" w="med" len="med"/>
                      <a:tailEnd type="none" w="med" len="med"/>
                    </a:lnB>
                  </a:tcPr>
                </a:tc>
                <a:tc>
                  <a:txBody>
                    <a:bodyPr/>
                    <a:lstStyle/>
                    <a:p>
                      <a:pPr algn="ctr" indent="0" marL="0">
                        <a:buNone/>
                      </a:pPr>
                      <a:r>
                        <a:rPr lang="en-US" sz="1000" dirty="0">
                          <a:solidFill>
                            <a:srgbClr val="000000"/>
                          </a:solidFill>
                          <a:latin typeface="Calibri" pitchFamily="34" charset="0"/>
                          <a:ea typeface="Calibri" pitchFamily="34" charset="-122"/>
                          <a:cs typeface="Calibri" pitchFamily="34" charset="-120"/>
                        </a:rPr>
                        <a:t>0.061</a:t>
                      </a:r>
                      <a:endParaRPr lang="en-US" sz="1000" dirty="0">
                        <a:latin typeface="Calibri" charset="0"/>
                        <a:ea typeface="Calibri" charset="0"/>
                        <a:cs typeface="Calibri" charset="0"/>
                      </a:endParaRPr>
                    </a:p>
                  </a:txBody>
                  <a:tcPr marL="91440" marR="91440" marT="45720" marB="45720">
                    <a:lnL w="6350" cap="flat" cmpd="sng" algn="ctr">
                      <a:solidFill>
                        <a:srgbClr val="D0D7E5"/>
                      </a:solidFill>
                      <a:prstDash val="solid"/>
                      <a:round/>
                      <a:headEnd type="none" w="med" len="med"/>
                      <a:tailEnd type="none" w="med" len="med"/>
                    </a:lnL>
                    <a:lnR w="6350" cap="flat" cmpd="sng" algn="ctr">
                      <a:solidFill>
                        <a:srgbClr val="D0D7E5"/>
                      </a:solidFill>
                      <a:prstDash val="solid"/>
                      <a:round/>
                      <a:headEnd type="none" w="med" len="med"/>
                      <a:tailEnd type="none" w="med" len="med"/>
                    </a:lnR>
                    <a:lnT w="6350" cap="flat" cmpd="sng" algn="ctr">
                      <a:solidFill>
                        <a:srgbClr val="D0D7E5"/>
                      </a:solidFill>
                      <a:prstDash val="solid"/>
                      <a:round/>
                      <a:headEnd type="none" w="med" len="med"/>
                      <a:tailEnd type="none" w="med" len="med"/>
                    </a:lnT>
                    <a:lnB w="6350" cap="flat" cmpd="sng" algn="ctr">
                      <a:solidFill>
                        <a:srgbClr val="D0D7E5"/>
                      </a:solidFill>
                      <a:prstDash val="solid"/>
                      <a:round/>
                      <a:headEnd type="none" w="med" len="med"/>
                      <a:tailEnd type="none" w="med" len="med"/>
                    </a:lnB>
                  </a:tcPr>
                </a:tc>
              </a:tr>
              <a:tr h="204826">
                <a:tc>
                  <a:txBody>
                    <a:bodyPr/>
                    <a:lstStyle/>
                    <a:p>
                      <a:pPr algn="ctr" indent="0" marL="0">
                        <a:buNone/>
                      </a:pPr>
                      <a:r>
                        <a:rPr lang="en-US" sz="1000" b="1" dirty="0">
                          <a:solidFill>
                            <a:srgbClr val="000000"/>
                          </a:solidFill>
                          <a:latin typeface="Calibri" pitchFamily="34" charset="0"/>
                          <a:ea typeface="Calibri" pitchFamily="34" charset="-122"/>
                          <a:cs typeface="Calibri" pitchFamily="34" charset="-120"/>
                        </a:rPr>
                        <a:t>E1-EBM ensemble</a:t>
                      </a:r>
                      <a:endParaRPr lang="en-US" sz="1000" dirty="0">
                        <a:latin typeface="Calibri" charset="0"/>
                        <a:ea typeface="Calibri" charset="0"/>
                        <a:cs typeface="Calibri" charset="0"/>
                      </a:endParaRPr>
                    </a:p>
                  </a:txBody>
                  <a:tcPr marL="91440" marR="91440" marT="45720" marB="45720">
                    <a:lnL w="6350" cap="flat" cmpd="sng" algn="ctr">
                      <a:solidFill>
                        <a:srgbClr val="D0D7E5"/>
                      </a:solidFill>
                      <a:prstDash val="solid"/>
                      <a:round/>
                      <a:headEnd type="none" w="med" len="med"/>
                      <a:tailEnd type="none" w="med" len="med"/>
                    </a:lnL>
                    <a:lnR w="6350" cap="flat" cmpd="sng" algn="ctr">
                      <a:solidFill>
                        <a:srgbClr val="D0D7E5"/>
                      </a:solidFill>
                      <a:prstDash val="solid"/>
                      <a:round/>
                      <a:headEnd type="none" w="med" len="med"/>
                      <a:tailEnd type="none" w="med" len="med"/>
                    </a:lnR>
                    <a:lnT w="6350" cap="flat" cmpd="sng" algn="ctr">
                      <a:solidFill>
                        <a:srgbClr val="D0D7E5"/>
                      </a:solidFill>
                      <a:prstDash val="solid"/>
                      <a:round/>
                      <a:headEnd type="none" w="med" len="med"/>
                      <a:tailEnd type="none" w="med" len="med"/>
                    </a:lnT>
                    <a:lnB w="6350" cap="flat" cmpd="sng" algn="ctr">
                      <a:solidFill>
                        <a:srgbClr val="D0D7E5"/>
                      </a:solidFill>
                      <a:prstDash val="solid"/>
                      <a:round/>
                      <a:headEnd type="none" w="med" len="med"/>
                      <a:tailEnd type="none" w="med" len="med"/>
                    </a:lnB>
                  </a:tcPr>
                </a:tc>
                <a:tc>
                  <a:txBody>
                    <a:bodyPr/>
                    <a:lstStyle/>
                    <a:p>
                      <a:pPr algn="ctr" indent="0" marL="0">
                        <a:buNone/>
                      </a:pPr>
                      <a:r>
                        <a:rPr lang="en-US" sz="1000" b="1" dirty="0">
                          <a:solidFill>
                            <a:srgbClr val="1D7A4A"/>
                          </a:solidFill>
                          <a:latin typeface="Calibri" pitchFamily="34" charset="0"/>
                          <a:ea typeface="Calibri" pitchFamily="34" charset="-122"/>
                          <a:cs typeface="Calibri" pitchFamily="34" charset="-120"/>
                        </a:rPr>
                        <a:t>0.056*</a:t>
                      </a:r>
                      <a:endParaRPr lang="en-US" sz="1000" dirty="0">
                        <a:latin typeface="Calibri" charset="0"/>
                        <a:ea typeface="Calibri" charset="0"/>
                        <a:cs typeface="Calibri" charset="0"/>
                      </a:endParaRPr>
                    </a:p>
                  </a:txBody>
                  <a:tcPr marL="91440" marR="91440" marT="45720" marB="45720">
                    <a:lnL w="6350" cap="flat" cmpd="sng" algn="ctr">
                      <a:solidFill>
                        <a:srgbClr val="D0D7E5"/>
                      </a:solidFill>
                      <a:prstDash val="solid"/>
                      <a:round/>
                      <a:headEnd type="none" w="med" len="med"/>
                      <a:tailEnd type="none" w="med" len="med"/>
                    </a:lnL>
                    <a:lnR w="6350" cap="flat" cmpd="sng" algn="ctr">
                      <a:solidFill>
                        <a:srgbClr val="D0D7E5"/>
                      </a:solidFill>
                      <a:prstDash val="solid"/>
                      <a:round/>
                      <a:headEnd type="none" w="med" len="med"/>
                      <a:tailEnd type="none" w="med" len="med"/>
                    </a:lnR>
                    <a:lnT w="6350" cap="flat" cmpd="sng" algn="ctr">
                      <a:solidFill>
                        <a:srgbClr val="D0D7E5"/>
                      </a:solidFill>
                      <a:prstDash val="solid"/>
                      <a:round/>
                      <a:headEnd type="none" w="med" len="med"/>
                      <a:tailEnd type="none" w="med" len="med"/>
                    </a:lnT>
                    <a:lnB w="6350" cap="flat" cmpd="sng" algn="ctr">
                      <a:solidFill>
                        <a:srgbClr val="D0D7E5"/>
                      </a:solidFill>
                      <a:prstDash val="solid"/>
                      <a:round/>
                      <a:headEnd type="none" w="med" len="med"/>
                      <a:tailEnd type="none" w="med" len="med"/>
                    </a:lnB>
                  </a:tcPr>
                </a:tc>
                <a:tc>
                  <a:txBody>
                    <a:bodyPr/>
                    <a:lstStyle/>
                    <a:p>
                      <a:pPr algn="ctr" indent="0" marL="0">
                        <a:buNone/>
                      </a:pPr>
                      <a:r>
                        <a:rPr lang="en-US" sz="1000" dirty="0">
                          <a:solidFill>
                            <a:srgbClr val="000000"/>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lnL w="6350" cap="flat" cmpd="sng" algn="ctr">
                      <a:solidFill>
                        <a:srgbClr val="D0D7E5"/>
                      </a:solidFill>
                      <a:prstDash val="solid"/>
                      <a:round/>
                      <a:headEnd type="none" w="med" len="med"/>
                      <a:tailEnd type="none" w="med" len="med"/>
                    </a:lnL>
                    <a:lnR w="6350" cap="flat" cmpd="sng" algn="ctr">
                      <a:solidFill>
                        <a:srgbClr val="D0D7E5"/>
                      </a:solidFill>
                      <a:prstDash val="solid"/>
                      <a:round/>
                      <a:headEnd type="none" w="med" len="med"/>
                      <a:tailEnd type="none" w="med" len="med"/>
                    </a:lnR>
                    <a:lnT w="6350" cap="flat" cmpd="sng" algn="ctr">
                      <a:solidFill>
                        <a:srgbClr val="D0D7E5"/>
                      </a:solidFill>
                      <a:prstDash val="solid"/>
                      <a:round/>
                      <a:headEnd type="none" w="med" len="med"/>
                      <a:tailEnd type="none" w="med" len="med"/>
                    </a:lnT>
                    <a:lnB w="6350" cap="flat" cmpd="sng" algn="ctr">
                      <a:solidFill>
                        <a:srgbClr val="D0D7E5"/>
                      </a:solidFill>
                      <a:prstDash val="solid"/>
                      <a:round/>
                      <a:headEnd type="none" w="med" len="med"/>
                      <a:tailEnd type="none" w="med" len="med"/>
                    </a:lnB>
                  </a:tcPr>
                </a:tc>
              </a:tr>
            </a:tbl>
          </a:graphicData>
        </a:graphic>
      </p:graphicFrame>
      <p:sp>
        <p:nvSpPr>
          <p:cNvPr id="10" name="Text 5"/>
          <p:cNvSpPr/>
          <p:nvPr/>
        </p:nvSpPr>
        <p:spPr>
          <a:xfrm>
            <a:off x="3858768" y="3703320"/>
            <a:ext cx="5120640" cy="274320"/>
          </a:xfrm>
          <a:prstGeom prst="rect">
            <a:avLst/>
          </a:prstGeom>
          <a:noFill/>
          <a:ln/>
        </p:spPr>
        <p:txBody>
          <a:bodyPr wrap="square" lIns="0" tIns="0" rIns="0" bIns="0" rtlCol="0" anchor="ctr"/>
          <a:lstStyle/>
          <a:p>
            <a:pPr algn="l" indent="0" marL="0">
              <a:buNone/>
            </a:pPr>
            <a:r>
              <a:rPr lang="en-US" sz="950" i="1" dirty="0">
                <a:solidFill>
                  <a:srgbClr val="64748B"/>
                </a:solidFill>
                <a:latin typeface="Calibri" pitchFamily="34" charset="0"/>
                <a:ea typeface="Calibri" pitchFamily="34" charset="-122"/>
                <a:cs typeface="Calibri" pitchFamily="34" charset="-120"/>
              </a:rPr>
              <a:t>*E1-EBM Brier 0.056 = best calibration of any configuration</a:t>
            </a:r>
            <a:endParaRPr lang="en-US" sz="950" dirty="0"/>
          </a:p>
        </p:txBody>
      </p:sp>
      <p:sp>
        <p:nvSpPr>
          <p:cNvPr id="11" name="Shape 6"/>
          <p:cNvSpPr/>
          <p:nvPr/>
        </p:nvSpPr>
        <p:spPr>
          <a:xfrm>
            <a:off x="3858768" y="4005072"/>
            <a:ext cx="5120640" cy="1024128"/>
          </a:xfrm>
          <a:prstGeom prst="rect">
            <a:avLst/>
          </a:prstGeom>
          <a:solidFill>
            <a:srgbClr val="F0F4F9"/>
          </a:solidFill>
          <a:ln w="19050">
            <a:solidFill>
              <a:srgbClr val="2E6DB4"/>
            </a:solidFill>
            <a:prstDash val="solid"/>
          </a:ln>
          <a:effectLst>
            <a:outerShdw sx="100000" sy="100000" kx="0" ky="0" algn="bl" rotWithShape="0" blurRad="101600" dist="38100" dir="8100000">
              <a:srgbClr val="000000">
                <a:alpha val="13000"/>
              </a:srgbClr>
            </a:outerShdw>
          </a:effectLst>
        </p:spPr>
      </p:sp>
      <p:sp>
        <p:nvSpPr>
          <p:cNvPr id="12" name="Shape 7"/>
          <p:cNvSpPr/>
          <p:nvPr/>
        </p:nvSpPr>
        <p:spPr>
          <a:xfrm>
            <a:off x="3858768" y="4005072"/>
            <a:ext cx="5120640" cy="301752"/>
          </a:xfrm>
          <a:prstGeom prst="rect">
            <a:avLst/>
          </a:prstGeom>
          <a:solidFill>
            <a:srgbClr val="2E6DB4"/>
          </a:solidFill>
          <a:ln w="12700">
            <a:solidFill>
              <a:srgbClr val="2E6DB4"/>
            </a:solidFill>
            <a:prstDash val="solid"/>
          </a:ln>
        </p:spPr>
      </p:sp>
      <p:sp>
        <p:nvSpPr>
          <p:cNvPr id="13" name="Text 8"/>
          <p:cNvSpPr/>
          <p:nvPr/>
        </p:nvSpPr>
        <p:spPr>
          <a:xfrm>
            <a:off x="3913632" y="4005072"/>
            <a:ext cx="5029200" cy="301752"/>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Key: macro dominates, EBM best ECE</a:t>
            </a:r>
            <a:endParaRPr lang="en-US" sz="1100" dirty="0"/>
          </a:p>
        </p:txBody>
      </p:sp>
      <p:sp>
        <p:nvSpPr>
          <p:cNvPr id="14" name="Text 9"/>
          <p:cNvSpPr/>
          <p:nvPr/>
        </p:nvSpPr>
        <p:spPr>
          <a:xfrm>
            <a:off x="3950208" y="4334256"/>
            <a:ext cx="4956048" cy="640080"/>
          </a:xfrm>
          <a:prstGeom prst="rect">
            <a:avLst/>
          </a:prstGeom>
          <a:noFill/>
          <a:ln/>
        </p:spPr>
        <p:txBody>
          <a:bodyPr wrap="square" lIns="25400" tIns="25400" rIns="25400" bIns="25400" rtlCol="0" anchor="t"/>
          <a:lstStyle/>
          <a:p>
            <a:pPr algn="l" indent="0" marL="0">
              <a:buNone/>
            </a:pPr>
            <a:r>
              <a:rPr lang="en-US" sz="1000" dirty="0">
                <a:solidFill>
                  <a:srgbClr val="2D3748"/>
                </a:solidFill>
                <a:latin typeface="Calibri" pitchFamily="34" charset="0"/>
                <a:ea typeface="Calibri" pitchFamily="34" charset="-122"/>
                <a:cs typeface="Calibri" pitchFamily="34" charset="-120"/>
              </a:rPr>
              <a:t>Both SHAP (73.8% macro) and EBM native importance agree: term_spread_lag3 is the dominant feature. No sentiment in top-5. EBM achieves best ECE (0.084) without isotonic calibration.</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8A020"/>
          </a:solidFill>
          <a:ln w="12700">
            <a:solidFill>
              <a:srgbClr val="E8A020"/>
            </a:solidFill>
            <a:prstDash val="solid"/>
          </a:ln>
        </p:spPr>
      </p:sp>
      <p:sp>
        <p:nvSpPr>
          <p:cNvPr id="3" name="Text 1"/>
          <p:cNvSpPr/>
          <p:nvPr/>
        </p:nvSpPr>
        <p:spPr>
          <a:xfrm>
            <a:off x="256032" y="118872"/>
            <a:ext cx="8686800" cy="566928"/>
          </a:xfrm>
          <a:prstGeom prst="rect">
            <a:avLst/>
          </a:prstGeom>
          <a:noFill/>
          <a:ln/>
        </p:spPr>
        <p:txBody>
          <a:bodyPr wrap="square" lIns="0" tIns="0" rIns="0" bIns="0" rtlCol="0" anchor="ctr"/>
          <a:lstStyle/>
          <a:p>
            <a:pPr algn="l" indent="0" marL="0">
              <a:buNone/>
            </a:pPr>
            <a:r>
              <a:rPr lang="en-US" sz="2600" b="1" dirty="0">
                <a:solidFill>
                  <a:srgbClr val="0D1B3E"/>
                </a:solidFill>
                <a:latin typeface="Calibri" pitchFamily="34" charset="0"/>
                <a:ea typeface="Calibri" pitchFamily="34" charset="-122"/>
                <a:cs typeface="Calibri" pitchFamily="34" charset="-120"/>
              </a:rPr>
              <a:t>2007 Cross-Sectional Ranking: Crisis Heterogeneity</a:t>
            </a:r>
            <a:endParaRPr lang="en-US" sz="2600" dirty="0"/>
          </a:p>
        </p:txBody>
      </p:sp>
      <p:sp>
        <p:nvSpPr>
          <p:cNvPr id="4" name="Text 2"/>
          <p:cNvSpPr/>
          <p:nvPr/>
        </p:nvSpPr>
        <p:spPr>
          <a:xfrm>
            <a:off x="256032" y="685800"/>
            <a:ext cx="8686800" cy="274320"/>
          </a:xfrm>
          <a:prstGeom prst="rect">
            <a:avLst/>
          </a:prstGeom>
          <a:noFill/>
          <a:ln/>
        </p:spPr>
        <p:txBody>
          <a:bodyPr wrap="square" lIns="0" tIns="0" rIns="0" bIns="0" rtlCol="0" anchor="t"/>
          <a:lstStyle/>
          <a:p>
            <a:pPr algn="l" indent="0" marL="0">
              <a:buNone/>
            </a:pPr>
            <a:r>
              <a:rPr lang="en-US" sz="1200" i="1" dirty="0">
                <a:solidFill>
                  <a:srgbClr val="2E6DB4"/>
                </a:solidFill>
                <a:latin typeface="Calibri" pitchFamily="34" charset="0"/>
                <a:ea typeface="Calibri" pitchFamily="34" charset="-122"/>
                <a:cs typeface="Calibri" pitchFamily="34" charset="-120"/>
              </a:rPr>
              <a:t>E1-EBM probability ranking by crisis type — exploratory and post-hoc</a:t>
            </a:r>
            <a:endParaRPr lang="en-US" sz="1200" dirty="0"/>
          </a:p>
        </p:txBody>
      </p:sp>
      <p:sp>
        <p:nvSpPr>
          <p:cNvPr id="5" name="Shape 3"/>
          <p:cNvSpPr/>
          <p:nvPr/>
        </p:nvSpPr>
        <p:spPr>
          <a:xfrm>
            <a:off x="256032" y="987552"/>
            <a:ext cx="8686800" cy="0"/>
          </a:xfrm>
          <a:prstGeom prst="line">
            <a:avLst/>
          </a:prstGeom>
          <a:noFill/>
          <a:ln w="10160">
            <a:solidFill>
              <a:srgbClr val="D6E4F7"/>
            </a:solidFill>
            <a:prstDash val="solid"/>
          </a:ln>
        </p:spPr>
      </p:sp>
      <p:graphicFrame>
        <p:nvGraphicFramePr>
          <p:cNvPr id="6" name="Chart 0" descr=""/>
          <p:cNvGraphicFramePr/>
          <p:nvPr/>
        </p:nvGraphicFramePr>
        <p:xfrm>
          <a:off x="256032" y="1078992"/>
          <a:ext cx="5120640" cy="3291840"/>
        </p:xfrm>
        <a:graphic xmlns:a="http://schemas.openxmlformats.org/drawingml/2006/main">
          <a:graphicData uri="http://schemas.openxmlformats.org/drawingml/2006/chart">
            <c:chart xmlns:c="http://schemas.openxmlformats.org/drawingml/2006/chart" r:id="rId1"/>
          </a:graphicData>
        </a:graphic>
      </p:graphicFrame>
      <p:graphicFrame>
        <p:nvGraphicFramePr>
          <p:cNvPr id="7" name="Chart 1" descr=""/>
          <p:cNvGraphicFramePr/>
          <p:nvPr/>
        </p:nvGraphicFramePr>
        <p:xfrm>
          <a:off x="5532120" y="1078992"/>
          <a:ext cx="3429000" cy="2103120"/>
        </p:xfrm>
        <a:graphic xmlns:a="http://schemas.openxmlformats.org/drawingml/2006/main">
          <a:graphicData uri="http://schemas.openxmlformats.org/drawingml/2006/chart">
            <c:chart xmlns:c="http://schemas.openxmlformats.org/drawingml/2006/chart" r:id="rId2"/>
          </a:graphicData>
        </a:graphic>
      </p:graphicFrame>
      <p:sp>
        <p:nvSpPr>
          <p:cNvPr id="8" name="Shape 4"/>
          <p:cNvSpPr/>
          <p:nvPr/>
        </p:nvSpPr>
        <p:spPr>
          <a:xfrm>
            <a:off x="5532120" y="3291840"/>
            <a:ext cx="3429000" cy="1078992"/>
          </a:xfrm>
          <a:prstGeom prst="rect">
            <a:avLst/>
          </a:prstGeom>
          <a:solidFill>
            <a:srgbClr val="F0F4F9"/>
          </a:solidFill>
          <a:ln w="19050">
            <a:solidFill>
              <a:srgbClr val="2E6DB4"/>
            </a:solidFill>
            <a:prstDash val="solid"/>
          </a:ln>
          <a:effectLst>
            <a:outerShdw sx="100000" sy="100000" kx="0" ky="0" algn="bl" rotWithShape="0" blurRad="101600" dist="38100" dir="8100000">
              <a:srgbClr val="000000">
                <a:alpha val="13000"/>
              </a:srgbClr>
            </a:outerShdw>
          </a:effectLst>
        </p:spPr>
      </p:sp>
      <p:sp>
        <p:nvSpPr>
          <p:cNvPr id="9" name="Shape 5"/>
          <p:cNvSpPr/>
          <p:nvPr/>
        </p:nvSpPr>
        <p:spPr>
          <a:xfrm>
            <a:off x="5532120" y="3291840"/>
            <a:ext cx="3429000" cy="301752"/>
          </a:xfrm>
          <a:prstGeom prst="rect">
            <a:avLst/>
          </a:prstGeom>
          <a:solidFill>
            <a:srgbClr val="2E6DB4"/>
          </a:solidFill>
          <a:ln w="12700">
            <a:solidFill>
              <a:srgbClr val="2E6DB4"/>
            </a:solidFill>
            <a:prstDash val="solid"/>
          </a:ln>
        </p:spPr>
      </p:sp>
      <p:sp>
        <p:nvSpPr>
          <p:cNvPr id="10" name="Text 6"/>
          <p:cNvSpPr/>
          <p:nvPr/>
        </p:nvSpPr>
        <p:spPr>
          <a:xfrm>
            <a:off x="5586984" y="3291840"/>
            <a:ext cx="3337560" cy="301752"/>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Model discriminates by mechanism</a:t>
            </a:r>
            <a:endParaRPr lang="en-US" sz="1100" dirty="0"/>
          </a:p>
        </p:txBody>
      </p:sp>
      <p:sp>
        <p:nvSpPr>
          <p:cNvPr id="11" name="Text 7"/>
          <p:cNvSpPr/>
          <p:nvPr/>
        </p:nvSpPr>
        <p:spPr>
          <a:xfrm>
            <a:off x="5623560" y="3621024"/>
            <a:ext cx="3264408" cy="694944"/>
          </a:xfrm>
          <a:prstGeom prst="rect">
            <a:avLst/>
          </a:prstGeom>
          <a:noFill/>
          <a:ln/>
        </p:spPr>
        <p:txBody>
          <a:bodyPr wrap="square" lIns="25400" tIns="25400" rIns="25400" bIns="25400" rtlCol="0" anchor="t"/>
          <a:lstStyle/>
          <a:p>
            <a:pPr algn="l" indent="0" marL="0">
              <a:buNone/>
            </a:pPr>
            <a:r>
              <a:rPr lang="en-US" sz="1000" dirty="0">
                <a:solidFill>
                  <a:srgbClr val="2D3748"/>
                </a:solidFill>
                <a:latin typeface="Calibri" pitchFamily="34" charset="0"/>
                <a:ea typeface="Calibri" pitchFamily="34" charset="-122"/>
                <a:cs typeface="Calibri" pitchFamily="34" charset="-120"/>
              </a:rPr>
              <a:t>Fundamental (credit boom) crises: mean 0.695. Contagion: 0.395. No crisis: 0.325. Model trained on macro credit-cycle precursors assigns higher risk to domestically generated stress — consistent with the feature set's scope.</a:t>
            </a:r>
            <a:endParaRPr lang="en-US" sz="1000" dirty="0"/>
          </a:p>
        </p:txBody>
      </p:sp>
      <p:sp>
        <p:nvSpPr>
          <p:cNvPr id="12" name="Shape 8"/>
          <p:cNvSpPr/>
          <p:nvPr/>
        </p:nvSpPr>
        <p:spPr>
          <a:xfrm>
            <a:off x="256032" y="4718304"/>
            <a:ext cx="8686800" cy="320040"/>
          </a:xfrm>
          <a:prstGeom prst="rect">
            <a:avLst/>
          </a:prstGeom>
          <a:solidFill>
            <a:srgbClr val="0D1B3E"/>
          </a:solidFill>
          <a:ln w="12700">
            <a:solidFill>
              <a:srgbClr val="0D1B3E"/>
            </a:solidFill>
            <a:prstDash val="solid"/>
          </a:ln>
        </p:spPr>
      </p:sp>
      <p:sp>
        <p:nvSpPr>
          <p:cNvPr id="13" name="Shape 9"/>
          <p:cNvSpPr/>
          <p:nvPr/>
        </p:nvSpPr>
        <p:spPr>
          <a:xfrm>
            <a:off x="256032" y="4718304"/>
            <a:ext cx="411480" cy="320040"/>
          </a:xfrm>
          <a:prstGeom prst="rect">
            <a:avLst/>
          </a:prstGeom>
          <a:solidFill>
            <a:srgbClr val="E8A020"/>
          </a:solidFill>
          <a:ln w="12700">
            <a:solidFill>
              <a:srgbClr val="E8A020"/>
            </a:solidFill>
            <a:prstDash val="solid"/>
          </a:ln>
        </p:spPr>
      </p:sp>
      <p:sp>
        <p:nvSpPr>
          <p:cNvPr id="14" name="Text 10"/>
          <p:cNvSpPr/>
          <p:nvPr/>
        </p:nvSpPr>
        <p:spPr>
          <a:xfrm>
            <a:off x="731520" y="4718304"/>
            <a:ext cx="8183880" cy="320040"/>
          </a:xfrm>
          <a:prstGeom prst="rect">
            <a:avLst/>
          </a:prstGeom>
          <a:noFill/>
          <a:ln/>
        </p:spPr>
        <p:txBody>
          <a:bodyPr wrap="square" lIns="38100" tIns="38100" rIns="38100" bIns="38100" rtlCol="0" anchor="ctr"/>
          <a:lstStyle/>
          <a:p>
            <a:pPr algn="l" indent="0" marL="0">
              <a:buNone/>
            </a:pPr>
            <a:r>
              <a:rPr lang="en-US" sz="950" i="1" dirty="0">
                <a:solidFill>
                  <a:srgbClr val="FFFFFF"/>
                </a:solidFill>
                <a:latin typeface="Calibri" pitchFamily="34" charset="0"/>
                <a:ea typeface="Calibri" pitchFamily="34" charset="-122"/>
                <a:cs typeface="Calibri" pitchFamily="34" charset="-120"/>
              </a:rPr>
              <a:t>This analysis is explicitly exploratory and post-hoc. GBR qualitative scope failure (target_h2=0 under JST chronology). SWE true positive (Contagion ★, target_h2=1).</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8A020"/>
          </a:solidFill>
          <a:ln w="12700">
            <a:solidFill>
              <a:srgbClr val="E8A020"/>
            </a:solidFill>
            <a:prstDash val="solid"/>
          </a:ln>
        </p:spPr>
      </p:sp>
      <p:sp>
        <p:nvSpPr>
          <p:cNvPr id="3" name="Text 1"/>
          <p:cNvSpPr/>
          <p:nvPr/>
        </p:nvSpPr>
        <p:spPr>
          <a:xfrm>
            <a:off x="256032" y="118872"/>
            <a:ext cx="8686800" cy="566928"/>
          </a:xfrm>
          <a:prstGeom prst="rect">
            <a:avLst/>
          </a:prstGeom>
          <a:noFill/>
          <a:ln/>
        </p:spPr>
        <p:txBody>
          <a:bodyPr wrap="square" lIns="0" tIns="0" rIns="0" bIns="0" rtlCol="0" anchor="ctr"/>
          <a:lstStyle/>
          <a:p>
            <a:pPr algn="l" indent="0" marL="0">
              <a:buNone/>
            </a:pPr>
            <a:r>
              <a:rPr lang="en-US" sz="2600" b="1" dirty="0">
                <a:solidFill>
                  <a:srgbClr val="0D1B3E"/>
                </a:solidFill>
                <a:latin typeface="Calibri" pitchFamily="34" charset="0"/>
                <a:ea typeface="Calibri" pitchFamily="34" charset="-122"/>
                <a:cs typeface="Calibri" pitchFamily="34" charset="-120"/>
              </a:rPr>
              <a:t>Hypothesis Verdicts and Four Conclusions</a:t>
            </a:r>
            <a:endParaRPr lang="en-US" sz="2600" dirty="0"/>
          </a:p>
        </p:txBody>
      </p:sp>
      <p:sp>
        <p:nvSpPr>
          <p:cNvPr id="4" name="Text 2"/>
          <p:cNvSpPr/>
          <p:nvPr/>
        </p:nvSpPr>
        <p:spPr>
          <a:xfrm>
            <a:off x="256032" y="685800"/>
            <a:ext cx="8686800" cy="274320"/>
          </a:xfrm>
          <a:prstGeom prst="rect">
            <a:avLst/>
          </a:prstGeom>
          <a:noFill/>
          <a:ln/>
        </p:spPr>
        <p:txBody>
          <a:bodyPr wrap="square" lIns="0" tIns="0" rIns="0" bIns="0" rtlCol="0" anchor="t"/>
          <a:lstStyle/>
          <a:p>
            <a:pPr algn="l" indent="0" marL="0">
              <a:buNone/>
            </a:pPr>
            <a:r>
              <a:rPr lang="en-US" sz="1200" i="1" dirty="0">
                <a:solidFill>
                  <a:srgbClr val="2E6DB4"/>
                </a:solidFill>
                <a:latin typeface="Calibri" pitchFamily="34" charset="0"/>
                <a:ea typeface="Calibri" pitchFamily="34" charset="-122"/>
                <a:cs typeface="Calibri" pitchFamily="34" charset="-120"/>
              </a:rPr>
              <a:t>H1 · H2 · H3 — and what they collectively establish</a:t>
            </a:r>
            <a:endParaRPr lang="en-US" sz="1200" dirty="0"/>
          </a:p>
        </p:txBody>
      </p:sp>
      <p:sp>
        <p:nvSpPr>
          <p:cNvPr id="5" name="Shape 3"/>
          <p:cNvSpPr/>
          <p:nvPr/>
        </p:nvSpPr>
        <p:spPr>
          <a:xfrm>
            <a:off x="256032" y="987552"/>
            <a:ext cx="8686800" cy="0"/>
          </a:xfrm>
          <a:prstGeom prst="line">
            <a:avLst/>
          </a:prstGeom>
          <a:noFill/>
          <a:ln w="10160">
            <a:solidFill>
              <a:srgbClr val="D6E4F7"/>
            </a:solidFill>
            <a:prstDash val="solid"/>
          </a:ln>
        </p:spPr>
      </p:sp>
      <p:sp>
        <p:nvSpPr>
          <p:cNvPr id="6" name="Shape 4"/>
          <p:cNvSpPr/>
          <p:nvPr/>
        </p:nvSpPr>
        <p:spPr>
          <a:xfrm>
            <a:off x="256032" y="1078992"/>
            <a:ext cx="8686800" cy="777240"/>
          </a:xfrm>
          <a:prstGeom prst="rect">
            <a:avLst/>
          </a:prstGeom>
          <a:solidFill>
            <a:srgbClr val="F0F4F9"/>
          </a:solidFill>
          <a:ln w="19050">
            <a:solidFill>
              <a:srgbClr val="E8A020"/>
            </a:solidFill>
            <a:prstDash val="solid"/>
          </a:ln>
          <a:effectLst>
            <a:outerShdw sx="100000" sy="100000" kx="0" ky="0" algn="bl" rotWithShape="0" blurRad="101600" dist="38100" dir="8100000">
              <a:srgbClr val="000000">
                <a:alpha val="13000"/>
              </a:srgbClr>
            </a:outerShdw>
          </a:effectLst>
        </p:spPr>
      </p:sp>
      <p:sp>
        <p:nvSpPr>
          <p:cNvPr id="7" name="Shape 5"/>
          <p:cNvSpPr/>
          <p:nvPr/>
        </p:nvSpPr>
        <p:spPr>
          <a:xfrm>
            <a:off x="256032" y="1078992"/>
            <a:ext cx="502920" cy="777240"/>
          </a:xfrm>
          <a:prstGeom prst="rect">
            <a:avLst/>
          </a:prstGeom>
          <a:solidFill>
            <a:srgbClr val="E8A020"/>
          </a:solidFill>
          <a:ln w="12700">
            <a:solidFill>
              <a:srgbClr val="E8A020"/>
            </a:solidFill>
            <a:prstDash val="solid"/>
          </a:ln>
        </p:spPr>
      </p:sp>
      <p:sp>
        <p:nvSpPr>
          <p:cNvPr id="8" name="Text 6"/>
          <p:cNvSpPr/>
          <p:nvPr/>
        </p:nvSpPr>
        <p:spPr>
          <a:xfrm>
            <a:off x="256032" y="1078992"/>
            <a:ext cx="502920" cy="7772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H1</a:t>
            </a:r>
            <a:endParaRPr lang="en-US" sz="1600" dirty="0"/>
          </a:p>
        </p:txBody>
      </p:sp>
      <p:sp>
        <p:nvSpPr>
          <p:cNvPr id="9" name="Text 7"/>
          <p:cNvSpPr/>
          <p:nvPr/>
        </p:nvSpPr>
        <p:spPr>
          <a:xfrm>
            <a:off x="822960" y="1124712"/>
            <a:ext cx="3566160" cy="320040"/>
          </a:xfrm>
          <a:prstGeom prst="rect">
            <a:avLst/>
          </a:prstGeom>
          <a:noFill/>
          <a:ln/>
        </p:spPr>
        <p:txBody>
          <a:bodyPr wrap="square" lIns="0" tIns="0" rIns="0" bIns="0" rtlCol="0" anchor="t"/>
          <a:lstStyle/>
          <a:p>
            <a:pPr algn="l" indent="0" marL="0">
              <a:buNone/>
            </a:pPr>
            <a:r>
              <a:rPr lang="en-US" sz="1050" b="1" dirty="0">
                <a:solidFill>
                  <a:srgbClr val="0D1B3E"/>
                </a:solidFill>
                <a:latin typeface="Calibri" pitchFamily="34" charset="0"/>
                <a:ea typeface="Calibri" pitchFamily="34" charset="-122"/>
                <a:cs typeface="Calibri" pitchFamily="34" charset="-120"/>
              </a:rPr>
              <a:t>FinBERT improves AUPRC vs macro baseline?</a:t>
            </a:r>
            <a:endParaRPr lang="en-US" sz="1050" dirty="0"/>
          </a:p>
        </p:txBody>
      </p:sp>
      <p:sp>
        <p:nvSpPr>
          <p:cNvPr id="10" name="Text 8"/>
          <p:cNvSpPr/>
          <p:nvPr/>
        </p:nvSpPr>
        <p:spPr>
          <a:xfrm>
            <a:off x="822960" y="1463040"/>
            <a:ext cx="3566160" cy="347472"/>
          </a:xfrm>
          <a:prstGeom prst="rect">
            <a:avLst/>
          </a:prstGeom>
          <a:noFill/>
          <a:ln/>
        </p:spPr>
        <p:txBody>
          <a:bodyPr wrap="square" lIns="0" tIns="0" rIns="0" bIns="0" rtlCol="0" anchor="t"/>
          <a:lstStyle/>
          <a:p>
            <a:pPr algn="l" indent="0" marL="0">
              <a:buNone/>
            </a:pPr>
            <a:r>
              <a:rPr lang="en-US" sz="950" dirty="0">
                <a:solidFill>
                  <a:srgbClr val="2D3748"/>
                </a:solidFill>
                <a:latin typeface="Calibri" pitchFamily="34" charset="0"/>
                <a:ea typeface="Calibri" pitchFamily="34" charset="-122"/>
                <a:cs typeface="Calibri" pitchFamily="34" charset="-120"/>
              </a:rPr>
              <a:t>M3 0.411 &gt; M2m 0.343. CI spans zero. EBM macro-only 0.532 &gt; M3. Algorithm dominates.</a:t>
            </a:r>
            <a:endParaRPr lang="en-US" sz="950" dirty="0"/>
          </a:p>
        </p:txBody>
      </p:sp>
      <p:sp>
        <p:nvSpPr>
          <p:cNvPr id="11" name="Shape 9"/>
          <p:cNvSpPr/>
          <p:nvPr/>
        </p:nvSpPr>
        <p:spPr>
          <a:xfrm>
            <a:off x="4572000" y="1216152"/>
            <a:ext cx="4251960" cy="475488"/>
          </a:xfrm>
          <a:prstGeom prst="rect">
            <a:avLst/>
          </a:prstGeom>
          <a:solidFill>
            <a:srgbClr val="FFFFFF"/>
          </a:solidFill>
          <a:ln w="12700">
            <a:solidFill>
              <a:srgbClr val="E8A020"/>
            </a:solidFill>
            <a:prstDash val="solid"/>
          </a:ln>
        </p:spPr>
      </p:sp>
      <p:sp>
        <p:nvSpPr>
          <p:cNvPr id="12" name="Text 10"/>
          <p:cNvSpPr/>
          <p:nvPr/>
        </p:nvSpPr>
        <p:spPr>
          <a:xfrm>
            <a:off x="4572000" y="1216152"/>
            <a:ext cx="4251960" cy="475488"/>
          </a:xfrm>
          <a:prstGeom prst="rect">
            <a:avLst/>
          </a:prstGeom>
          <a:noFill/>
          <a:ln/>
        </p:spPr>
        <p:txBody>
          <a:bodyPr wrap="square" lIns="0" tIns="0" rIns="0" bIns="0" rtlCol="0" anchor="ctr"/>
          <a:lstStyle/>
          <a:p>
            <a:pPr algn="ctr" indent="0" marL="0">
              <a:buNone/>
            </a:pPr>
            <a:r>
              <a:rPr lang="en-US" sz="1300" b="1" dirty="0">
                <a:solidFill>
                  <a:srgbClr val="E8A020"/>
                </a:solidFill>
                <a:latin typeface="Calibri" pitchFamily="34" charset="0"/>
                <a:ea typeface="Calibri" pitchFamily="34" charset="-122"/>
                <a:cs typeface="Calibri" pitchFamily="34" charset="-120"/>
              </a:rPr>
              <a:t>Directionally supported</a:t>
            </a:r>
            <a:endParaRPr lang="en-US" sz="1300" dirty="0"/>
          </a:p>
        </p:txBody>
      </p:sp>
      <p:sp>
        <p:nvSpPr>
          <p:cNvPr id="13" name="Shape 11"/>
          <p:cNvSpPr/>
          <p:nvPr/>
        </p:nvSpPr>
        <p:spPr>
          <a:xfrm>
            <a:off x="256032" y="1947672"/>
            <a:ext cx="8686800" cy="777240"/>
          </a:xfrm>
          <a:prstGeom prst="rect">
            <a:avLst/>
          </a:prstGeom>
          <a:solidFill>
            <a:srgbClr val="F0F4F9"/>
          </a:solidFill>
          <a:ln w="19050">
            <a:solidFill>
              <a:srgbClr val="C0392B"/>
            </a:solidFill>
            <a:prstDash val="solid"/>
          </a:ln>
          <a:effectLst>
            <a:outerShdw sx="100000" sy="100000" kx="0" ky="0" algn="bl" rotWithShape="0" blurRad="101600" dist="38100" dir="8100000">
              <a:srgbClr val="000000">
                <a:alpha val="13000"/>
              </a:srgbClr>
            </a:outerShdw>
          </a:effectLst>
        </p:spPr>
      </p:sp>
      <p:sp>
        <p:nvSpPr>
          <p:cNvPr id="14" name="Shape 12"/>
          <p:cNvSpPr/>
          <p:nvPr/>
        </p:nvSpPr>
        <p:spPr>
          <a:xfrm>
            <a:off x="256032" y="1947672"/>
            <a:ext cx="502920" cy="777240"/>
          </a:xfrm>
          <a:prstGeom prst="rect">
            <a:avLst/>
          </a:prstGeom>
          <a:solidFill>
            <a:srgbClr val="C0392B"/>
          </a:solidFill>
          <a:ln w="12700">
            <a:solidFill>
              <a:srgbClr val="C0392B"/>
            </a:solidFill>
            <a:prstDash val="solid"/>
          </a:ln>
        </p:spPr>
      </p:sp>
      <p:sp>
        <p:nvSpPr>
          <p:cNvPr id="15" name="Text 13"/>
          <p:cNvSpPr/>
          <p:nvPr/>
        </p:nvSpPr>
        <p:spPr>
          <a:xfrm>
            <a:off x="256032" y="1947672"/>
            <a:ext cx="502920" cy="7772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H2</a:t>
            </a:r>
            <a:endParaRPr lang="en-US" sz="1600" dirty="0"/>
          </a:p>
        </p:txBody>
      </p:sp>
      <p:sp>
        <p:nvSpPr>
          <p:cNvPr id="16" name="Text 14"/>
          <p:cNvSpPr/>
          <p:nvPr/>
        </p:nvSpPr>
        <p:spPr>
          <a:xfrm>
            <a:off x="822960" y="1993392"/>
            <a:ext cx="3566160" cy="320040"/>
          </a:xfrm>
          <a:prstGeom prst="rect">
            <a:avLst/>
          </a:prstGeom>
          <a:noFill/>
          <a:ln/>
        </p:spPr>
        <p:txBody>
          <a:bodyPr wrap="square" lIns="0" tIns="0" rIns="0" bIns="0" rtlCol="0" anchor="t"/>
          <a:lstStyle/>
          <a:p>
            <a:pPr algn="l" indent="0" marL="0">
              <a:buNone/>
            </a:pPr>
            <a:r>
              <a:rPr lang="en-US" sz="1050" b="1" dirty="0">
                <a:solidFill>
                  <a:srgbClr val="0D1B3E"/>
                </a:solidFill>
                <a:latin typeface="Calibri" pitchFamily="34" charset="0"/>
                <a:ea typeface="Calibri" pitchFamily="34" charset="-122"/>
                <a:cs typeface="Calibri" pitchFamily="34" charset="-120"/>
              </a:rPr>
              <a:t>FinBERT feature in top-5 SHAP?</a:t>
            </a:r>
            <a:endParaRPr lang="en-US" sz="1050" dirty="0"/>
          </a:p>
        </p:txBody>
      </p:sp>
      <p:sp>
        <p:nvSpPr>
          <p:cNvPr id="17" name="Text 15"/>
          <p:cNvSpPr/>
          <p:nvPr/>
        </p:nvSpPr>
        <p:spPr>
          <a:xfrm>
            <a:off x="822960" y="2331720"/>
            <a:ext cx="3566160" cy="347472"/>
          </a:xfrm>
          <a:prstGeom prst="rect">
            <a:avLst/>
          </a:prstGeom>
          <a:noFill/>
          <a:ln/>
        </p:spPr>
        <p:txBody>
          <a:bodyPr wrap="square" lIns="0" tIns="0" rIns="0" bIns="0" rtlCol="0" anchor="t"/>
          <a:lstStyle/>
          <a:p>
            <a:pPr algn="l" indent="0" marL="0">
              <a:buNone/>
            </a:pPr>
            <a:r>
              <a:rPr lang="en-US" sz="950" dirty="0">
                <a:solidFill>
                  <a:srgbClr val="2D3748"/>
                </a:solidFill>
                <a:latin typeface="Calibri" pitchFamily="34" charset="0"/>
                <a:ea typeface="Calibri" pitchFamily="34" charset="-122"/>
                <a:cs typeface="Calibri" pitchFamily="34" charset="-120"/>
              </a:rPr>
              <a:t>No sentiment in top-20 EBM. Macro = 73.8% SHAP. Convergence = sample correlation, not causal signal.</a:t>
            </a:r>
            <a:endParaRPr lang="en-US" sz="950" dirty="0"/>
          </a:p>
        </p:txBody>
      </p:sp>
      <p:sp>
        <p:nvSpPr>
          <p:cNvPr id="18" name="Shape 16"/>
          <p:cNvSpPr/>
          <p:nvPr/>
        </p:nvSpPr>
        <p:spPr>
          <a:xfrm>
            <a:off x="4572000" y="2084832"/>
            <a:ext cx="4251960" cy="475488"/>
          </a:xfrm>
          <a:prstGeom prst="rect">
            <a:avLst/>
          </a:prstGeom>
          <a:solidFill>
            <a:srgbClr val="FFFFFF"/>
          </a:solidFill>
          <a:ln w="12700">
            <a:solidFill>
              <a:srgbClr val="C0392B"/>
            </a:solidFill>
            <a:prstDash val="solid"/>
          </a:ln>
        </p:spPr>
      </p:sp>
      <p:sp>
        <p:nvSpPr>
          <p:cNvPr id="19" name="Text 17"/>
          <p:cNvSpPr/>
          <p:nvPr/>
        </p:nvSpPr>
        <p:spPr>
          <a:xfrm>
            <a:off x="4572000" y="2084832"/>
            <a:ext cx="4251960" cy="475488"/>
          </a:xfrm>
          <a:prstGeom prst="rect">
            <a:avLst/>
          </a:prstGeom>
          <a:noFill/>
          <a:ln/>
        </p:spPr>
        <p:txBody>
          <a:bodyPr wrap="square" lIns="0" tIns="0" rIns="0" bIns="0" rtlCol="0" anchor="ctr"/>
          <a:lstStyle/>
          <a:p>
            <a:pPr algn="ctr" indent="0" marL="0">
              <a:buNone/>
            </a:pPr>
            <a:r>
              <a:rPr lang="en-US" sz="1300" b="1" dirty="0">
                <a:solidFill>
                  <a:srgbClr val="C0392B"/>
                </a:solidFill>
                <a:latin typeface="Calibri" pitchFamily="34" charset="0"/>
                <a:ea typeface="Calibri" pitchFamily="34" charset="-122"/>
                <a:cs typeface="Calibri" pitchFamily="34" charset="-120"/>
              </a:rPr>
              <a:t>Not supported</a:t>
            </a:r>
            <a:endParaRPr lang="en-US" sz="1300" dirty="0"/>
          </a:p>
        </p:txBody>
      </p:sp>
      <p:sp>
        <p:nvSpPr>
          <p:cNvPr id="20" name="Shape 18"/>
          <p:cNvSpPr/>
          <p:nvPr/>
        </p:nvSpPr>
        <p:spPr>
          <a:xfrm>
            <a:off x="256032" y="2816352"/>
            <a:ext cx="8686800" cy="777240"/>
          </a:xfrm>
          <a:prstGeom prst="rect">
            <a:avLst/>
          </a:prstGeom>
          <a:solidFill>
            <a:srgbClr val="F0F4F9"/>
          </a:solidFill>
          <a:ln w="19050">
            <a:solidFill>
              <a:srgbClr val="1D7A4A"/>
            </a:solidFill>
            <a:prstDash val="solid"/>
          </a:ln>
          <a:effectLst>
            <a:outerShdw sx="100000" sy="100000" kx="0" ky="0" algn="bl" rotWithShape="0" blurRad="101600" dist="38100" dir="8100000">
              <a:srgbClr val="000000">
                <a:alpha val="13000"/>
              </a:srgbClr>
            </a:outerShdw>
          </a:effectLst>
        </p:spPr>
      </p:sp>
      <p:sp>
        <p:nvSpPr>
          <p:cNvPr id="21" name="Shape 19"/>
          <p:cNvSpPr/>
          <p:nvPr/>
        </p:nvSpPr>
        <p:spPr>
          <a:xfrm>
            <a:off x="256032" y="2816352"/>
            <a:ext cx="502920" cy="777240"/>
          </a:xfrm>
          <a:prstGeom prst="rect">
            <a:avLst/>
          </a:prstGeom>
          <a:solidFill>
            <a:srgbClr val="1D7A4A"/>
          </a:solidFill>
          <a:ln w="12700">
            <a:solidFill>
              <a:srgbClr val="1D7A4A"/>
            </a:solidFill>
            <a:prstDash val="solid"/>
          </a:ln>
        </p:spPr>
      </p:sp>
      <p:sp>
        <p:nvSpPr>
          <p:cNvPr id="22" name="Text 20"/>
          <p:cNvSpPr/>
          <p:nvPr/>
        </p:nvSpPr>
        <p:spPr>
          <a:xfrm>
            <a:off x="256032" y="2816352"/>
            <a:ext cx="502920" cy="7772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H3</a:t>
            </a:r>
            <a:endParaRPr lang="en-US" sz="1600" dirty="0"/>
          </a:p>
        </p:txBody>
      </p:sp>
      <p:sp>
        <p:nvSpPr>
          <p:cNvPr id="23" name="Text 21"/>
          <p:cNvSpPr/>
          <p:nvPr/>
        </p:nvSpPr>
        <p:spPr>
          <a:xfrm>
            <a:off x="822960" y="2862072"/>
            <a:ext cx="3566160" cy="320040"/>
          </a:xfrm>
          <a:prstGeom prst="rect">
            <a:avLst/>
          </a:prstGeom>
          <a:noFill/>
          <a:ln/>
        </p:spPr>
        <p:txBody>
          <a:bodyPr wrap="square" lIns="0" tIns="0" rIns="0" bIns="0" rtlCol="0" anchor="t"/>
          <a:lstStyle/>
          <a:p>
            <a:pPr algn="l" indent="0" marL="0">
              <a:buNone/>
            </a:pPr>
            <a:r>
              <a:rPr lang="en-US" sz="1050" b="1" dirty="0">
                <a:solidFill>
                  <a:srgbClr val="0D1B3E"/>
                </a:solidFill>
                <a:latin typeface="Calibri" pitchFamily="34" charset="0"/>
                <a:ea typeface="Calibri" pitchFamily="34" charset="-122"/>
                <a:cs typeface="Calibri" pitchFamily="34" charset="-120"/>
              </a:rPr>
              <a:t>Quantifiable accuracy-interpretability trade-off?</a:t>
            </a:r>
            <a:endParaRPr lang="en-US" sz="1050" dirty="0"/>
          </a:p>
        </p:txBody>
      </p:sp>
      <p:sp>
        <p:nvSpPr>
          <p:cNvPr id="24" name="Text 22"/>
          <p:cNvSpPr/>
          <p:nvPr/>
        </p:nvSpPr>
        <p:spPr>
          <a:xfrm>
            <a:off x="822960" y="3200400"/>
            <a:ext cx="3566160" cy="347472"/>
          </a:xfrm>
          <a:prstGeom prst="rect">
            <a:avLst/>
          </a:prstGeom>
          <a:noFill/>
          <a:ln/>
        </p:spPr>
        <p:txBody>
          <a:bodyPr wrap="square" lIns="0" tIns="0" rIns="0" bIns="0" rtlCol="0" anchor="t"/>
          <a:lstStyle/>
          <a:p>
            <a:pPr algn="l" indent="0" marL="0">
              <a:buNone/>
            </a:pPr>
            <a:r>
              <a:rPr lang="en-US" sz="950" dirty="0">
                <a:solidFill>
                  <a:srgbClr val="2D3748"/>
                </a:solidFill>
                <a:latin typeface="Calibri" pitchFamily="34" charset="0"/>
                <a:ea typeface="Calibri" pitchFamily="34" charset="-122"/>
                <a:cs typeface="Calibri" pitchFamily="34" charset="-120"/>
              </a:rPr>
              <a:t>Trade-off not binary. EBM leads in-sample, collapses prospectively. Flexibility = interpretability = overfitting. Same mechanism.</a:t>
            </a:r>
            <a:endParaRPr lang="en-US" sz="950" dirty="0"/>
          </a:p>
        </p:txBody>
      </p:sp>
      <p:sp>
        <p:nvSpPr>
          <p:cNvPr id="25" name="Shape 23"/>
          <p:cNvSpPr/>
          <p:nvPr/>
        </p:nvSpPr>
        <p:spPr>
          <a:xfrm>
            <a:off x="4572000" y="2953512"/>
            <a:ext cx="4251960" cy="475488"/>
          </a:xfrm>
          <a:prstGeom prst="rect">
            <a:avLst/>
          </a:prstGeom>
          <a:solidFill>
            <a:srgbClr val="FFFFFF"/>
          </a:solidFill>
          <a:ln w="12700">
            <a:solidFill>
              <a:srgbClr val="1D7A4A"/>
            </a:solidFill>
            <a:prstDash val="solid"/>
          </a:ln>
        </p:spPr>
      </p:sp>
      <p:sp>
        <p:nvSpPr>
          <p:cNvPr id="26" name="Text 24"/>
          <p:cNvSpPr/>
          <p:nvPr/>
        </p:nvSpPr>
        <p:spPr>
          <a:xfrm>
            <a:off x="4572000" y="2953512"/>
            <a:ext cx="4251960" cy="475488"/>
          </a:xfrm>
          <a:prstGeom prst="rect">
            <a:avLst/>
          </a:prstGeom>
          <a:noFill/>
          <a:ln/>
        </p:spPr>
        <p:txBody>
          <a:bodyPr wrap="square" lIns="0" tIns="0" rIns="0" bIns="0" rtlCol="0" anchor="ctr"/>
          <a:lstStyle/>
          <a:p>
            <a:pPr algn="ctr" indent="0" marL="0">
              <a:buNone/>
            </a:pPr>
            <a:r>
              <a:rPr lang="en-US" sz="1300" b="1" dirty="0">
                <a:solidFill>
                  <a:srgbClr val="1D7A4A"/>
                </a:solidFill>
                <a:latin typeface="Calibri" pitchFamily="34" charset="0"/>
                <a:ea typeface="Calibri" pitchFamily="34" charset="-122"/>
                <a:cs typeface="Calibri" pitchFamily="34" charset="-120"/>
              </a:rPr>
              <a:t>Supported &amp; refined</a:t>
            </a:r>
            <a:endParaRPr lang="en-US" sz="1300" dirty="0"/>
          </a:p>
        </p:txBody>
      </p:sp>
      <p:sp>
        <p:nvSpPr>
          <p:cNvPr id="27" name="Shape 25"/>
          <p:cNvSpPr/>
          <p:nvPr/>
        </p:nvSpPr>
        <p:spPr>
          <a:xfrm>
            <a:off x="256032" y="3657600"/>
            <a:ext cx="4251960" cy="594360"/>
          </a:xfrm>
          <a:prstGeom prst="rect">
            <a:avLst/>
          </a:prstGeom>
          <a:solidFill>
            <a:srgbClr val="F0F4F9"/>
          </a:solidFill>
          <a:ln w="19050">
            <a:solidFill>
              <a:srgbClr val="2E6DB4"/>
            </a:solidFill>
            <a:prstDash val="solid"/>
          </a:ln>
          <a:effectLst>
            <a:outerShdw sx="100000" sy="100000" kx="0" ky="0" algn="bl" rotWithShape="0" blurRad="101600" dist="38100" dir="8100000">
              <a:srgbClr val="000000">
                <a:alpha val="13000"/>
              </a:srgbClr>
            </a:outerShdw>
          </a:effectLst>
        </p:spPr>
      </p:sp>
      <p:sp>
        <p:nvSpPr>
          <p:cNvPr id="28" name="Shape 26"/>
          <p:cNvSpPr/>
          <p:nvPr/>
        </p:nvSpPr>
        <p:spPr>
          <a:xfrm>
            <a:off x="256032" y="3657600"/>
            <a:ext cx="384048" cy="594360"/>
          </a:xfrm>
          <a:prstGeom prst="rect">
            <a:avLst/>
          </a:prstGeom>
          <a:solidFill>
            <a:srgbClr val="2E6DB4"/>
          </a:solidFill>
          <a:ln w="12700">
            <a:solidFill>
              <a:srgbClr val="2E6DB4"/>
            </a:solidFill>
            <a:prstDash val="solid"/>
          </a:ln>
        </p:spPr>
      </p:sp>
      <p:sp>
        <p:nvSpPr>
          <p:cNvPr id="29" name="Text 27"/>
          <p:cNvSpPr/>
          <p:nvPr/>
        </p:nvSpPr>
        <p:spPr>
          <a:xfrm>
            <a:off x="256032" y="3657600"/>
            <a:ext cx="384048" cy="5943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30" name="Text 28"/>
          <p:cNvSpPr/>
          <p:nvPr/>
        </p:nvSpPr>
        <p:spPr>
          <a:xfrm>
            <a:off x="713232" y="3685032"/>
            <a:ext cx="3703320" cy="228600"/>
          </a:xfrm>
          <a:prstGeom prst="rect">
            <a:avLst/>
          </a:prstGeom>
          <a:noFill/>
          <a:ln/>
        </p:spPr>
        <p:txBody>
          <a:bodyPr wrap="square" lIns="0" tIns="0" rIns="0" bIns="0" rtlCol="0" anchor="ctr"/>
          <a:lstStyle/>
          <a:p>
            <a:pPr algn="l" indent="0" marL="0">
              <a:buNone/>
            </a:pPr>
            <a:r>
              <a:rPr lang="en-US" sz="1000" b="1" dirty="0">
                <a:solidFill>
                  <a:srgbClr val="0D1B3E"/>
                </a:solidFill>
                <a:latin typeface="Calibri" pitchFamily="34" charset="0"/>
                <a:ea typeface="Calibri" pitchFamily="34" charset="-122"/>
                <a:cs typeface="Calibri" pitchFamily="34" charset="-120"/>
              </a:rPr>
              <a:t>More data ≠ fix</a:t>
            </a:r>
            <a:endParaRPr lang="en-US" sz="1000" dirty="0"/>
          </a:p>
        </p:txBody>
      </p:sp>
      <p:sp>
        <p:nvSpPr>
          <p:cNvPr id="31" name="Text 29"/>
          <p:cNvSpPr/>
          <p:nvPr/>
        </p:nvSpPr>
        <p:spPr>
          <a:xfrm>
            <a:off x="713232" y="3904488"/>
            <a:ext cx="3703320" cy="320040"/>
          </a:xfrm>
          <a:prstGeom prst="rect">
            <a:avLst/>
          </a:prstGeom>
          <a:noFill/>
          <a:ln/>
        </p:spPr>
        <p:txBody>
          <a:bodyPr wrap="square" lIns="0" tIns="0" rIns="0" bIns="0" rtlCol="0" anchor="t"/>
          <a:lstStyle/>
          <a:p>
            <a:pPr algn="l" indent="0" marL="0">
              <a:buNone/>
            </a:pPr>
            <a:r>
              <a:rPr lang="en-US" sz="900" dirty="0">
                <a:solidFill>
                  <a:srgbClr val="2D3748"/>
                </a:solidFill>
                <a:latin typeface="Calibri" pitchFamily="34" charset="0"/>
                <a:ea typeface="Calibri" pitchFamily="34" charset="-122"/>
                <a:cs typeface="Calibri" pitchFamily="34" charset="-120"/>
              </a:rPr>
              <a:t>15 additional years incl. Nordic cluster does not resolve GFC generalisation. Regime discontinuity is structurally too large.</a:t>
            </a:r>
            <a:endParaRPr lang="en-US" sz="900" dirty="0"/>
          </a:p>
        </p:txBody>
      </p:sp>
      <p:sp>
        <p:nvSpPr>
          <p:cNvPr id="32" name="Shape 30"/>
          <p:cNvSpPr/>
          <p:nvPr/>
        </p:nvSpPr>
        <p:spPr>
          <a:xfrm>
            <a:off x="4690872" y="3657600"/>
            <a:ext cx="4251960" cy="594360"/>
          </a:xfrm>
          <a:prstGeom prst="rect">
            <a:avLst/>
          </a:prstGeom>
          <a:solidFill>
            <a:srgbClr val="F0F4F9"/>
          </a:solidFill>
          <a:ln w="19050">
            <a:solidFill>
              <a:srgbClr val="E8A020"/>
            </a:solidFill>
            <a:prstDash val="solid"/>
          </a:ln>
          <a:effectLst>
            <a:outerShdw sx="100000" sy="100000" kx="0" ky="0" algn="bl" rotWithShape="0" blurRad="101600" dist="38100" dir="8100000">
              <a:srgbClr val="000000">
                <a:alpha val="13000"/>
              </a:srgbClr>
            </a:outerShdw>
          </a:effectLst>
        </p:spPr>
      </p:sp>
      <p:sp>
        <p:nvSpPr>
          <p:cNvPr id="33" name="Shape 31"/>
          <p:cNvSpPr/>
          <p:nvPr/>
        </p:nvSpPr>
        <p:spPr>
          <a:xfrm>
            <a:off x="4690872" y="3657600"/>
            <a:ext cx="384048" cy="594360"/>
          </a:xfrm>
          <a:prstGeom prst="rect">
            <a:avLst/>
          </a:prstGeom>
          <a:solidFill>
            <a:srgbClr val="E8A020"/>
          </a:solidFill>
          <a:ln w="12700">
            <a:solidFill>
              <a:srgbClr val="E8A020"/>
            </a:solidFill>
            <a:prstDash val="solid"/>
          </a:ln>
        </p:spPr>
      </p:sp>
      <p:sp>
        <p:nvSpPr>
          <p:cNvPr id="34" name="Text 32"/>
          <p:cNvSpPr/>
          <p:nvPr/>
        </p:nvSpPr>
        <p:spPr>
          <a:xfrm>
            <a:off x="4690872" y="3657600"/>
            <a:ext cx="384048" cy="5943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35" name="Text 33"/>
          <p:cNvSpPr/>
          <p:nvPr/>
        </p:nvSpPr>
        <p:spPr>
          <a:xfrm>
            <a:off x="5148072" y="3685032"/>
            <a:ext cx="3703320" cy="228600"/>
          </a:xfrm>
          <a:prstGeom prst="rect">
            <a:avLst/>
          </a:prstGeom>
          <a:noFill/>
          <a:ln/>
        </p:spPr>
        <p:txBody>
          <a:bodyPr wrap="square" lIns="0" tIns="0" rIns="0" bIns="0" rtlCol="0" anchor="ctr"/>
          <a:lstStyle/>
          <a:p>
            <a:pPr algn="l" indent="0" marL="0">
              <a:buNone/>
            </a:pPr>
            <a:r>
              <a:rPr lang="en-US" sz="1000" b="1" dirty="0">
                <a:solidFill>
                  <a:srgbClr val="0D1B3E"/>
                </a:solidFill>
                <a:latin typeface="Calibri" pitchFamily="34" charset="0"/>
                <a:ea typeface="Calibri" pitchFamily="34" charset="-122"/>
                <a:cs typeface="Calibri" pitchFamily="34" charset="-120"/>
              </a:rPr>
              <a:t>Interpretability ≠ robustness</a:t>
            </a:r>
            <a:endParaRPr lang="en-US" sz="1000" dirty="0"/>
          </a:p>
        </p:txBody>
      </p:sp>
      <p:sp>
        <p:nvSpPr>
          <p:cNvPr id="36" name="Text 34"/>
          <p:cNvSpPr/>
          <p:nvPr/>
        </p:nvSpPr>
        <p:spPr>
          <a:xfrm>
            <a:off x="5148072" y="3904488"/>
            <a:ext cx="3703320" cy="320040"/>
          </a:xfrm>
          <a:prstGeom prst="rect">
            <a:avLst/>
          </a:prstGeom>
          <a:noFill/>
          <a:ln/>
        </p:spPr>
        <p:txBody>
          <a:bodyPr wrap="square" lIns="0" tIns="0" rIns="0" bIns="0" rtlCol="0" anchor="t"/>
          <a:lstStyle/>
          <a:p>
            <a:pPr algn="l" indent="0" marL="0">
              <a:buNone/>
            </a:pPr>
            <a:r>
              <a:rPr lang="en-US" sz="900" dirty="0">
                <a:solidFill>
                  <a:srgbClr val="2D3748"/>
                </a:solidFill>
                <a:latin typeface="Calibri" pitchFamily="34" charset="0"/>
                <a:ea typeface="Calibri" pitchFamily="34" charset="-122"/>
                <a:cs typeface="Calibri" pitchFamily="34" charset="-120"/>
              </a:rPr>
              <a:t>EBM leads in-sample, fails most severely prospectively. Flexibility enables both interpretability and regime-specific overfitting.</a:t>
            </a:r>
            <a:endParaRPr lang="en-US" sz="900" dirty="0"/>
          </a:p>
        </p:txBody>
      </p:sp>
      <p:sp>
        <p:nvSpPr>
          <p:cNvPr id="37" name="Shape 35"/>
          <p:cNvSpPr/>
          <p:nvPr/>
        </p:nvSpPr>
        <p:spPr>
          <a:xfrm>
            <a:off x="256032" y="4315968"/>
            <a:ext cx="4251960" cy="594360"/>
          </a:xfrm>
          <a:prstGeom prst="rect">
            <a:avLst/>
          </a:prstGeom>
          <a:solidFill>
            <a:srgbClr val="F0F4F9"/>
          </a:solidFill>
          <a:ln w="19050">
            <a:solidFill>
              <a:srgbClr val="C0392B"/>
            </a:solidFill>
            <a:prstDash val="solid"/>
          </a:ln>
          <a:effectLst>
            <a:outerShdw sx="100000" sy="100000" kx="0" ky="0" algn="bl" rotWithShape="0" blurRad="101600" dist="38100" dir="8100000">
              <a:srgbClr val="000000">
                <a:alpha val="13000"/>
              </a:srgbClr>
            </a:outerShdw>
          </a:effectLst>
        </p:spPr>
      </p:sp>
      <p:sp>
        <p:nvSpPr>
          <p:cNvPr id="38" name="Shape 36"/>
          <p:cNvSpPr/>
          <p:nvPr/>
        </p:nvSpPr>
        <p:spPr>
          <a:xfrm>
            <a:off x="256032" y="4315968"/>
            <a:ext cx="384048" cy="594360"/>
          </a:xfrm>
          <a:prstGeom prst="rect">
            <a:avLst/>
          </a:prstGeom>
          <a:solidFill>
            <a:srgbClr val="C0392B"/>
          </a:solidFill>
          <a:ln w="12700">
            <a:solidFill>
              <a:srgbClr val="C0392B"/>
            </a:solidFill>
            <a:prstDash val="solid"/>
          </a:ln>
        </p:spPr>
      </p:sp>
      <p:sp>
        <p:nvSpPr>
          <p:cNvPr id="39" name="Text 37"/>
          <p:cNvSpPr/>
          <p:nvPr/>
        </p:nvSpPr>
        <p:spPr>
          <a:xfrm>
            <a:off x="256032" y="4315968"/>
            <a:ext cx="384048" cy="5943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40" name="Text 38"/>
          <p:cNvSpPr/>
          <p:nvPr/>
        </p:nvSpPr>
        <p:spPr>
          <a:xfrm>
            <a:off x="713232" y="4343400"/>
            <a:ext cx="3703320" cy="228600"/>
          </a:xfrm>
          <a:prstGeom prst="rect">
            <a:avLst/>
          </a:prstGeom>
          <a:noFill/>
          <a:ln/>
        </p:spPr>
        <p:txBody>
          <a:bodyPr wrap="square" lIns="0" tIns="0" rIns="0" bIns="0" rtlCol="0" anchor="ctr"/>
          <a:lstStyle/>
          <a:p>
            <a:pPr algn="l" indent="0" marL="0">
              <a:buNone/>
            </a:pPr>
            <a:r>
              <a:rPr lang="en-US" sz="1000" b="1" dirty="0">
                <a:solidFill>
                  <a:srgbClr val="0D1B3E"/>
                </a:solidFill>
                <a:latin typeface="Calibri" pitchFamily="34" charset="0"/>
                <a:ea typeface="Calibri" pitchFamily="34" charset="-122"/>
                <a:cs typeface="Calibri" pitchFamily="34" charset="-120"/>
              </a:rPr>
              <a:t>EBM makes failure visible</a:t>
            </a:r>
            <a:endParaRPr lang="en-US" sz="1000" dirty="0"/>
          </a:p>
        </p:txBody>
      </p:sp>
      <p:sp>
        <p:nvSpPr>
          <p:cNvPr id="41" name="Text 39"/>
          <p:cNvSpPr/>
          <p:nvPr/>
        </p:nvSpPr>
        <p:spPr>
          <a:xfrm>
            <a:off x="713232" y="4562856"/>
            <a:ext cx="3703320" cy="320040"/>
          </a:xfrm>
          <a:prstGeom prst="rect">
            <a:avLst/>
          </a:prstGeom>
          <a:noFill/>
          <a:ln/>
        </p:spPr>
        <p:txBody>
          <a:bodyPr wrap="square" lIns="0" tIns="0" rIns="0" bIns="0" rtlCol="0" anchor="t"/>
          <a:lstStyle/>
          <a:p>
            <a:pPr algn="l" indent="0" marL="0">
              <a:buNone/>
            </a:pPr>
            <a:r>
              <a:rPr lang="en-US" sz="900" dirty="0">
                <a:solidFill>
                  <a:srgbClr val="2D3748"/>
                </a:solidFill>
                <a:latin typeface="Calibri" pitchFamily="34" charset="0"/>
                <a:ea typeface="Calibri" pitchFamily="34" charset="-122"/>
                <a:cs typeface="Calibri" pitchFamily="34" charset="-120"/>
              </a:rPr>
              <a:t>Shape functions expose mechanism. Static EWS may be conceptually misaligned with structural break environments.</a:t>
            </a:r>
            <a:endParaRPr lang="en-US" sz="900" dirty="0"/>
          </a:p>
        </p:txBody>
      </p:sp>
      <p:sp>
        <p:nvSpPr>
          <p:cNvPr id="42" name="Shape 40"/>
          <p:cNvSpPr/>
          <p:nvPr/>
        </p:nvSpPr>
        <p:spPr>
          <a:xfrm>
            <a:off x="4690872" y="4315968"/>
            <a:ext cx="4251960" cy="594360"/>
          </a:xfrm>
          <a:prstGeom prst="rect">
            <a:avLst/>
          </a:prstGeom>
          <a:solidFill>
            <a:srgbClr val="F0F4F9"/>
          </a:solidFill>
          <a:ln w="19050">
            <a:solidFill>
              <a:srgbClr val="1D7A4A"/>
            </a:solidFill>
            <a:prstDash val="solid"/>
          </a:ln>
          <a:effectLst>
            <a:outerShdw sx="100000" sy="100000" kx="0" ky="0" algn="bl" rotWithShape="0" blurRad="101600" dist="38100" dir="8100000">
              <a:srgbClr val="000000">
                <a:alpha val="13000"/>
              </a:srgbClr>
            </a:outerShdw>
          </a:effectLst>
        </p:spPr>
      </p:sp>
      <p:sp>
        <p:nvSpPr>
          <p:cNvPr id="43" name="Shape 41"/>
          <p:cNvSpPr/>
          <p:nvPr/>
        </p:nvSpPr>
        <p:spPr>
          <a:xfrm>
            <a:off x="4690872" y="4315968"/>
            <a:ext cx="384048" cy="594360"/>
          </a:xfrm>
          <a:prstGeom prst="rect">
            <a:avLst/>
          </a:prstGeom>
          <a:solidFill>
            <a:srgbClr val="1D7A4A"/>
          </a:solidFill>
          <a:ln w="12700">
            <a:solidFill>
              <a:srgbClr val="1D7A4A"/>
            </a:solidFill>
            <a:prstDash val="solid"/>
          </a:ln>
        </p:spPr>
      </p:sp>
      <p:sp>
        <p:nvSpPr>
          <p:cNvPr id="44" name="Text 42"/>
          <p:cNvSpPr/>
          <p:nvPr/>
        </p:nvSpPr>
        <p:spPr>
          <a:xfrm>
            <a:off x="4690872" y="4315968"/>
            <a:ext cx="384048" cy="5943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45" name="Text 43"/>
          <p:cNvSpPr/>
          <p:nvPr/>
        </p:nvSpPr>
        <p:spPr>
          <a:xfrm>
            <a:off x="5148072" y="4343400"/>
            <a:ext cx="3703320" cy="228600"/>
          </a:xfrm>
          <a:prstGeom prst="rect">
            <a:avLst/>
          </a:prstGeom>
          <a:noFill/>
          <a:ln/>
        </p:spPr>
        <p:txBody>
          <a:bodyPr wrap="square" lIns="0" tIns="0" rIns="0" bIns="0" rtlCol="0" anchor="ctr"/>
          <a:lstStyle/>
          <a:p>
            <a:pPr algn="l" indent="0" marL="0">
              <a:buNone/>
            </a:pPr>
            <a:r>
              <a:rPr lang="en-US" sz="1000" b="1" dirty="0">
                <a:solidFill>
                  <a:srgbClr val="0D1B3E"/>
                </a:solidFill>
                <a:latin typeface="Calibri" pitchFamily="34" charset="0"/>
                <a:ea typeface="Calibri" pitchFamily="34" charset="-122"/>
                <a:cs typeface="Calibri" pitchFamily="34" charset="-120"/>
              </a:rPr>
              <a:t>Sentiment = directional only</a:t>
            </a:r>
            <a:endParaRPr lang="en-US" sz="1000" dirty="0"/>
          </a:p>
        </p:txBody>
      </p:sp>
      <p:sp>
        <p:nvSpPr>
          <p:cNvPr id="46" name="Text 44"/>
          <p:cNvSpPr/>
          <p:nvPr/>
        </p:nvSpPr>
        <p:spPr>
          <a:xfrm>
            <a:off x="5148072" y="4562856"/>
            <a:ext cx="3703320" cy="320040"/>
          </a:xfrm>
          <a:prstGeom prst="rect">
            <a:avLst/>
          </a:prstGeom>
          <a:noFill/>
          <a:ln/>
        </p:spPr>
        <p:txBody>
          <a:bodyPr wrap="square" lIns="0" tIns="0" rIns="0" bIns="0" rtlCol="0" anchor="t"/>
          <a:lstStyle/>
          <a:p>
            <a:pPr algn="l" indent="0" marL="0">
              <a:buNone/>
            </a:pPr>
            <a:r>
              <a:rPr lang="en-US" sz="900" dirty="0">
                <a:solidFill>
                  <a:srgbClr val="2D3748"/>
                </a:solidFill>
                <a:latin typeface="Calibri" pitchFamily="34" charset="0"/>
                <a:ea typeface="Calibri" pitchFamily="34" charset="-122"/>
                <a:cs typeface="Calibri" pitchFamily="34" charset="-120"/>
              </a:rPr>
              <a:t>FinBERT gain is GFC-episode-specific. Algorithm choice explains at least as much. Multi-episode validation needed.</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8A020"/>
          </a:solidFill>
          <a:ln w="12700">
            <a:solidFill>
              <a:srgbClr val="E8A020"/>
            </a:solidFill>
            <a:prstDash val="solid"/>
          </a:ln>
        </p:spPr>
      </p:sp>
      <p:sp>
        <p:nvSpPr>
          <p:cNvPr id="3" name="Text 1"/>
          <p:cNvSpPr/>
          <p:nvPr/>
        </p:nvSpPr>
        <p:spPr>
          <a:xfrm>
            <a:off x="256032" y="118872"/>
            <a:ext cx="8686800" cy="566928"/>
          </a:xfrm>
          <a:prstGeom prst="rect">
            <a:avLst/>
          </a:prstGeom>
          <a:noFill/>
          <a:ln/>
        </p:spPr>
        <p:txBody>
          <a:bodyPr wrap="square" lIns="0" tIns="0" rIns="0" bIns="0" rtlCol="0" anchor="ctr"/>
          <a:lstStyle/>
          <a:p>
            <a:pPr algn="l" indent="0" marL="0">
              <a:buNone/>
            </a:pPr>
            <a:r>
              <a:rPr lang="en-US" sz="2600" b="1" dirty="0">
                <a:solidFill>
                  <a:srgbClr val="0D1B3E"/>
                </a:solidFill>
                <a:latin typeface="Calibri" pitchFamily="34" charset="0"/>
                <a:ea typeface="Calibri" pitchFamily="34" charset="-122"/>
                <a:cs typeface="Calibri" pitchFamily="34" charset="-120"/>
              </a:rPr>
              <a:t>Implications and Close</a:t>
            </a:r>
            <a:endParaRPr lang="en-US" sz="2600" dirty="0"/>
          </a:p>
        </p:txBody>
      </p:sp>
      <p:sp>
        <p:nvSpPr>
          <p:cNvPr id="4" name="Text 2"/>
          <p:cNvSpPr/>
          <p:nvPr/>
        </p:nvSpPr>
        <p:spPr>
          <a:xfrm>
            <a:off x="256032" y="685800"/>
            <a:ext cx="8686800" cy="274320"/>
          </a:xfrm>
          <a:prstGeom prst="rect">
            <a:avLst/>
          </a:prstGeom>
          <a:noFill/>
          <a:ln/>
        </p:spPr>
        <p:txBody>
          <a:bodyPr wrap="square" lIns="0" tIns="0" rIns="0" bIns="0" rtlCol="0" anchor="t"/>
          <a:lstStyle/>
          <a:p>
            <a:pPr algn="l" indent="0" marL="0">
              <a:buNone/>
            </a:pPr>
            <a:r>
              <a:rPr lang="en-US" sz="1200" i="1" dirty="0">
                <a:solidFill>
                  <a:srgbClr val="2E6DB4"/>
                </a:solidFill>
                <a:latin typeface="Calibri" pitchFamily="34" charset="0"/>
                <a:ea typeface="Calibri" pitchFamily="34" charset="-122"/>
                <a:cs typeface="Calibri" pitchFamily="34" charset="-120"/>
              </a:rPr>
              <a:t>What should change in EWS design</a:t>
            </a:r>
            <a:endParaRPr lang="en-US" sz="1200" dirty="0"/>
          </a:p>
        </p:txBody>
      </p:sp>
      <p:sp>
        <p:nvSpPr>
          <p:cNvPr id="5" name="Shape 3"/>
          <p:cNvSpPr/>
          <p:nvPr/>
        </p:nvSpPr>
        <p:spPr>
          <a:xfrm>
            <a:off x="256032" y="987552"/>
            <a:ext cx="8686800" cy="0"/>
          </a:xfrm>
          <a:prstGeom prst="line">
            <a:avLst/>
          </a:prstGeom>
          <a:noFill/>
          <a:ln w="10160">
            <a:solidFill>
              <a:srgbClr val="D6E4F7"/>
            </a:solidFill>
            <a:prstDash val="solid"/>
          </a:ln>
        </p:spPr>
      </p:sp>
      <p:sp>
        <p:nvSpPr>
          <p:cNvPr id="6" name="Shape 4"/>
          <p:cNvSpPr/>
          <p:nvPr/>
        </p:nvSpPr>
        <p:spPr>
          <a:xfrm>
            <a:off x="256032" y="1078992"/>
            <a:ext cx="8686800" cy="804672"/>
          </a:xfrm>
          <a:prstGeom prst="rect">
            <a:avLst/>
          </a:prstGeom>
          <a:solidFill>
            <a:srgbClr val="F0F4F9"/>
          </a:solidFill>
          <a:ln w="12700">
            <a:solidFill>
              <a:srgbClr val="2E6DB4"/>
            </a:solidFill>
            <a:prstDash val="solid"/>
          </a:ln>
          <a:effectLst>
            <a:outerShdw sx="100000" sy="100000" kx="0" ky="0" algn="bl" rotWithShape="0" blurRad="101600" dist="38100" dir="8100000">
              <a:srgbClr val="000000">
                <a:alpha val="13000"/>
              </a:srgbClr>
            </a:outerShdw>
          </a:effectLst>
        </p:spPr>
      </p:sp>
      <p:sp>
        <p:nvSpPr>
          <p:cNvPr id="7" name="Shape 5"/>
          <p:cNvSpPr/>
          <p:nvPr/>
        </p:nvSpPr>
        <p:spPr>
          <a:xfrm>
            <a:off x="256032" y="1078992"/>
            <a:ext cx="384048" cy="804672"/>
          </a:xfrm>
          <a:prstGeom prst="rect">
            <a:avLst/>
          </a:prstGeom>
          <a:solidFill>
            <a:srgbClr val="2E6DB4"/>
          </a:solidFill>
          <a:ln w="12700">
            <a:solidFill>
              <a:srgbClr val="2E6DB4"/>
            </a:solidFill>
            <a:prstDash val="solid"/>
          </a:ln>
        </p:spPr>
      </p:sp>
      <p:sp>
        <p:nvSpPr>
          <p:cNvPr id="8" name="Text 6"/>
          <p:cNvSpPr/>
          <p:nvPr/>
        </p:nvSpPr>
        <p:spPr>
          <a:xfrm>
            <a:off x="256032" y="1078992"/>
            <a:ext cx="384048" cy="804672"/>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9" name="Text 7"/>
          <p:cNvSpPr/>
          <p:nvPr/>
        </p:nvSpPr>
        <p:spPr>
          <a:xfrm>
            <a:off x="713232" y="1115568"/>
            <a:ext cx="8138160" cy="256032"/>
          </a:xfrm>
          <a:prstGeom prst="rect">
            <a:avLst/>
          </a:prstGeom>
          <a:noFill/>
          <a:ln/>
        </p:spPr>
        <p:txBody>
          <a:bodyPr wrap="square" lIns="0" tIns="0" rIns="0" bIns="0" rtlCol="0" anchor="ctr"/>
          <a:lstStyle/>
          <a:p>
            <a:pPr algn="l" indent="0" marL="0">
              <a:buNone/>
            </a:pPr>
            <a:r>
              <a:rPr lang="en-US" sz="1100" b="1" dirty="0">
                <a:solidFill>
                  <a:srgbClr val="0D1B3E"/>
                </a:solidFill>
                <a:latin typeface="Calibri" pitchFamily="34" charset="0"/>
                <a:ea typeface="Calibri" pitchFamily="34" charset="-122"/>
                <a:cs typeface="Calibri" pitchFamily="34" charset="-120"/>
              </a:rPr>
              <a:t>Prospective validation is mandatory</a:t>
            </a:r>
            <a:endParaRPr lang="en-US" sz="1100" dirty="0"/>
          </a:p>
        </p:txBody>
      </p:sp>
      <p:sp>
        <p:nvSpPr>
          <p:cNvPr id="10" name="Text 8"/>
          <p:cNvSpPr/>
          <p:nvPr/>
        </p:nvSpPr>
        <p:spPr>
          <a:xfrm>
            <a:off x="713232" y="1371600"/>
            <a:ext cx="8138160" cy="457200"/>
          </a:xfrm>
          <a:prstGeom prst="rect">
            <a:avLst/>
          </a:prstGeom>
          <a:noFill/>
          <a:ln/>
        </p:spPr>
        <p:txBody>
          <a:bodyPr wrap="square" lIns="0" tIns="0" rIns="0" bIns="0" rtlCol="0" anchor="t"/>
          <a:lstStyle/>
          <a:p>
            <a:pPr algn="l" indent="0" marL="0">
              <a:buNone/>
            </a:pPr>
            <a:r>
              <a:rPr lang="en-US" sz="1000" dirty="0">
                <a:solidFill>
                  <a:srgbClr val="2D3748"/>
                </a:solidFill>
                <a:latin typeface="Calibri" pitchFamily="34" charset="0"/>
                <a:ea typeface="Calibri" pitchFamily="34" charset="-122"/>
                <a:cs typeface="Calibri" pitchFamily="34" charset="-120"/>
              </a:rPr>
              <a:t>Expanding-window metrics overstate performance. Strict temporal validation must be a required evaluation step, not optional. Models failing it must not be deployed without explicit disclosure.</a:t>
            </a:r>
            <a:endParaRPr lang="en-US" sz="1000" dirty="0"/>
          </a:p>
        </p:txBody>
      </p:sp>
      <p:sp>
        <p:nvSpPr>
          <p:cNvPr id="11" name="Shape 9"/>
          <p:cNvSpPr/>
          <p:nvPr/>
        </p:nvSpPr>
        <p:spPr>
          <a:xfrm>
            <a:off x="256032" y="1975104"/>
            <a:ext cx="8686800" cy="804672"/>
          </a:xfrm>
          <a:prstGeom prst="rect">
            <a:avLst/>
          </a:prstGeom>
          <a:solidFill>
            <a:srgbClr val="F0F4F9"/>
          </a:solidFill>
          <a:ln w="12700">
            <a:solidFill>
              <a:srgbClr val="2E6DB4"/>
            </a:solidFill>
            <a:prstDash val="solid"/>
          </a:ln>
          <a:effectLst>
            <a:outerShdw sx="100000" sy="100000" kx="0" ky="0" algn="bl" rotWithShape="0" blurRad="101600" dist="38100" dir="8100000">
              <a:srgbClr val="000000">
                <a:alpha val="13000"/>
              </a:srgbClr>
            </a:outerShdw>
          </a:effectLst>
        </p:spPr>
      </p:sp>
      <p:sp>
        <p:nvSpPr>
          <p:cNvPr id="12" name="Shape 10"/>
          <p:cNvSpPr/>
          <p:nvPr/>
        </p:nvSpPr>
        <p:spPr>
          <a:xfrm>
            <a:off x="256032" y="1975104"/>
            <a:ext cx="384048" cy="804672"/>
          </a:xfrm>
          <a:prstGeom prst="rect">
            <a:avLst/>
          </a:prstGeom>
          <a:solidFill>
            <a:srgbClr val="2E6DB4"/>
          </a:solidFill>
          <a:ln w="12700">
            <a:solidFill>
              <a:srgbClr val="2E6DB4"/>
            </a:solidFill>
            <a:prstDash val="solid"/>
          </a:ln>
        </p:spPr>
      </p:sp>
      <p:sp>
        <p:nvSpPr>
          <p:cNvPr id="13" name="Text 11"/>
          <p:cNvSpPr/>
          <p:nvPr/>
        </p:nvSpPr>
        <p:spPr>
          <a:xfrm>
            <a:off x="256032" y="1975104"/>
            <a:ext cx="384048" cy="804672"/>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4" name="Text 12"/>
          <p:cNvSpPr/>
          <p:nvPr/>
        </p:nvSpPr>
        <p:spPr>
          <a:xfrm>
            <a:off x="713232" y="2011680"/>
            <a:ext cx="8138160" cy="256032"/>
          </a:xfrm>
          <a:prstGeom prst="rect">
            <a:avLst/>
          </a:prstGeom>
          <a:noFill/>
          <a:ln/>
        </p:spPr>
        <p:txBody>
          <a:bodyPr wrap="square" lIns="0" tIns="0" rIns="0" bIns="0" rtlCol="0" anchor="ctr"/>
          <a:lstStyle/>
          <a:p>
            <a:pPr algn="l" indent="0" marL="0">
              <a:buNone/>
            </a:pPr>
            <a:r>
              <a:rPr lang="en-US" sz="1100" b="1" dirty="0">
                <a:solidFill>
                  <a:srgbClr val="0D1B3E"/>
                </a:solidFill>
                <a:latin typeface="Calibri" pitchFamily="34" charset="0"/>
                <a:ea typeface="Calibri" pitchFamily="34" charset="-122"/>
                <a:cs typeface="Calibri" pitchFamily="34" charset="-120"/>
              </a:rPr>
              <a:t>EBM for diagnostic transparency</a:t>
            </a:r>
            <a:endParaRPr lang="en-US" sz="1100" dirty="0"/>
          </a:p>
        </p:txBody>
      </p:sp>
      <p:sp>
        <p:nvSpPr>
          <p:cNvPr id="15" name="Text 13"/>
          <p:cNvSpPr/>
          <p:nvPr/>
        </p:nvSpPr>
        <p:spPr>
          <a:xfrm>
            <a:off x="713232" y="2267712"/>
            <a:ext cx="8138160" cy="457200"/>
          </a:xfrm>
          <a:prstGeom prst="rect">
            <a:avLst/>
          </a:prstGeom>
          <a:noFill/>
          <a:ln/>
        </p:spPr>
        <p:txBody>
          <a:bodyPr wrap="square" lIns="0" tIns="0" rIns="0" bIns="0" rtlCol="0" anchor="t"/>
          <a:lstStyle/>
          <a:p>
            <a:pPr algn="l" indent="0" marL="0">
              <a:buNone/>
            </a:pPr>
            <a:r>
              <a:rPr lang="en-US" sz="1000" dirty="0">
                <a:solidFill>
                  <a:srgbClr val="2D3748"/>
                </a:solidFill>
                <a:latin typeface="Calibri" pitchFamily="34" charset="0"/>
                <a:ea typeface="Calibri" pitchFamily="34" charset="-122"/>
                <a:cs typeface="Calibri" pitchFamily="34" charset="-120"/>
              </a:rPr>
              <a:t>Shape function stability analysis should be a mandatory model validation step. Regulators who can see that a model's learned mapping has shifted are better positioned to apply appropriate scepticism.</a:t>
            </a:r>
            <a:endParaRPr lang="en-US" sz="1000" dirty="0"/>
          </a:p>
        </p:txBody>
      </p:sp>
      <p:sp>
        <p:nvSpPr>
          <p:cNvPr id="16" name="Shape 14"/>
          <p:cNvSpPr/>
          <p:nvPr/>
        </p:nvSpPr>
        <p:spPr>
          <a:xfrm>
            <a:off x="256032" y="2871216"/>
            <a:ext cx="8686800" cy="804672"/>
          </a:xfrm>
          <a:prstGeom prst="rect">
            <a:avLst/>
          </a:prstGeom>
          <a:solidFill>
            <a:srgbClr val="F0F4F9"/>
          </a:solidFill>
          <a:ln w="12700">
            <a:solidFill>
              <a:srgbClr val="2E6DB4"/>
            </a:solidFill>
            <a:prstDash val="solid"/>
          </a:ln>
          <a:effectLst>
            <a:outerShdw sx="100000" sy="100000" kx="0" ky="0" algn="bl" rotWithShape="0" blurRad="101600" dist="38100" dir="8100000">
              <a:srgbClr val="000000">
                <a:alpha val="13000"/>
              </a:srgbClr>
            </a:outerShdw>
          </a:effectLst>
        </p:spPr>
      </p:sp>
      <p:sp>
        <p:nvSpPr>
          <p:cNvPr id="17" name="Shape 15"/>
          <p:cNvSpPr/>
          <p:nvPr/>
        </p:nvSpPr>
        <p:spPr>
          <a:xfrm>
            <a:off x="256032" y="2871216"/>
            <a:ext cx="384048" cy="804672"/>
          </a:xfrm>
          <a:prstGeom prst="rect">
            <a:avLst/>
          </a:prstGeom>
          <a:solidFill>
            <a:srgbClr val="2E6DB4"/>
          </a:solidFill>
          <a:ln w="12700">
            <a:solidFill>
              <a:srgbClr val="2E6DB4"/>
            </a:solidFill>
            <a:prstDash val="solid"/>
          </a:ln>
        </p:spPr>
      </p:sp>
      <p:sp>
        <p:nvSpPr>
          <p:cNvPr id="18" name="Text 16"/>
          <p:cNvSpPr/>
          <p:nvPr/>
        </p:nvSpPr>
        <p:spPr>
          <a:xfrm>
            <a:off x="256032" y="2871216"/>
            <a:ext cx="384048" cy="804672"/>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9" name="Text 17"/>
          <p:cNvSpPr/>
          <p:nvPr/>
        </p:nvSpPr>
        <p:spPr>
          <a:xfrm>
            <a:off x="713232" y="2907792"/>
            <a:ext cx="8138160" cy="256032"/>
          </a:xfrm>
          <a:prstGeom prst="rect">
            <a:avLst/>
          </a:prstGeom>
          <a:noFill/>
          <a:ln/>
        </p:spPr>
        <p:txBody>
          <a:bodyPr wrap="square" lIns="0" tIns="0" rIns="0" bIns="0" rtlCol="0" anchor="ctr"/>
          <a:lstStyle/>
          <a:p>
            <a:pPr algn="l" indent="0" marL="0">
              <a:buNone/>
            </a:pPr>
            <a:r>
              <a:rPr lang="en-US" sz="1100" b="1" dirty="0">
                <a:solidFill>
                  <a:srgbClr val="0D1B3E"/>
                </a:solidFill>
                <a:latin typeface="Calibri" pitchFamily="34" charset="0"/>
                <a:ea typeface="Calibri" pitchFamily="34" charset="-122"/>
                <a:cs typeface="Calibri" pitchFamily="34" charset="-120"/>
              </a:rPr>
              <a:t>Ensemble for calibration</a:t>
            </a:r>
            <a:endParaRPr lang="en-US" sz="1100" dirty="0"/>
          </a:p>
        </p:txBody>
      </p:sp>
      <p:sp>
        <p:nvSpPr>
          <p:cNvPr id="20" name="Text 18"/>
          <p:cNvSpPr/>
          <p:nvPr/>
        </p:nvSpPr>
        <p:spPr>
          <a:xfrm>
            <a:off x="713232" y="3163824"/>
            <a:ext cx="8138160" cy="457200"/>
          </a:xfrm>
          <a:prstGeom prst="rect">
            <a:avLst/>
          </a:prstGeom>
          <a:noFill/>
          <a:ln/>
        </p:spPr>
        <p:txBody>
          <a:bodyPr wrap="square" lIns="0" tIns="0" rIns="0" bIns="0" rtlCol="0" anchor="t"/>
          <a:lstStyle/>
          <a:p>
            <a:pPr algn="l" indent="0" marL="0">
              <a:buNone/>
            </a:pPr>
            <a:r>
              <a:rPr lang="en-US" sz="1000" dirty="0">
                <a:solidFill>
                  <a:srgbClr val="2D3748"/>
                </a:solidFill>
                <a:latin typeface="Calibri" pitchFamily="34" charset="0"/>
                <a:ea typeface="Calibri" pitchFamily="34" charset="-122"/>
                <a:cs typeface="Calibri" pitchFamily="34" charset="-120"/>
              </a:rPr>
              <a:t>Equal-weighted averaging (Brier 0.056) is defensible for probability calibration and policy threshold-setting. It reduces discrimination (AUPRC 0.433 vs EBM 0.532) — choice depends on operational priority.</a:t>
            </a:r>
            <a:endParaRPr lang="en-US" sz="1000" dirty="0"/>
          </a:p>
        </p:txBody>
      </p:sp>
      <p:sp>
        <p:nvSpPr>
          <p:cNvPr id="21" name="Shape 19"/>
          <p:cNvSpPr/>
          <p:nvPr/>
        </p:nvSpPr>
        <p:spPr>
          <a:xfrm>
            <a:off x="256032" y="3767328"/>
            <a:ext cx="8686800" cy="804672"/>
          </a:xfrm>
          <a:prstGeom prst="rect">
            <a:avLst/>
          </a:prstGeom>
          <a:solidFill>
            <a:srgbClr val="F0F4F9"/>
          </a:solidFill>
          <a:ln w="12700">
            <a:solidFill>
              <a:srgbClr val="2E6DB4"/>
            </a:solidFill>
            <a:prstDash val="solid"/>
          </a:ln>
          <a:effectLst>
            <a:outerShdw sx="100000" sy="100000" kx="0" ky="0" algn="bl" rotWithShape="0" blurRad="101600" dist="38100" dir="8100000">
              <a:srgbClr val="000000">
                <a:alpha val="13000"/>
              </a:srgbClr>
            </a:outerShdw>
          </a:effectLst>
        </p:spPr>
      </p:sp>
      <p:sp>
        <p:nvSpPr>
          <p:cNvPr id="22" name="Shape 20"/>
          <p:cNvSpPr/>
          <p:nvPr/>
        </p:nvSpPr>
        <p:spPr>
          <a:xfrm>
            <a:off x="256032" y="3767328"/>
            <a:ext cx="384048" cy="804672"/>
          </a:xfrm>
          <a:prstGeom prst="rect">
            <a:avLst/>
          </a:prstGeom>
          <a:solidFill>
            <a:srgbClr val="2E6DB4"/>
          </a:solidFill>
          <a:ln w="12700">
            <a:solidFill>
              <a:srgbClr val="2E6DB4"/>
            </a:solidFill>
            <a:prstDash val="solid"/>
          </a:ln>
        </p:spPr>
      </p:sp>
      <p:sp>
        <p:nvSpPr>
          <p:cNvPr id="23" name="Text 21"/>
          <p:cNvSpPr/>
          <p:nvPr/>
        </p:nvSpPr>
        <p:spPr>
          <a:xfrm>
            <a:off x="256032" y="3767328"/>
            <a:ext cx="384048" cy="804672"/>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4" name="Text 22"/>
          <p:cNvSpPr/>
          <p:nvPr/>
        </p:nvSpPr>
        <p:spPr>
          <a:xfrm>
            <a:off x="713232" y="3803904"/>
            <a:ext cx="8138160" cy="256032"/>
          </a:xfrm>
          <a:prstGeom prst="rect">
            <a:avLst/>
          </a:prstGeom>
          <a:noFill/>
          <a:ln/>
        </p:spPr>
        <p:txBody>
          <a:bodyPr wrap="square" lIns="0" tIns="0" rIns="0" bIns="0" rtlCol="0" anchor="ctr"/>
          <a:lstStyle/>
          <a:p>
            <a:pPr algn="l" indent="0" marL="0">
              <a:buNone/>
            </a:pPr>
            <a:r>
              <a:rPr lang="en-US" sz="1100" b="1" dirty="0">
                <a:solidFill>
                  <a:srgbClr val="0D1B3E"/>
                </a:solidFill>
                <a:latin typeface="Calibri" pitchFamily="34" charset="0"/>
                <a:ea typeface="Calibri" pitchFamily="34" charset="-122"/>
                <a:cs typeface="Calibri" pitchFamily="34" charset="-120"/>
              </a:rPr>
              <a:t>Sentiment needs multi-episode validation</a:t>
            </a:r>
            <a:endParaRPr lang="en-US" sz="1100" dirty="0"/>
          </a:p>
        </p:txBody>
      </p:sp>
      <p:sp>
        <p:nvSpPr>
          <p:cNvPr id="25" name="Text 23"/>
          <p:cNvSpPr/>
          <p:nvPr/>
        </p:nvSpPr>
        <p:spPr>
          <a:xfrm>
            <a:off x="713232" y="4059936"/>
            <a:ext cx="8138160" cy="457200"/>
          </a:xfrm>
          <a:prstGeom prst="rect">
            <a:avLst/>
          </a:prstGeom>
          <a:noFill/>
          <a:ln/>
        </p:spPr>
        <p:txBody>
          <a:bodyPr wrap="square" lIns="0" tIns="0" rIns="0" bIns="0" rtlCol="0" anchor="t"/>
          <a:lstStyle/>
          <a:p>
            <a:pPr algn="l" indent="0" marL="0">
              <a:buNone/>
            </a:pPr>
            <a:r>
              <a:rPr lang="en-US" sz="1000" dirty="0">
                <a:solidFill>
                  <a:srgbClr val="2D3748"/>
                </a:solidFill>
                <a:latin typeface="Calibri" pitchFamily="34" charset="0"/>
                <a:ea typeface="Calibri" pitchFamily="34" charset="-122"/>
                <a:cs typeface="Calibri" pitchFamily="34" charset="-120"/>
              </a:rPr>
              <a:t>Current evidence is hypothesis-generating. Topic-specific features (Ho et al., 2022) are more promising than polarity scores, but the topic extension found zero incremental gain.</a:t>
            </a:r>
            <a:endParaRPr lang="en-US" sz="1000" dirty="0"/>
          </a:p>
        </p:txBody>
      </p:sp>
      <p:sp>
        <p:nvSpPr>
          <p:cNvPr id="26" name="Shape 24"/>
          <p:cNvSpPr/>
          <p:nvPr/>
        </p:nvSpPr>
        <p:spPr>
          <a:xfrm>
            <a:off x="256032" y="4718304"/>
            <a:ext cx="8686800" cy="320040"/>
          </a:xfrm>
          <a:prstGeom prst="rect">
            <a:avLst/>
          </a:prstGeom>
          <a:solidFill>
            <a:srgbClr val="0D1B3E"/>
          </a:solidFill>
          <a:ln w="12700">
            <a:solidFill>
              <a:srgbClr val="0D1B3E"/>
            </a:solidFill>
            <a:prstDash val="solid"/>
          </a:ln>
        </p:spPr>
      </p:sp>
      <p:sp>
        <p:nvSpPr>
          <p:cNvPr id="27" name="Shape 25"/>
          <p:cNvSpPr/>
          <p:nvPr/>
        </p:nvSpPr>
        <p:spPr>
          <a:xfrm>
            <a:off x="256032" y="4718304"/>
            <a:ext cx="411480" cy="320040"/>
          </a:xfrm>
          <a:prstGeom prst="rect">
            <a:avLst/>
          </a:prstGeom>
          <a:solidFill>
            <a:srgbClr val="E8A020"/>
          </a:solidFill>
          <a:ln w="12700">
            <a:solidFill>
              <a:srgbClr val="E8A020"/>
            </a:solidFill>
            <a:prstDash val="solid"/>
          </a:ln>
        </p:spPr>
      </p:sp>
      <p:sp>
        <p:nvSpPr>
          <p:cNvPr id="28" name="Text 26"/>
          <p:cNvSpPr/>
          <p:nvPr/>
        </p:nvSpPr>
        <p:spPr>
          <a:xfrm>
            <a:off x="731520" y="4718304"/>
            <a:ext cx="8183880" cy="320040"/>
          </a:xfrm>
          <a:prstGeom prst="rect">
            <a:avLst/>
          </a:prstGeom>
          <a:noFill/>
          <a:ln/>
        </p:spPr>
        <p:txBody>
          <a:bodyPr wrap="square" lIns="38100" tIns="38100" rIns="38100" bIns="38100" rtlCol="0" anchor="ctr"/>
          <a:lstStyle/>
          <a:p>
            <a:pPr algn="l" indent="0" marL="0">
              <a:buNone/>
            </a:pPr>
            <a:r>
              <a:rPr lang="en-US" sz="950" i="1" dirty="0">
                <a:solidFill>
                  <a:srgbClr val="FFFFFF"/>
                </a:solidFill>
                <a:latin typeface="Calibri" pitchFamily="34" charset="0"/>
                <a:ea typeface="Calibri" pitchFamily="34" charset="-122"/>
                <a:cs typeface="Calibri" pitchFamily="34" charset="-120"/>
              </a:rPr>
              <a:t>"The central limitation of EWS is the absence of a stable mapping between predictors and crisis outcomes across regimes. ML makes this visible; it cannot resolve it."</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8A020"/>
          </a:solidFill>
          <a:ln w="12700">
            <a:solidFill>
              <a:srgbClr val="E8A020"/>
            </a:solidFill>
            <a:prstDash val="solid"/>
          </a:ln>
        </p:spPr>
      </p:sp>
      <p:sp>
        <p:nvSpPr>
          <p:cNvPr id="3" name="Text 1"/>
          <p:cNvSpPr/>
          <p:nvPr/>
        </p:nvSpPr>
        <p:spPr>
          <a:xfrm>
            <a:off x="256032" y="118872"/>
            <a:ext cx="8686800" cy="566928"/>
          </a:xfrm>
          <a:prstGeom prst="rect">
            <a:avLst/>
          </a:prstGeom>
          <a:noFill/>
          <a:ln/>
        </p:spPr>
        <p:txBody>
          <a:bodyPr wrap="square" lIns="0" tIns="0" rIns="0" bIns="0" rtlCol="0" anchor="ctr"/>
          <a:lstStyle/>
          <a:p>
            <a:pPr algn="l" indent="0" marL="0">
              <a:buNone/>
            </a:pPr>
            <a:r>
              <a:rPr lang="en-US" sz="2600" b="1" dirty="0">
                <a:solidFill>
                  <a:srgbClr val="0D1B3E"/>
                </a:solidFill>
                <a:latin typeface="Calibri" pitchFamily="34" charset="0"/>
                <a:ea typeface="Calibri" pitchFamily="34" charset="-122"/>
                <a:cs typeface="Calibri" pitchFamily="34" charset="-120"/>
              </a:rPr>
              <a:t>Appendix B: Exploratory Regime-Conditional Prototype</a:t>
            </a:r>
            <a:endParaRPr lang="en-US" sz="2600" dirty="0"/>
          </a:p>
        </p:txBody>
      </p:sp>
      <p:sp>
        <p:nvSpPr>
          <p:cNvPr id="4" name="Text 2"/>
          <p:cNvSpPr/>
          <p:nvPr/>
        </p:nvSpPr>
        <p:spPr>
          <a:xfrm>
            <a:off x="256032" y="685800"/>
            <a:ext cx="8686800" cy="274320"/>
          </a:xfrm>
          <a:prstGeom prst="rect">
            <a:avLst/>
          </a:prstGeom>
          <a:noFill/>
          <a:ln/>
        </p:spPr>
        <p:txBody>
          <a:bodyPr wrap="square" lIns="0" tIns="0" rIns="0" bIns="0" rtlCol="0" anchor="t"/>
          <a:lstStyle/>
          <a:p>
            <a:pPr algn="l" indent="0" marL="0">
              <a:buNone/>
            </a:pPr>
            <a:r>
              <a:rPr lang="en-US" sz="1200" i="1" dirty="0">
                <a:solidFill>
                  <a:srgbClr val="2E6DB4"/>
                </a:solidFill>
                <a:latin typeface="Calibri" pitchFamily="34" charset="0"/>
                <a:ea typeface="Calibri" pitchFamily="34" charset="-122"/>
                <a:cs typeface="Calibri" pitchFamily="34" charset="-120"/>
              </a:rPr>
              <a:t>NB11 · Proof-of-concept · Confirms the binding statistical constraints</a:t>
            </a:r>
            <a:endParaRPr lang="en-US" sz="1200" dirty="0"/>
          </a:p>
        </p:txBody>
      </p:sp>
      <p:sp>
        <p:nvSpPr>
          <p:cNvPr id="5" name="Shape 3"/>
          <p:cNvSpPr/>
          <p:nvPr/>
        </p:nvSpPr>
        <p:spPr>
          <a:xfrm>
            <a:off x="256032" y="987552"/>
            <a:ext cx="8686800" cy="0"/>
          </a:xfrm>
          <a:prstGeom prst="line">
            <a:avLst/>
          </a:prstGeom>
          <a:noFill/>
          <a:ln w="10160">
            <a:solidFill>
              <a:srgbClr val="D6E4F7"/>
            </a:solidFill>
            <a:prstDash val="solid"/>
          </a:ln>
        </p:spPr>
      </p:sp>
      <p:sp>
        <p:nvSpPr>
          <p:cNvPr id="6" name="Shape 4"/>
          <p:cNvSpPr/>
          <p:nvPr/>
        </p:nvSpPr>
        <p:spPr>
          <a:xfrm>
            <a:off x="256032" y="1078992"/>
            <a:ext cx="8686800" cy="411480"/>
          </a:xfrm>
          <a:prstGeom prst="rect">
            <a:avLst/>
          </a:prstGeom>
          <a:solidFill>
            <a:srgbClr val="FFF8E8"/>
          </a:solidFill>
          <a:ln w="12700">
            <a:solidFill>
              <a:srgbClr val="E8A020"/>
            </a:solidFill>
            <a:prstDash val="solid"/>
          </a:ln>
        </p:spPr>
      </p:sp>
      <p:sp>
        <p:nvSpPr>
          <p:cNvPr id="7" name="Text 5"/>
          <p:cNvSpPr/>
          <p:nvPr/>
        </p:nvSpPr>
        <p:spPr>
          <a:xfrm>
            <a:off x="320040" y="1078992"/>
            <a:ext cx="8503920" cy="411480"/>
          </a:xfrm>
          <a:prstGeom prst="rect">
            <a:avLst/>
          </a:prstGeom>
          <a:noFill/>
          <a:ln/>
        </p:spPr>
        <p:txBody>
          <a:bodyPr wrap="square" lIns="38100" tIns="38100" rIns="38100" bIns="38100" rtlCol="0" anchor="ctr"/>
          <a:lstStyle/>
          <a:p>
            <a:pPr indent="0" marL="0">
              <a:buNone/>
            </a:pPr>
            <a:r>
              <a:rPr lang="en-US" sz="1000" i="1" dirty="0">
                <a:solidFill>
                  <a:srgbClr val="2D3748"/>
                </a:solidFill>
                <a:latin typeface="Calibri" pitchFamily="34" charset="0"/>
                <a:ea typeface="Calibri" pitchFamily="34" charset="-122"/>
                <a:cs typeface="Calibri" pitchFamily="34" charset="-120"/>
              </a:rPr>
              <a:t>SCOPE: Exploratory extension only. Not a validated system. Demonstrates feasibility and confirms why a fully validated regime-conditional EWS cannot be implemented within the current dataset.</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256032" y="1572768"/>
          <a:ext cx="8686800" cy="1417320"/>
        </p:xfrm>
        <a:graphic>
          <a:graphicData uri="http://schemas.openxmlformats.org/drawingml/2006/table">
            <a:tbl>
              <a:tblPr/>
              <a:tblGrid>
                <a:gridCol w="2286000"/>
                <a:gridCol w="1828800"/>
                <a:gridCol w="1463040"/>
                <a:gridCol w="1645920"/>
                <a:gridCol w="1463040"/>
              </a:tblGrid>
              <a:tr h="283464">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Regime</a:t>
                      </a:r>
                      <a:endParaRPr lang="en-US" sz="1000" dirty="0">
                        <a:latin typeface="Calibri" charset="0"/>
                        <a:ea typeface="Calibri" charset="0"/>
                        <a:cs typeface="Calibri" charset="0"/>
                      </a:endParaRPr>
                    </a:p>
                  </a:txBody>
                  <a:tcPr marL="91440" marR="91440" marT="45720" marB="45720">
                    <a:lnL w="6350" cap="flat" cmpd="sng" algn="ctr">
                      <a:solidFill>
                        <a:srgbClr val="D0D7E5"/>
                      </a:solidFill>
                      <a:prstDash val="solid"/>
                      <a:round/>
                      <a:headEnd type="none" w="med" len="med"/>
                      <a:tailEnd type="none" w="med" len="med"/>
                    </a:lnL>
                    <a:lnR w="6350" cap="flat" cmpd="sng" algn="ctr">
                      <a:solidFill>
                        <a:srgbClr val="D0D7E5"/>
                      </a:solidFill>
                      <a:prstDash val="solid"/>
                      <a:round/>
                      <a:headEnd type="none" w="med" len="med"/>
                      <a:tailEnd type="none" w="med" len="med"/>
                    </a:lnR>
                    <a:lnT w="6350" cap="flat" cmpd="sng" algn="ctr">
                      <a:solidFill>
                        <a:srgbClr val="D0D7E5"/>
                      </a:solidFill>
                      <a:prstDash val="solid"/>
                      <a:round/>
                      <a:headEnd type="none" w="med" len="med"/>
                      <a:tailEnd type="none" w="med" len="med"/>
                    </a:lnT>
                    <a:lnB w="6350" cap="flat" cmpd="sng" algn="ctr">
                      <a:solidFill>
                        <a:srgbClr val="D0D7E5"/>
                      </a:solidFill>
                      <a:prstDash val="solid"/>
                      <a:round/>
                      <a:headEnd type="none" w="med" len="med"/>
                      <a:tailEnd type="none" w="med" len="med"/>
                    </a:lnB>
                    <a:solidFill>
                      <a:srgbClr val="1A3A6B"/>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Period</a:t>
                      </a:r>
                      <a:endParaRPr lang="en-US" sz="1000" dirty="0">
                        <a:latin typeface="Calibri" charset="0"/>
                        <a:ea typeface="Calibri" charset="0"/>
                        <a:cs typeface="Calibri" charset="0"/>
                      </a:endParaRPr>
                    </a:p>
                  </a:txBody>
                  <a:tcPr marL="91440" marR="91440" marT="45720" marB="45720">
                    <a:lnL w="6350" cap="flat" cmpd="sng" algn="ctr">
                      <a:solidFill>
                        <a:srgbClr val="D0D7E5"/>
                      </a:solidFill>
                      <a:prstDash val="solid"/>
                      <a:round/>
                      <a:headEnd type="none" w="med" len="med"/>
                      <a:tailEnd type="none" w="med" len="med"/>
                    </a:lnL>
                    <a:lnR w="6350" cap="flat" cmpd="sng" algn="ctr">
                      <a:solidFill>
                        <a:srgbClr val="D0D7E5"/>
                      </a:solidFill>
                      <a:prstDash val="solid"/>
                      <a:round/>
                      <a:headEnd type="none" w="med" len="med"/>
                      <a:tailEnd type="none" w="med" len="med"/>
                    </a:lnR>
                    <a:lnT w="6350" cap="flat" cmpd="sng" algn="ctr">
                      <a:solidFill>
                        <a:srgbClr val="D0D7E5"/>
                      </a:solidFill>
                      <a:prstDash val="solid"/>
                      <a:round/>
                      <a:headEnd type="none" w="med" len="med"/>
                      <a:tailEnd type="none" w="med" len="med"/>
                    </a:lnT>
                    <a:lnB w="6350" cap="flat" cmpd="sng" algn="ctr">
                      <a:solidFill>
                        <a:srgbClr val="D0D7E5"/>
                      </a:solidFill>
                      <a:prstDash val="solid"/>
                      <a:round/>
                      <a:headEnd type="none" w="med" len="med"/>
                      <a:tailEnd type="none" w="med" len="med"/>
                    </a:lnB>
                    <a:solidFill>
                      <a:srgbClr val="1A3A6B"/>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Train positives</a:t>
                      </a:r>
                      <a:endParaRPr lang="en-US" sz="1000" dirty="0">
                        <a:latin typeface="Calibri" charset="0"/>
                        <a:ea typeface="Calibri" charset="0"/>
                        <a:cs typeface="Calibri" charset="0"/>
                      </a:endParaRPr>
                    </a:p>
                  </a:txBody>
                  <a:tcPr marL="91440" marR="91440" marT="45720" marB="45720">
                    <a:lnL w="6350" cap="flat" cmpd="sng" algn="ctr">
                      <a:solidFill>
                        <a:srgbClr val="D0D7E5"/>
                      </a:solidFill>
                      <a:prstDash val="solid"/>
                      <a:round/>
                      <a:headEnd type="none" w="med" len="med"/>
                      <a:tailEnd type="none" w="med" len="med"/>
                    </a:lnL>
                    <a:lnR w="6350" cap="flat" cmpd="sng" algn="ctr">
                      <a:solidFill>
                        <a:srgbClr val="D0D7E5"/>
                      </a:solidFill>
                      <a:prstDash val="solid"/>
                      <a:round/>
                      <a:headEnd type="none" w="med" len="med"/>
                      <a:tailEnd type="none" w="med" len="med"/>
                    </a:lnR>
                    <a:lnT w="6350" cap="flat" cmpd="sng" algn="ctr">
                      <a:solidFill>
                        <a:srgbClr val="D0D7E5"/>
                      </a:solidFill>
                      <a:prstDash val="solid"/>
                      <a:round/>
                      <a:headEnd type="none" w="med" len="med"/>
                      <a:tailEnd type="none" w="med" len="med"/>
                    </a:lnT>
                    <a:lnB w="6350" cap="flat" cmpd="sng" algn="ctr">
                      <a:solidFill>
                        <a:srgbClr val="D0D7E5"/>
                      </a:solidFill>
                      <a:prstDash val="solid"/>
                      <a:round/>
                      <a:headEnd type="none" w="med" len="med"/>
                      <a:tailEnd type="none" w="med" len="med"/>
                    </a:lnB>
                    <a:solidFill>
                      <a:srgbClr val="1A3A6B"/>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EBM AUROC</a:t>
                      </a:r>
                      <a:endParaRPr lang="en-US" sz="1000" dirty="0">
                        <a:latin typeface="Calibri" charset="0"/>
                        <a:ea typeface="Calibri" charset="0"/>
                        <a:cs typeface="Calibri" charset="0"/>
                      </a:endParaRPr>
                    </a:p>
                  </a:txBody>
                  <a:tcPr marL="91440" marR="91440" marT="45720" marB="45720">
                    <a:lnL w="6350" cap="flat" cmpd="sng" algn="ctr">
                      <a:solidFill>
                        <a:srgbClr val="D0D7E5"/>
                      </a:solidFill>
                      <a:prstDash val="solid"/>
                      <a:round/>
                      <a:headEnd type="none" w="med" len="med"/>
                      <a:tailEnd type="none" w="med" len="med"/>
                    </a:lnL>
                    <a:lnR w="6350" cap="flat" cmpd="sng" algn="ctr">
                      <a:solidFill>
                        <a:srgbClr val="D0D7E5"/>
                      </a:solidFill>
                      <a:prstDash val="solid"/>
                      <a:round/>
                      <a:headEnd type="none" w="med" len="med"/>
                      <a:tailEnd type="none" w="med" len="med"/>
                    </a:lnR>
                    <a:lnT w="6350" cap="flat" cmpd="sng" algn="ctr">
                      <a:solidFill>
                        <a:srgbClr val="D0D7E5"/>
                      </a:solidFill>
                      <a:prstDash val="solid"/>
                      <a:round/>
                      <a:headEnd type="none" w="med" len="med"/>
                      <a:tailEnd type="none" w="med" len="med"/>
                    </a:lnT>
                    <a:lnB w="6350" cap="flat" cmpd="sng" algn="ctr">
                      <a:solidFill>
                        <a:srgbClr val="D0D7E5"/>
                      </a:solidFill>
                      <a:prstDash val="solid"/>
                      <a:round/>
                      <a:headEnd type="none" w="med" len="med"/>
                      <a:tailEnd type="none" w="med" len="med"/>
                    </a:lnB>
                    <a:solidFill>
                      <a:srgbClr val="1A3A6B"/>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vs Benchmark</a:t>
                      </a:r>
                      <a:endParaRPr lang="en-US" sz="1000" dirty="0">
                        <a:latin typeface="Calibri" charset="0"/>
                        <a:ea typeface="Calibri" charset="0"/>
                        <a:cs typeface="Calibri" charset="0"/>
                      </a:endParaRPr>
                    </a:p>
                  </a:txBody>
                  <a:tcPr marL="91440" marR="91440" marT="45720" marB="45720">
                    <a:lnL w="6350" cap="flat" cmpd="sng" algn="ctr">
                      <a:solidFill>
                        <a:srgbClr val="D0D7E5"/>
                      </a:solidFill>
                      <a:prstDash val="solid"/>
                      <a:round/>
                      <a:headEnd type="none" w="med" len="med"/>
                      <a:tailEnd type="none" w="med" len="med"/>
                    </a:lnL>
                    <a:lnR w="6350" cap="flat" cmpd="sng" algn="ctr">
                      <a:solidFill>
                        <a:srgbClr val="D0D7E5"/>
                      </a:solidFill>
                      <a:prstDash val="solid"/>
                      <a:round/>
                      <a:headEnd type="none" w="med" len="med"/>
                      <a:tailEnd type="none" w="med" len="med"/>
                    </a:lnR>
                    <a:lnT w="6350" cap="flat" cmpd="sng" algn="ctr">
                      <a:solidFill>
                        <a:srgbClr val="D0D7E5"/>
                      </a:solidFill>
                      <a:prstDash val="solid"/>
                      <a:round/>
                      <a:headEnd type="none" w="med" len="med"/>
                      <a:tailEnd type="none" w="med" len="med"/>
                    </a:lnT>
                    <a:lnB w="6350" cap="flat" cmpd="sng" algn="ctr">
                      <a:solidFill>
                        <a:srgbClr val="D0D7E5"/>
                      </a:solidFill>
                      <a:prstDash val="solid"/>
                      <a:round/>
                      <a:headEnd type="none" w="med" len="med"/>
                      <a:tailEnd type="none" w="med" len="med"/>
                    </a:lnB>
                    <a:solidFill>
                      <a:srgbClr val="1A3A6B"/>
                    </a:solidFill>
                  </a:tcPr>
                </a:tc>
              </a:tr>
              <a:tr h="283464">
                <a:tc>
                  <a:txBody>
                    <a:bodyPr/>
                    <a:lstStyle/>
                    <a:p>
                      <a:pPr algn="ctr" indent="0" marL="0">
                        <a:buNone/>
                      </a:pPr>
                      <a:r>
                        <a:rPr lang="en-US" sz="1000" dirty="0">
                          <a:solidFill>
                            <a:srgbClr val="000000"/>
                          </a:solidFill>
                          <a:latin typeface="Calibri" pitchFamily="34" charset="0"/>
                          <a:ea typeface="Calibri" pitchFamily="34" charset="-122"/>
                          <a:cs typeface="Calibri" pitchFamily="34" charset="-120"/>
                        </a:rPr>
                        <a:t>Pooled (baseline)</a:t>
                      </a:r>
                      <a:endParaRPr lang="en-US" sz="1000" dirty="0">
                        <a:latin typeface="Calibri" charset="0"/>
                        <a:ea typeface="Calibri" charset="0"/>
                        <a:cs typeface="Calibri" charset="0"/>
                      </a:endParaRPr>
                    </a:p>
                  </a:txBody>
                  <a:tcPr marL="91440" marR="91440" marT="45720" marB="45720">
                    <a:lnL w="6350" cap="flat" cmpd="sng" algn="ctr">
                      <a:solidFill>
                        <a:srgbClr val="D0D7E5"/>
                      </a:solidFill>
                      <a:prstDash val="solid"/>
                      <a:round/>
                      <a:headEnd type="none" w="med" len="med"/>
                      <a:tailEnd type="none" w="med" len="med"/>
                    </a:lnL>
                    <a:lnR w="6350" cap="flat" cmpd="sng" algn="ctr">
                      <a:solidFill>
                        <a:srgbClr val="D0D7E5"/>
                      </a:solidFill>
                      <a:prstDash val="solid"/>
                      <a:round/>
                      <a:headEnd type="none" w="med" len="med"/>
                      <a:tailEnd type="none" w="med" len="med"/>
                    </a:lnR>
                    <a:lnT w="6350" cap="flat" cmpd="sng" algn="ctr">
                      <a:solidFill>
                        <a:srgbClr val="D0D7E5"/>
                      </a:solidFill>
                      <a:prstDash val="solid"/>
                      <a:round/>
                      <a:headEnd type="none" w="med" len="med"/>
                      <a:tailEnd type="none" w="med" len="med"/>
                    </a:lnT>
                    <a:lnB w="6350" cap="flat" cmpd="sng" algn="ctr">
                      <a:solidFill>
                        <a:srgbClr val="D0D7E5"/>
                      </a:solidFill>
                      <a:prstDash val="solid"/>
                      <a:round/>
                      <a:headEnd type="none" w="med" len="med"/>
                      <a:tailEnd type="none" w="med" len="med"/>
                    </a:lnB>
                  </a:tcPr>
                </a:tc>
                <a:tc>
                  <a:txBody>
                    <a:bodyPr/>
                    <a:lstStyle/>
                    <a:p>
                      <a:pPr algn="ctr" indent="0" marL="0">
                        <a:buNone/>
                      </a:pPr>
                      <a:r>
                        <a:rPr lang="en-US" sz="1000" dirty="0">
                          <a:solidFill>
                            <a:srgbClr val="000000"/>
                          </a:solidFill>
                          <a:latin typeface="Calibri" pitchFamily="34" charset="0"/>
                          <a:ea typeface="Calibri" pitchFamily="34" charset="-122"/>
                          <a:cs typeface="Calibri" pitchFamily="34" charset="-120"/>
                        </a:rPr>
                        <a:t>1988–2020</a:t>
                      </a:r>
                      <a:endParaRPr lang="en-US" sz="1000" dirty="0">
                        <a:latin typeface="Calibri" charset="0"/>
                        <a:ea typeface="Calibri" charset="0"/>
                        <a:cs typeface="Calibri" charset="0"/>
                      </a:endParaRPr>
                    </a:p>
                  </a:txBody>
                  <a:tcPr marL="91440" marR="91440" marT="45720" marB="45720">
                    <a:lnL w="6350" cap="flat" cmpd="sng" algn="ctr">
                      <a:solidFill>
                        <a:srgbClr val="D0D7E5"/>
                      </a:solidFill>
                      <a:prstDash val="solid"/>
                      <a:round/>
                      <a:headEnd type="none" w="med" len="med"/>
                      <a:tailEnd type="none" w="med" len="med"/>
                    </a:lnL>
                    <a:lnR w="6350" cap="flat" cmpd="sng" algn="ctr">
                      <a:solidFill>
                        <a:srgbClr val="D0D7E5"/>
                      </a:solidFill>
                      <a:prstDash val="solid"/>
                      <a:round/>
                      <a:headEnd type="none" w="med" len="med"/>
                      <a:tailEnd type="none" w="med" len="med"/>
                    </a:lnR>
                    <a:lnT w="6350" cap="flat" cmpd="sng" algn="ctr">
                      <a:solidFill>
                        <a:srgbClr val="D0D7E5"/>
                      </a:solidFill>
                      <a:prstDash val="solid"/>
                      <a:round/>
                      <a:headEnd type="none" w="med" len="med"/>
                      <a:tailEnd type="none" w="med" len="med"/>
                    </a:lnT>
                    <a:lnB w="6350" cap="flat" cmpd="sng" algn="ctr">
                      <a:solidFill>
                        <a:srgbClr val="D0D7E5"/>
                      </a:solidFill>
                      <a:prstDash val="solid"/>
                      <a:round/>
                      <a:headEnd type="none" w="med" len="med"/>
                      <a:tailEnd type="none" w="med" len="med"/>
                    </a:lnB>
                  </a:tcPr>
                </a:tc>
                <a:tc>
                  <a:txBody>
                    <a:bodyPr/>
                    <a:lstStyle/>
                    <a:p>
                      <a:pPr algn="ctr" indent="0" marL="0">
                        <a:buNone/>
                      </a:pPr>
                      <a:r>
                        <a:rPr lang="en-US" sz="1000" dirty="0">
                          <a:solidFill>
                            <a:srgbClr val="000000"/>
                          </a:solidFill>
                          <a:latin typeface="Calibri" pitchFamily="34" charset="0"/>
                          <a:ea typeface="Calibri" pitchFamily="34" charset="-122"/>
                          <a:cs typeface="Calibri" pitchFamily="34" charset="-120"/>
                        </a:rPr>
                        <a:t>37</a:t>
                      </a:r>
                      <a:endParaRPr lang="en-US" sz="1000" dirty="0">
                        <a:latin typeface="Calibri" charset="0"/>
                        <a:ea typeface="Calibri" charset="0"/>
                        <a:cs typeface="Calibri" charset="0"/>
                      </a:endParaRPr>
                    </a:p>
                  </a:txBody>
                  <a:tcPr marL="91440" marR="91440" marT="45720" marB="45720">
                    <a:lnL w="6350" cap="flat" cmpd="sng" algn="ctr">
                      <a:solidFill>
                        <a:srgbClr val="D0D7E5"/>
                      </a:solidFill>
                      <a:prstDash val="solid"/>
                      <a:round/>
                      <a:headEnd type="none" w="med" len="med"/>
                      <a:tailEnd type="none" w="med" len="med"/>
                    </a:lnL>
                    <a:lnR w="6350" cap="flat" cmpd="sng" algn="ctr">
                      <a:solidFill>
                        <a:srgbClr val="D0D7E5"/>
                      </a:solidFill>
                      <a:prstDash val="solid"/>
                      <a:round/>
                      <a:headEnd type="none" w="med" len="med"/>
                      <a:tailEnd type="none" w="med" len="med"/>
                    </a:lnR>
                    <a:lnT w="6350" cap="flat" cmpd="sng" algn="ctr">
                      <a:solidFill>
                        <a:srgbClr val="D0D7E5"/>
                      </a:solidFill>
                      <a:prstDash val="solid"/>
                      <a:round/>
                      <a:headEnd type="none" w="med" len="med"/>
                      <a:tailEnd type="none" w="med" len="med"/>
                    </a:lnT>
                    <a:lnB w="6350" cap="flat" cmpd="sng" algn="ctr">
                      <a:solidFill>
                        <a:srgbClr val="D0D7E5"/>
                      </a:solidFill>
                      <a:prstDash val="solid"/>
                      <a:round/>
                      <a:headEnd type="none" w="med" len="med"/>
                      <a:tailEnd type="none" w="med" len="med"/>
                    </a:lnB>
                  </a:tcPr>
                </a:tc>
                <a:tc>
                  <a:txBody>
                    <a:bodyPr/>
                    <a:lstStyle/>
                    <a:p>
                      <a:pPr algn="ctr" indent="0" marL="0">
                        <a:buNone/>
                      </a:pPr>
                      <a:r>
                        <a:rPr lang="en-US" sz="1000" dirty="0">
                          <a:solidFill>
                            <a:srgbClr val="000000"/>
                          </a:solidFill>
                          <a:latin typeface="Calibri" pitchFamily="34" charset="0"/>
                          <a:ea typeface="Calibri" pitchFamily="34" charset="-122"/>
                          <a:cs typeface="Calibri" pitchFamily="34" charset="-120"/>
                        </a:rPr>
                        <a:t>0.753 (exp-window)</a:t>
                      </a:r>
                      <a:endParaRPr lang="en-US" sz="1000" dirty="0">
                        <a:latin typeface="Calibri" charset="0"/>
                        <a:ea typeface="Calibri" charset="0"/>
                        <a:cs typeface="Calibri" charset="0"/>
                      </a:endParaRPr>
                    </a:p>
                  </a:txBody>
                  <a:tcPr marL="91440" marR="91440" marT="45720" marB="45720">
                    <a:lnL w="6350" cap="flat" cmpd="sng" algn="ctr">
                      <a:solidFill>
                        <a:srgbClr val="D0D7E5"/>
                      </a:solidFill>
                      <a:prstDash val="solid"/>
                      <a:round/>
                      <a:headEnd type="none" w="med" len="med"/>
                      <a:tailEnd type="none" w="med" len="med"/>
                    </a:lnL>
                    <a:lnR w="6350" cap="flat" cmpd="sng" algn="ctr">
                      <a:solidFill>
                        <a:srgbClr val="D0D7E5"/>
                      </a:solidFill>
                      <a:prstDash val="solid"/>
                      <a:round/>
                      <a:headEnd type="none" w="med" len="med"/>
                      <a:tailEnd type="none" w="med" len="med"/>
                    </a:lnR>
                    <a:lnT w="6350" cap="flat" cmpd="sng" algn="ctr">
                      <a:solidFill>
                        <a:srgbClr val="D0D7E5"/>
                      </a:solidFill>
                      <a:prstDash val="solid"/>
                      <a:round/>
                      <a:headEnd type="none" w="med" len="med"/>
                      <a:tailEnd type="none" w="med" len="med"/>
                    </a:lnT>
                    <a:lnB w="6350" cap="flat" cmpd="sng" algn="ctr">
                      <a:solidFill>
                        <a:srgbClr val="D0D7E5"/>
                      </a:solidFill>
                      <a:prstDash val="solid"/>
                      <a:round/>
                      <a:headEnd type="none" w="med" len="med"/>
                      <a:tailEnd type="none" w="med" len="med"/>
                    </a:lnB>
                  </a:tcPr>
                </a:tc>
                <a:tc>
                  <a:txBody>
                    <a:bodyPr/>
                    <a:lstStyle/>
                    <a:p>
                      <a:pPr algn="ctr" indent="0" marL="0">
                        <a:buNone/>
                      </a:pPr>
                      <a:r>
                        <a:rPr lang="en-US" sz="1000" dirty="0">
                          <a:solidFill>
                            <a:srgbClr val="000000"/>
                          </a:solidFill>
                          <a:latin typeface="Calibri" pitchFamily="34" charset="0"/>
                          <a:ea typeface="Calibri" pitchFamily="34" charset="-122"/>
                          <a:cs typeface="Calibri" pitchFamily="34" charset="-120"/>
                        </a:rPr>
                        <a:t>Meets 0.75</a:t>
                      </a:r>
                      <a:endParaRPr lang="en-US" sz="1000" dirty="0">
                        <a:latin typeface="Calibri" charset="0"/>
                        <a:ea typeface="Calibri" charset="0"/>
                        <a:cs typeface="Calibri" charset="0"/>
                      </a:endParaRPr>
                    </a:p>
                  </a:txBody>
                  <a:tcPr marL="91440" marR="91440" marT="45720" marB="45720">
                    <a:lnL w="6350" cap="flat" cmpd="sng" algn="ctr">
                      <a:solidFill>
                        <a:srgbClr val="D0D7E5"/>
                      </a:solidFill>
                      <a:prstDash val="solid"/>
                      <a:round/>
                      <a:headEnd type="none" w="med" len="med"/>
                      <a:tailEnd type="none" w="med" len="med"/>
                    </a:lnL>
                    <a:lnR w="6350" cap="flat" cmpd="sng" algn="ctr">
                      <a:solidFill>
                        <a:srgbClr val="D0D7E5"/>
                      </a:solidFill>
                      <a:prstDash val="solid"/>
                      <a:round/>
                      <a:headEnd type="none" w="med" len="med"/>
                      <a:tailEnd type="none" w="med" len="med"/>
                    </a:lnR>
                    <a:lnT w="6350" cap="flat" cmpd="sng" algn="ctr">
                      <a:solidFill>
                        <a:srgbClr val="D0D7E5"/>
                      </a:solidFill>
                      <a:prstDash val="solid"/>
                      <a:round/>
                      <a:headEnd type="none" w="med" len="med"/>
                      <a:tailEnd type="none" w="med" len="med"/>
                    </a:lnT>
                    <a:lnB w="6350" cap="flat" cmpd="sng" algn="ctr">
                      <a:solidFill>
                        <a:srgbClr val="D0D7E5"/>
                      </a:solidFill>
                      <a:prstDash val="solid"/>
                      <a:round/>
                      <a:headEnd type="none" w="med" len="med"/>
                      <a:tailEnd type="none" w="med" len="med"/>
                    </a:lnB>
                  </a:tcPr>
                </a:tc>
              </a:tr>
              <a:tr h="283464">
                <a:tc>
                  <a:txBody>
                    <a:bodyPr/>
                    <a:lstStyle/>
                    <a:p>
                      <a:pPr algn="ctr" indent="0" marL="0">
                        <a:buNone/>
                      </a:pPr>
                      <a:r>
                        <a:rPr lang="en-US" sz="1000" dirty="0">
                          <a:solidFill>
                            <a:srgbClr val="000000"/>
                          </a:solidFill>
                          <a:latin typeface="Calibri" pitchFamily="34" charset="0"/>
                          <a:ea typeface="Calibri" pitchFamily="34" charset="-122"/>
                          <a:cs typeface="Calibri" pitchFamily="34" charset="-120"/>
                        </a:rPr>
                        <a:t>EBM-Pooled (prospective)</a:t>
                      </a:r>
                      <a:endParaRPr lang="en-US" sz="1000" dirty="0">
                        <a:latin typeface="Calibri" charset="0"/>
                        <a:ea typeface="Calibri" charset="0"/>
                        <a:cs typeface="Calibri" charset="0"/>
                      </a:endParaRPr>
                    </a:p>
                  </a:txBody>
                  <a:tcPr marL="91440" marR="91440" marT="45720" marB="45720">
                    <a:lnL w="6350" cap="flat" cmpd="sng" algn="ctr">
                      <a:solidFill>
                        <a:srgbClr val="D0D7E5"/>
                      </a:solidFill>
                      <a:prstDash val="solid"/>
                      <a:round/>
                      <a:headEnd type="none" w="med" len="med"/>
                      <a:tailEnd type="none" w="med" len="med"/>
                    </a:lnL>
                    <a:lnR w="6350" cap="flat" cmpd="sng" algn="ctr">
                      <a:solidFill>
                        <a:srgbClr val="D0D7E5"/>
                      </a:solidFill>
                      <a:prstDash val="solid"/>
                      <a:round/>
                      <a:headEnd type="none" w="med" len="med"/>
                      <a:tailEnd type="none" w="med" len="med"/>
                    </a:lnR>
                    <a:lnT w="6350" cap="flat" cmpd="sng" algn="ctr">
                      <a:solidFill>
                        <a:srgbClr val="D0D7E5"/>
                      </a:solidFill>
                      <a:prstDash val="solid"/>
                      <a:round/>
                      <a:headEnd type="none" w="med" len="med"/>
                      <a:tailEnd type="none" w="med" len="med"/>
                    </a:lnT>
                    <a:lnB w="6350" cap="flat" cmpd="sng" algn="ctr">
                      <a:solidFill>
                        <a:srgbClr val="D0D7E5"/>
                      </a:solidFill>
                      <a:prstDash val="solid"/>
                      <a:round/>
                      <a:headEnd type="none" w="med" len="med"/>
                      <a:tailEnd type="none" w="med" len="med"/>
                    </a:lnB>
                  </a:tcPr>
                </a:tc>
                <a:tc>
                  <a:txBody>
                    <a:bodyPr/>
                    <a:lstStyle/>
                    <a:p>
                      <a:pPr algn="ctr" indent="0" marL="0">
                        <a:buNone/>
                      </a:pPr>
                      <a:r>
                        <a:rPr lang="en-US" sz="1000" dirty="0">
                          <a:solidFill>
                            <a:srgbClr val="000000"/>
                          </a:solidFill>
                          <a:latin typeface="Calibri" pitchFamily="34" charset="0"/>
                          <a:ea typeface="Calibri" pitchFamily="34" charset="-122"/>
                          <a:cs typeface="Calibri" pitchFamily="34" charset="-120"/>
                        </a:rPr>
                        <a:t>1988–2002→2003+</a:t>
                      </a:r>
                      <a:endParaRPr lang="en-US" sz="1000" dirty="0">
                        <a:latin typeface="Calibri" charset="0"/>
                        <a:ea typeface="Calibri" charset="0"/>
                        <a:cs typeface="Calibri" charset="0"/>
                      </a:endParaRPr>
                    </a:p>
                  </a:txBody>
                  <a:tcPr marL="91440" marR="91440" marT="45720" marB="45720">
                    <a:lnL w="6350" cap="flat" cmpd="sng" algn="ctr">
                      <a:solidFill>
                        <a:srgbClr val="D0D7E5"/>
                      </a:solidFill>
                      <a:prstDash val="solid"/>
                      <a:round/>
                      <a:headEnd type="none" w="med" len="med"/>
                      <a:tailEnd type="none" w="med" len="med"/>
                    </a:lnL>
                    <a:lnR w="6350" cap="flat" cmpd="sng" algn="ctr">
                      <a:solidFill>
                        <a:srgbClr val="D0D7E5"/>
                      </a:solidFill>
                      <a:prstDash val="solid"/>
                      <a:round/>
                      <a:headEnd type="none" w="med" len="med"/>
                      <a:tailEnd type="none" w="med" len="med"/>
                    </a:lnR>
                    <a:lnT w="6350" cap="flat" cmpd="sng" algn="ctr">
                      <a:solidFill>
                        <a:srgbClr val="D0D7E5"/>
                      </a:solidFill>
                      <a:prstDash val="solid"/>
                      <a:round/>
                      <a:headEnd type="none" w="med" len="med"/>
                      <a:tailEnd type="none" w="med" len="med"/>
                    </a:lnT>
                    <a:lnB w="6350" cap="flat" cmpd="sng" algn="ctr">
                      <a:solidFill>
                        <a:srgbClr val="D0D7E5"/>
                      </a:solidFill>
                      <a:prstDash val="solid"/>
                      <a:round/>
                      <a:headEnd type="none" w="med" len="med"/>
                      <a:tailEnd type="none" w="med" len="med"/>
                    </a:lnB>
                  </a:tcPr>
                </a:tc>
                <a:tc>
                  <a:txBody>
                    <a:bodyPr/>
                    <a:lstStyle/>
                    <a:p>
                      <a:pPr algn="ctr" indent="0" marL="0">
                        <a:buNone/>
                      </a:pPr>
                      <a:r>
                        <a:rPr lang="en-US" sz="1000" dirty="0">
                          <a:solidFill>
                            <a:srgbClr val="C0392B"/>
                          </a:solidFill>
                          <a:latin typeface="Calibri" pitchFamily="34" charset="0"/>
                          <a:ea typeface="Calibri" pitchFamily="34" charset="-122"/>
                          <a:cs typeface="Calibri" pitchFamily="34" charset="-120"/>
                        </a:rPr>
                        <a:t>6</a:t>
                      </a:r>
                      <a:endParaRPr lang="en-US" sz="1000" dirty="0">
                        <a:latin typeface="Calibri" charset="0"/>
                        <a:ea typeface="Calibri" charset="0"/>
                        <a:cs typeface="Calibri" charset="0"/>
                      </a:endParaRPr>
                    </a:p>
                  </a:txBody>
                  <a:tcPr marL="91440" marR="91440" marT="45720" marB="45720">
                    <a:lnL w="6350" cap="flat" cmpd="sng" algn="ctr">
                      <a:solidFill>
                        <a:srgbClr val="D0D7E5"/>
                      </a:solidFill>
                      <a:prstDash val="solid"/>
                      <a:round/>
                      <a:headEnd type="none" w="med" len="med"/>
                      <a:tailEnd type="none" w="med" len="med"/>
                    </a:lnL>
                    <a:lnR w="6350" cap="flat" cmpd="sng" algn="ctr">
                      <a:solidFill>
                        <a:srgbClr val="D0D7E5"/>
                      </a:solidFill>
                      <a:prstDash val="solid"/>
                      <a:round/>
                      <a:headEnd type="none" w="med" len="med"/>
                      <a:tailEnd type="none" w="med" len="med"/>
                    </a:lnR>
                    <a:lnT w="6350" cap="flat" cmpd="sng" algn="ctr">
                      <a:solidFill>
                        <a:srgbClr val="D0D7E5"/>
                      </a:solidFill>
                      <a:prstDash val="solid"/>
                      <a:round/>
                      <a:headEnd type="none" w="med" len="med"/>
                      <a:tailEnd type="none" w="med" len="med"/>
                    </a:lnT>
                    <a:lnB w="6350" cap="flat" cmpd="sng" algn="ctr">
                      <a:solidFill>
                        <a:srgbClr val="D0D7E5"/>
                      </a:solidFill>
                      <a:prstDash val="solid"/>
                      <a:round/>
                      <a:headEnd type="none" w="med" len="med"/>
                      <a:tailEnd type="none" w="med" len="med"/>
                    </a:lnB>
                  </a:tcPr>
                </a:tc>
                <a:tc>
                  <a:txBody>
                    <a:bodyPr/>
                    <a:lstStyle/>
                    <a:p>
                      <a:pPr algn="ctr" indent="0" marL="0">
                        <a:buNone/>
                      </a:pPr>
                      <a:r>
                        <a:rPr lang="en-US" sz="1000" b="1" dirty="0">
                          <a:solidFill>
                            <a:srgbClr val="C0392B"/>
                          </a:solidFill>
                          <a:latin typeface="Calibri" pitchFamily="34" charset="0"/>
                          <a:ea typeface="Calibri" pitchFamily="34" charset="-122"/>
                          <a:cs typeface="Calibri" pitchFamily="34" charset="-120"/>
                        </a:rPr>
                        <a:t>0.410</a:t>
                      </a:r>
                      <a:endParaRPr lang="en-US" sz="1000" dirty="0">
                        <a:latin typeface="Calibri" charset="0"/>
                        <a:ea typeface="Calibri" charset="0"/>
                        <a:cs typeface="Calibri" charset="0"/>
                      </a:endParaRPr>
                    </a:p>
                  </a:txBody>
                  <a:tcPr marL="91440" marR="91440" marT="45720" marB="45720">
                    <a:lnL w="6350" cap="flat" cmpd="sng" algn="ctr">
                      <a:solidFill>
                        <a:srgbClr val="D0D7E5"/>
                      </a:solidFill>
                      <a:prstDash val="solid"/>
                      <a:round/>
                      <a:headEnd type="none" w="med" len="med"/>
                      <a:tailEnd type="none" w="med" len="med"/>
                    </a:lnL>
                    <a:lnR w="6350" cap="flat" cmpd="sng" algn="ctr">
                      <a:solidFill>
                        <a:srgbClr val="D0D7E5"/>
                      </a:solidFill>
                      <a:prstDash val="solid"/>
                      <a:round/>
                      <a:headEnd type="none" w="med" len="med"/>
                      <a:tailEnd type="none" w="med" len="med"/>
                    </a:lnR>
                    <a:lnT w="6350" cap="flat" cmpd="sng" algn="ctr">
                      <a:solidFill>
                        <a:srgbClr val="D0D7E5"/>
                      </a:solidFill>
                      <a:prstDash val="solid"/>
                      <a:round/>
                      <a:headEnd type="none" w="med" len="med"/>
                      <a:tailEnd type="none" w="med" len="med"/>
                    </a:lnT>
                    <a:lnB w="6350" cap="flat" cmpd="sng" algn="ctr">
                      <a:solidFill>
                        <a:srgbClr val="D0D7E5"/>
                      </a:solidFill>
                      <a:prstDash val="solid"/>
                      <a:round/>
                      <a:headEnd type="none" w="med" len="med"/>
                      <a:tailEnd type="none" w="med" len="med"/>
                    </a:lnB>
                  </a:tcPr>
                </a:tc>
                <a:tc>
                  <a:txBody>
                    <a:bodyPr/>
                    <a:lstStyle/>
                    <a:p>
                      <a:pPr algn="ctr" indent="0" marL="0">
                        <a:buNone/>
                      </a:pPr>
                      <a:r>
                        <a:rPr lang="en-US" sz="1000" dirty="0">
                          <a:solidFill>
                            <a:srgbClr val="C0392B"/>
                          </a:solidFill>
                          <a:latin typeface="Calibri" pitchFamily="34" charset="0"/>
                          <a:ea typeface="Calibri" pitchFamily="34" charset="-122"/>
                          <a:cs typeface="Calibri" pitchFamily="34" charset="-120"/>
                        </a:rPr>
                        <a:t>Below 0.75 ✗</a:t>
                      </a:r>
                      <a:endParaRPr lang="en-US" sz="1000" dirty="0">
                        <a:latin typeface="Calibri" charset="0"/>
                        <a:ea typeface="Calibri" charset="0"/>
                        <a:cs typeface="Calibri" charset="0"/>
                      </a:endParaRPr>
                    </a:p>
                  </a:txBody>
                  <a:tcPr marL="91440" marR="91440" marT="45720" marB="45720">
                    <a:lnL w="6350" cap="flat" cmpd="sng" algn="ctr">
                      <a:solidFill>
                        <a:srgbClr val="D0D7E5"/>
                      </a:solidFill>
                      <a:prstDash val="solid"/>
                      <a:round/>
                      <a:headEnd type="none" w="med" len="med"/>
                      <a:tailEnd type="none" w="med" len="med"/>
                    </a:lnL>
                    <a:lnR w="6350" cap="flat" cmpd="sng" algn="ctr">
                      <a:solidFill>
                        <a:srgbClr val="D0D7E5"/>
                      </a:solidFill>
                      <a:prstDash val="solid"/>
                      <a:round/>
                      <a:headEnd type="none" w="med" len="med"/>
                      <a:tailEnd type="none" w="med" len="med"/>
                    </a:lnR>
                    <a:lnT w="6350" cap="flat" cmpd="sng" algn="ctr">
                      <a:solidFill>
                        <a:srgbClr val="D0D7E5"/>
                      </a:solidFill>
                      <a:prstDash val="solid"/>
                      <a:round/>
                      <a:headEnd type="none" w="med" len="med"/>
                      <a:tailEnd type="none" w="med" len="med"/>
                    </a:lnT>
                    <a:lnB w="6350" cap="flat" cmpd="sng" algn="ctr">
                      <a:solidFill>
                        <a:srgbClr val="D0D7E5"/>
                      </a:solidFill>
                      <a:prstDash val="solid"/>
                      <a:round/>
                      <a:headEnd type="none" w="med" len="med"/>
                      <a:tailEnd type="none" w="med" len="med"/>
                    </a:lnB>
                  </a:tcPr>
                </a:tc>
              </a:tr>
              <a:tr h="283464">
                <a:tc>
                  <a:txBody>
                    <a:bodyPr/>
                    <a:lstStyle/>
                    <a:p>
                      <a:pPr algn="ctr" indent="0" marL="0">
                        <a:buNone/>
                      </a:pPr>
                      <a:r>
                        <a:rPr lang="en-US" sz="1000" dirty="0">
                          <a:solidFill>
                            <a:srgbClr val="000000"/>
                          </a:solidFill>
                          <a:latin typeface="Calibri" pitchFamily="34" charset="0"/>
                          <a:ea typeface="Calibri" pitchFamily="34" charset="-122"/>
                          <a:cs typeface="Calibri" pitchFamily="34" charset="-120"/>
                        </a:rPr>
                        <a:t>EBM-R1 (Pre-GFC)</a:t>
                      </a:r>
                      <a:endParaRPr lang="en-US" sz="1000" dirty="0">
                        <a:latin typeface="Calibri" charset="0"/>
                        <a:ea typeface="Calibri" charset="0"/>
                        <a:cs typeface="Calibri" charset="0"/>
                      </a:endParaRPr>
                    </a:p>
                  </a:txBody>
                  <a:tcPr marL="91440" marR="91440" marT="45720" marB="45720">
                    <a:lnL w="6350" cap="flat" cmpd="sng" algn="ctr">
                      <a:solidFill>
                        <a:srgbClr val="D0D7E5"/>
                      </a:solidFill>
                      <a:prstDash val="solid"/>
                      <a:round/>
                      <a:headEnd type="none" w="med" len="med"/>
                      <a:tailEnd type="none" w="med" len="med"/>
                    </a:lnL>
                    <a:lnR w="6350" cap="flat" cmpd="sng" algn="ctr">
                      <a:solidFill>
                        <a:srgbClr val="D0D7E5"/>
                      </a:solidFill>
                      <a:prstDash val="solid"/>
                      <a:round/>
                      <a:headEnd type="none" w="med" len="med"/>
                      <a:tailEnd type="none" w="med" len="med"/>
                    </a:lnR>
                    <a:lnT w="6350" cap="flat" cmpd="sng" algn="ctr">
                      <a:solidFill>
                        <a:srgbClr val="D0D7E5"/>
                      </a:solidFill>
                      <a:prstDash val="solid"/>
                      <a:round/>
                      <a:headEnd type="none" w="med" len="med"/>
                      <a:tailEnd type="none" w="med" len="med"/>
                    </a:lnT>
                    <a:lnB w="6350" cap="flat" cmpd="sng" algn="ctr">
                      <a:solidFill>
                        <a:srgbClr val="D0D7E5"/>
                      </a:solidFill>
                      <a:prstDash val="solid"/>
                      <a:round/>
                      <a:headEnd type="none" w="med" len="med"/>
                      <a:tailEnd type="none" w="med" len="med"/>
                    </a:lnB>
                  </a:tcPr>
                </a:tc>
                <a:tc>
                  <a:txBody>
                    <a:bodyPr/>
                    <a:lstStyle/>
                    <a:p>
                      <a:pPr algn="ctr" indent="0" marL="0">
                        <a:buNone/>
                      </a:pPr>
                      <a:r>
                        <a:rPr lang="en-US" sz="1000" dirty="0">
                          <a:solidFill>
                            <a:srgbClr val="000000"/>
                          </a:solidFill>
                          <a:latin typeface="Calibri" pitchFamily="34" charset="0"/>
                          <a:ea typeface="Calibri" pitchFamily="34" charset="-122"/>
                          <a:cs typeface="Calibri" pitchFamily="34" charset="-120"/>
                        </a:rPr>
                        <a:t>1988–2002</a:t>
                      </a:r>
                      <a:endParaRPr lang="en-US" sz="1000" dirty="0">
                        <a:latin typeface="Calibri" charset="0"/>
                        <a:ea typeface="Calibri" charset="0"/>
                        <a:cs typeface="Calibri" charset="0"/>
                      </a:endParaRPr>
                    </a:p>
                  </a:txBody>
                  <a:tcPr marL="91440" marR="91440" marT="45720" marB="45720">
                    <a:lnL w="6350" cap="flat" cmpd="sng" algn="ctr">
                      <a:solidFill>
                        <a:srgbClr val="D0D7E5"/>
                      </a:solidFill>
                      <a:prstDash val="solid"/>
                      <a:round/>
                      <a:headEnd type="none" w="med" len="med"/>
                      <a:tailEnd type="none" w="med" len="med"/>
                    </a:lnL>
                    <a:lnR w="6350" cap="flat" cmpd="sng" algn="ctr">
                      <a:solidFill>
                        <a:srgbClr val="D0D7E5"/>
                      </a:solidFill>
                      <a:prstDash val="solid"/>
                      <a:round/>
                      <a:headEnd type="none" w="med" len="med"/>
                      <a:tailEnd type="none" w="med" len="med"/>
                    </a:lnR>
                    <a:lnT w="6350" cap="flat" cmpd="sng" algn="ctr">
                      <a:solidFill>
                        <a:srgbClr val="D0D7E5"/>
                      </a:solidFill>
                      <a:prstDash val="solid"/>
                      <a:round/>
                      <a:headEnd type="none" w="med" len="med"/>
                      <a:tailEnd type="none" w="med" len="med"/>
                    </a:lnT>
                    <a:lnB w="6350" cap="flat" cmpd="sng" algn="ctr">
                      <a:solidFill>
                        <a:srgbClr val="D0D7E5"/>
                      </a:solidFill>
                      <a:prstDash val="solid"/>
                      <a:round/>
                      <a:headEnd type="none" w="med" len="med"/>
                      <a:tailEnd type="none" w="med" len="med"/>
                    </a:lnB>
                  </a:tcPr>
                </a:tc>
                <a:tc>
                  <a:txBody>
                    <a:bodyPr/>
                    <a:lstStyle/>
                    <a:p>
                      <a:pPr algn="ctr" indent="0" marL="0">
                        <a:buNone/>
                      </a:pPr>
                      <a:r>
                        <a:rPr lang="en-US" sz="1000" dirty="0">
                          <a:solidFill>
                            <a:srgbClr val="C0392B"/>
                          </a:solidFill>
                          <a:latin typeface="Calibri" pitchFamily="34" charset="0"/>
                          <a:ea typeface="Calibri" pitchFamily="34" charset="-122"/>
                          <a:cs typeface="Calibri" pitchFamily="34" charset="-120"/>
                        </a:rPr>
                        <a:t>6</a:t>
                      </a:r>
                      <a:endParaRPr lang="en-US" sz="1000" dirty="0">
                        <a:latin typeface="Calibri" charset="0"/>
                        <a:ea typeface="Calibri" charset="0"/>
                        <a:cs typeface="Calibri" charset="0"/>
                      </a:endParaRPr>
                    </a:p>
                  </a:txBody>
                  <a:tcPr marL="91440" marR="91440" marT="45720" marB="45720">
                    <a:lnL w="6350" cap="flat" cmpd="sng" algn="ctr">
                      <a:solidFill>
                        <a:srgbClr val="D0D7E5"/>
                      </a:solidFill>
                      <a:prstDash val="solid"/>
                      <a:round/>
                      <a:headEnd type="none" w="med" len="med"/>
                      <a:tailEnd type="none" w="med" len="med"/>
                    </a:lnL>
                    <a:lnR w="6350" cap="flat" cmpd="sng" algn="ctr">
                      <a:solidFill>
                        <a:srgbClr val="D0D7E5"/>
                      </a:solidFill>
                      <a:prstDash val="solid"/>
                      <a:round/>
                      <a:headEnd type="none" w="med" len="med"/>
                      <a:tailEnd type="none" w="med" len="med"/>
                    </a:lnR>
                    <a:lnT w="6350" cap="flat" cmpd="sng" algn="ctr">
                      <a:solidFill>
                        <a:srgbClr val="D0D7E5"/>
                      </a:solidFill>
                      <a:prstDash val="solid"/>
                      <a:round/>
                      <a:headEnd type="none" w="med" len="med"/>
                      <a:tailEnd type="none" w="med" len="med"/>
                    </a:lnT>
                    <a:lnB w="6350" cap="flat" cmpd="sng" algn="ctr">
                      <a:solidFill>
                        <a:srgbClr val="D0D7E5"/>
                      </a:solidFill>
                      <a:prstDash val="solid"/>
                      <a:round/>
                      <a:headEnd type="none" w="med" len="med"/>
                      <a:tailEnd type="none" w="med" len="med"/>
                    </a:lnB>
                  </a:tcPr>
                </a:tc>
                <a:tc>
                  <a:txBody>
                    <a:bodyPr/>
                    <a:lstStyle/>
                    <a:p>
                      <a:pPr algn="ctr" indent="0" marL="0">
                        <a:buNone/>
                      </a:pPr>
                      <a:r>
                        <a:rPr lang="en-US" sz="1000" b="1" dirty="0">
                          <a:solidFill>
                            <a:srgbClr val="C0392B"/>
                          </a:solidFill>
                          <a:latin typeface="Calibri" pitchFamily="34" charset="0"/>
                          <a:ea typeface="Calibri" pitchFamily="34" charset="-122"/>
                          <a:cs typeface="Calibri" pitchFamily="34" charset="-120"/>
                        </a:rPr>
                        <a:t>0.410</a:t>
                      </a:r>
                      <a:endParaRPr lang="en-US" sz="1000" dirty="0">
                        <a:latin typeface="Calibri" charset="0"/>
                        <a:ea typeface="Calibri" charset="0"/>
                        <a:cs typeface="Calibri" charset="0"/>
                      </a:endParaRPr>
                    </a:p>
                  </a:txBody>
                  <a:tcPr marL="91440" marR="91440" marT="45720" marB="45720">
                    <a:lnL w="6350" cap="flat" cmpd="sng" algn="ctr">
                      <a:solidFill>
                        <a:srgbClr val="D0D7E5"/>
                      </a:solidFill>
                      <a:prstDash val="solid"/>
                      <a:round/>
                      <a:headEnd type="none" w="med" len="med"/>
                      <a:tailEnd type="none" w="med" len="med"/>
                    </a:lnL>
                    <a:lnR w="6350" cap="flat" cmpd="sng" algn="ctr">
                      <a:solidFill>
                        <a:srgbClr val="D0D7E5"/>
                      </a:solidFill>
                      <a:prstDash val="solid"/>
                      <a:round/>
                      <a:headEnd type="none" w="med" len="med"/>
                      <a:tailEnd type="none" w="med" len="med"/>
                    </a:lnR>
                    <a:lnT w="6350" cap="flat" cmpd="sng" algn="ctr">
                      <a:solidFill>
                        <a:srgbClr val="D0D7E5"/>
                      </a:solidFill>
                      <a:prstDash val="solid"/>
                      <a:round/>
                      <a:headEnd type="none" w="med" len="med"/>
                      <a:tailEnd type="none" w="med" len="med"/>
                    </a:lnT>
                    <a:lnB w="6350" cap="flat" cmpd="sng" algn="ctr">
                      <a:solidFill>
                        <a:srgbClr val="D0D7E5"/>
                      </a:solidFill>
                      <a:prstDash val="solid"/>
                      <a:round/>
                      <a:headEnd type="none" w="med" len="med"/>
                      <a:tailEnd type="none" w="med" len="med"/>
                    </a:lnB>
                  </a:tcPr>
                </a:tc>
                <a:tc>
                  <a:txBody>
                    <a:bodyPr/>
                    <a:lstStyle/>
                    <a:p>
                      <a:pPr algn="ctr" indent="0" marL="0">
                        <a:buNone/>
                      </a:pPr>
                      <a:r>
                        <a:rPr lang="en-US" sz="1000" dirty="0">
                          <a:solidFill>
                            <a:srgbClr val="C0392B"/>
                          </a:solidFill>
                          <a:latin typeface="Calibri" pitchFamily="34" charset="0"/>
                          <a:ea typeface="Calibri" pitchFamily="34" charset="-122"/>
                          <a:cs typeface="Calibri" pitchFamily="34" charset="-120"/>
                        </a:rPr>
                        <a:t>Below 0.75 ✗</a:t>
                      </a:r>
                      <a:endParaRPr lang="en-US" sz="1000" dirty="0">
                        <a:latin typeface="Calibri" charset="0"/>
                        <a:ea typeface="Calibri" charset="0"/>
                        <a:cs typeface="Calibri" charset="0"/>
                      </a:endParaRPr>
                    </a:p>
                  </a:txBody>
                  <a:tcPr marL="91440" marR="91440" marT="45720" marB="45720">
                    <a:lnL w="6350" cap="flat" cmpd="sng" algn="ctr">
                      <a:solidFill>
                        <a:srgbClr val="D0D7E5"/>
                      </a:solidFill>
                      <a:prstDash val="solid"/>
                      <a:round/>
                      <a:headEnd type="none" w="med" len="med"/>
                      <a:tailEnd type="none" w="med" len="med"/>
                    </a:lnL>
                    <a:lnR w="6350" cap="flat" cmpd="sng" algn="ctr">
                      <a:solidFill>
                        <a:srgbClr val="D0D7E5"/>
                      </a:solidFill>
                      <a:prstDash val="solid"/>
                      <a:round/>
                      <a:headEnd type="none" w="med" len="med"/>
                      <a:tailEnd type="none" w="med" len="med"/>
                    </a:lnR>
                    <a:lnT w="6350" cap="flat" cmpd="sng" algn="ctr">
                      <a:solidFill>
                        <a:srgbClr val="D0D7E5"/>
                      </a:solidFill>
                      <a:prstDash val="solid"/>
                      <a:round/>
                      <a:headEnd type="none" w="med" len="med"/>
                      <a:tailEnd type="none" w="med" len="med"/>
                    </a:lnT>
                    <a:lnB w="6350" cap="flat" cmpd="sng" algn="ctr">
                      <a:solidFill>
                        <a:srgbClr val="D0D7E5"/>
                      </a:solidFill>
                      <a:prstDash val="solid"/>
                      <a:round/>
                      <a:headEnd type="none" w="med" len="med"/>
                      <a:tailEnd type="none" w="med" len="med"/>
                    </a:lnB>
                  </a:tcPr>
                </a:tc>
              </a:tr>
              <a:tr h="283464">
                <a:tc>
                  <a:txBody>
                    <a:bodyPr/>
                    <a:lstStyle/>
                    <a:p>
                      <a:pPr algn="ctr" indent="0" marL="0">
                        <a:buNone/>
                      </a:pPr>
                      <a:r>
                        <a:rPr lang="en-US" sz="1000" dirty="0">
                          <a:solidFill>
                            <a:srgbClr val="000000"/>
                          </a:solidFill>
                          <a:latin typeface="Calibri" pitchFamily="34" charset="0"/>
                          <a:ea typeface="Calibri" pitchFamily="34" charset="-122"/>
                          <a:cs typeface="Calibri" pitchFamily="34" charset="-120"/>
                        </a:rPr>
                        <a:t>EBM-R2 (GFC, 2 positives)</a:t>
                      </a:r>
                      <a:endParaRPr lang="en-US" sz="1000" dirty="0">
                        <a:latin typeface="Calibri" charset="0"/>
                        <a:ea typeface="Calibri" charset="0"/>
                        <a:cs typeface="Calibri" charset="0"/>
                      </a:endParaRPr>
                    </a:p>
                  </a:txBody>
                  <a:tcPr marL="91440" marR="91440" marT="45720" marB="45720">
                    <a:lnL w="6350" cap="flat" cmpd="sng" algn="ctr">
                      <a:solidFill>
                        <a:srgbClr val="D0D7E5"/>
                      </a:solidFill>
                      <a:prstDash val="solid"/>
                      <a:round/>
                      <a:headEnd type="none" w="med" len="med"/>
                      <a:tailEnd type="none" w="med" len="med"/>
                    </a:lnL>
                    <a:lnR w="6350" cap="flat" cmpd="sng" algn="ctr">
                      <a:solidFill>
                        <a:srgbClr val="D0D7E5"/>
                      </a:solidFill>
                      <a:prstDash val="solid"/>
                      <a:round/>
                      <a:headEnd type="none" w="med" len="med"/>
                      <a:tailEnd type="none" w="med" len="med"/>
                    </a:lnR>
                    <a:lnT w="6350" cap="flat" cmpd="sng" algn="ctr">
                      <a:solidFill>
                        <a:srgbClr val="D0D7E5"/>
                      </a:solidFill>
                      <a:prstDash val="solid"/>
                      <a:round/>
                      <a:headEnd type="none" w="med" len="med"/>
                      <a:tailEnd type="none" w="med" len="med"/>
                    </a:lnT>
                    <a:lnB w="6350" cap="flat" cmpd="sng" algn="ctr">
                      <a:solidFill>
                        <a:srgbClr val="D0D7E5"/>
                      </a:solidFill>
                      <a:prstDash val="solid"/>
                      <a:round/>
                      <a:headEnd type="none" w="med" len="med"/>
                      <a:tailEnd type="none" w="med" len="med"/>
                    </a:lnB>
                  </a:tcPr>
                </a:tc>
                <a:tc>
                  <a:txBody>
                    <a:bodyPr/>
                    <a:lstStyle/>
                    <a:p>
                      <a:pPr algn="ctr" indent="0" marL="0">
                        <a:buNone/>
                      </a:pPr>
                      <a:r>
                        <a:rPr lang="en-US" sz="1000" dirty="0">
                          <a:solidFill>
                            <a:srgbClr val="000000"/>
                          </a:solidFill>
                          <a:latin typeface="Calibri" pitchFamily="34" charset="0"/>
                          <a:ea typeface="Calibri" pitchFamily="34" charset="-122"/>
                          <a:cs typeface="Calibri" pitchFamily="34" charset="-120"/>
                        </a:rPr>
                        <a:t>2007–2010</a:t>
                      </a:r>
                      <a:endParaRPr lang="en-US" sz="1000" dirty="0">
                        <a:latin typeface="Calibri" charset="0"/>
                        <a:ea typeface="Calibri" charset="0"/>
                        <a:cs typeface="Calibri" charset="0"/>
                      </a:endParaRPr>
                    </a:p>
                  </a:txBody>
                  <a:tcPr marL="91440" marR="91440" marT="45720" marB="45720">
                    <a:lnL w="6350" cap="flat" cmpd="sng" algn="ctr">
                      <a:solidFill>
                        <a:srgbClr val="D0D7E5"/>
                      </a:solidFill>
                      <a:prstDash val="solid"/>
                      <a:round/>
                      <a:headEnd type="none" w="med" len="med"/>
                      <a:tailEnd type="none" w="med" len="med"/>
                    </a:lnL>
                    <a:lnR w="6350" cap="flat" cmpd="sng" algn="ctr">
                      <a:solidFill>
                        <a:srgbClr val="D0D7E5"/>
                      </a:solidFill>
                      <a:prstDash val="solid"/>
                      <a:round/>
                      <a:headEnd type="none" w="med" len="med"/>
                      <a:tailEnd type="none" w="med" len="med"/>
                    </a:lnR>
                    <a:lnT w="6350" cap="flat" cmpd="sng" algn="ctr">
                      <a:solidFill>
                        <a:srgbClr val="D0D7E5"/>
                      </a:solidFill>
                      <a:prstDash val="solid"/>
                      <a:round/>
                      <a:headEnd type="none" w="med" len="med"/>
                      <a:tailEnd type="none" w="med" len="med"/>
                    </a:lnT>
                    <a:lnB w="6350" cap="flat" cmpd="sng" algn="ctr">
                      <a:solidFill>
                        <a:srgbClr val="D0D7E5"/>
                      </a:solidFill>
                      <a:prstDash val="solid"/>
                      <a:round/>
                      <a:headEnd type="none" w="med" len="med"/>
                      <a:tailEnd type="none" w="med" len="med"/>
                    </a:lnB>
                  </a:tcPr>
                </a:tc>
                <a:tc>
                  <a:txBody>
                    <a:bodyPr/>
                    <a:lstStyle/>
                    <a:p>
                      <a:pPr algn="ctr" indent="0" marL="0">
                        <a:buNone/>
                      </a:pPr>
                      <a:r>
                        <a:rPr lang="en-US" sz="1000" b="1" dirty="0">
                          <a:solidFill>
                            <a:srgbClr val="C0392B"/>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91440" marR="91440" marT="45720" marB="45720">
                    <a:lnL w="6350" cap="flat" cmpd="sng" algn="ctr">
                      <a:solidFill>
                        <a:srgbClr val="D0D7E5"/>
                      </a:solidFill>
                      <a:prstDash val="solid"/>
                      <a:round/>
                      <a:headEnd type="none" w="med" len="med"/>
                      <a:tailEnd type="none" w="med" len="med"/>
                    </a:lnL>
                    <a:lnR w="6350" cap="flat" cmpd="sng" algn="ctr">
                      <a:solidFill>
                        <a:srgbClr val="D0D7E5"/>
                      </a:solidFill>
                      <a:prstDash val="solid"/>
                      <a:round/>
                      <a:headEnd type="none" w="med" len="med"/>
                      <a:tailEnd type="none" w="med" len="med"/>
                    </a:lnR>
                    <a:lnT w="6350" cap="flat" cmpd="sng" algn="ctr">
                      <a:solidFill>
                        <a:srgbClr val="D0D7E5"/>
                      </a:solidFill>
                      <a:prstDash val="solid"/>
                      <a:round/>
                      <a:headEnd type="none" w="med" len="med"/>
                      <a:tailEnd type="none" w="med" len="med"/>
                    </a:lnT>
                    <a:lnB w="6350" cap="flat" cmpd="sng" algn="ctr">
                      <a:solidFill>
                        <a:srgbClr val="D0D7E5"/>
                      </a:solidFill>
                      <a:prstDash val="solid"/>
                      <a:round/>
                      <a:headEnd type="none" w="med" len="med"/>
                      <a:tailEnd type="none" w="med" len="med"/>
                    </a:lnB>
                  </a:tcPr>
                </a:tc>
                <a:tc>
                  <a:txBody>
                    <a:bodyPr/>
                    <a:lstStyle/>
                    <a:p>
                      <a:pPr algn="ctr" indent="0" marL="0">
                        <a:buNone/>
                      </a:pPr>
                      <a:r>
                        <a:rPr lang="en-US" sz="1000" dirty="0">
                          <a:solidFill>
                            <a:srgbClr val="C0392B"/>
                          </a:solidFill>
                          <a:latin typeface="Calibri" pitchFamily="34" charset="0"/>
                          <a:ea typeface="Calibri" pitchFamily="34" charset="-122"/>
                          <a:cs typeface="Calibri" pitchFamily="34" charset="-120"/>
                        </a:rPr>
                        <a:t>0.392 (unreliable)</a:t>
                      </a:r>
                      <a:endParaRPr lang="en-US" sz="1000" dirty="0">
                        <a:latin typeface="Calibri" charset="0"/>
                        <a:ea typeface="Calibri" charset="0"/>
                        <a:cs typeface="Calibri" charset="0"/>
                      </a:endParaRPr>
                    </a:p>
                  </a:txBody>
                  <a:tcPr marL="91440" marR="91440" marT="45720" marB="45720">
                    <a:lnL w="6350" cap="flat" cmpd="sng" algn="ctr">
                      <a:solidFill>
                        <a:srgbClr val="D0D7E5"/>
                      </a:solidFill>
                      <a:prstDash val="solid"/>
                      <a:round/>
                      <a:headEnd type="none" w="med" len="med"/>
                      <a:tailEnd type="none" w="med" len="med"/>
                    </a:lnL>
                    <a:lnR w="6350" cap="flat" cmpd="sng" algn="ctr">
                      <a:solidFill>
                        <a:srgbClr val="D0D7E5"/>
                      </a:solidFill>
                      <a:prstDash val="solid"/>
                      <a:round/>
                      <a:headEnd type="none" w="med" len="med"/>
                      <a:tailEnd type="none" w="med" len="med"/>
                    </a:lnR>
                    <a:lnT w="6350" cap="flat" cmpd="sng" algn="ctr">
                      <a:solidFill>
                        <a:srgbClr val="D0D7E5"/>
                      </a:solidFill>
                      <a:prstDash val="solid"/>
                      <a:round/>
                      <a:headEnd type="none" w="med" len="med"/>
                      <a:tailEnd type="none" w="med" len="med"/>
                    </a:lnT>
                    <a:lnB w="6350" cap="flat" cmpd="sng" algn="ctr">
                      <a:solidFill>
                        <a:srgbClr val="D0D7E5"/>
                      </a:solidFill>
                      <a:prstDash val="solid"/>
                      <a:round/>
                      <a:headEnd type="none" w="med" len="med"/>
                      <a:tailEnd type="none" w="med" len="med"/>
                    </a:lnB>
                  </a:tcPr>
                </a:tc>
                <a:tc>
                  <a:txBody>
                    <a:bodyPr/>
                    <a:lstStyle/>
                    <a:p>
                      <a:pPr algn="ctr" indent="0" marL="0">
                        <a:buNone/>
                      </a:pPr>
                      <a:r>
                        <a:rPr lang="en-US" sz="1000" dirty="0">
                          <a:solidFill>
                            <a:srgbClr val="C0392B"/>
                          </a:solidFill>
                          <a:latin typeface="Calibri" pitchFamily="34" charset="0"/>
                          <a:ea typeface="Calibri" pitchFamily="34" charset="-122"/>
                          <a:cs typeface="Calibri" pitchFamily="34" charset="-120"/>
                        </a:rPr>
                        <a:t>Insufficient data</a:t>
                      </a:r>
                      <a:endParaRPr lang="en-US" sz="1000" dirty="0">
                        <a:latin typeface="Calibri" charset="0"/>
                        <a:ea typeface="Calibri" charset="0"/>
                        <a:cs typeface="Calibri" charset="0"/>
                      </a:endParaRPr>
                    </a:p>
                  </a:txBody>
                  <a:tcPr marL="91440" marR="91440" marT="45720" marB="45720">
                    <a:lnL w="6350" cap="flat" cmpd="sng" algn="ctr">
                      <a:solidFill>
                        <a:srgbClr val="D0D7E5"/>
                      </a:solidFill>
                      <a:prstDash val="solid"/>
                      <a:round/>
                      <a:headEnd type="none" w="med" len="med"/>
                      <a:tailEnd type="none" w="med" len="med"/>
                    </a:lnL>
                    <a:lnR w="6350" cap="flat" cmpd="sng" algn="ctr">
                      <a:solidFill>
                        <a:srgbClr val="D0D7E5"/>
                      </a:solidFill>
                      <a:prstDash val="solid"/>
                      <a:round/>
                      <a:headEnd type="none" w="med" len="med"/>
                      <a:tailEnd type="none" w="med" len="med"/>
                    </a:lnR>
                    <a:lnT w="6350" cap="flat" cmpd="sng" algn="ctr">
                      <a:solidFill>
                        <a:srgbClr val="D0D7E5"/>
                      </a:solidFill>
                      <a:prstDash val="solid"/>
                      <a:round/>
                      <a:headEnd type="none" w="med" len="med"/>
                      <a:tailEnd type="none" w="med" len="med"/>
                    </a:lnT>
                    <a:lnB w="6350" cap="flat" cmpd="sng" algn="ctr">
                      <a:solidFill>
                        <a:srgbClr val="D0D7E5"/>
                      </a:solidFill>
                      <a:prstDash val="solid"/>
                      <a:round/>
                      <a:headEnd type="none" w="med" len="med"/>
                      <a:tailEnd type="none" w="med" len="med"/>
                    </a:lnB>
                  </a:tcPr>
                </a:tc>
              </a:tr>
            </a:tbl>
          </a:graphicData>
        </a:graphic>
      </p:graphicFrame>
      <p:graphicFrame>
        <p:nvGraphicFramePr>
          <p:cNvPr id="9" name="Chart 0" descr=""/>
          <p:cNvGraphicFramePr/>
          <p:nvPr/>
        </p:nvGraphicFramePr>
        <p:xfrm>
          <a:off x="256032" y="3090672"/>
          <a:ext cx="5212080" cy="1828800"/>
        </p:xfrm>
        <a:graphic xmlns:a="http://schemas.openxmlformats.org/drawingml/2006/main">
          <a:graphicData uri="http://schemas.openxmlformats.org/drawingml/2006/chart">
            <c:chart xmlns:c="http://schemas.openxmlformats.org/drawingml/2006/chart" r:id="rId1"/>
          </a:graphicData>
        </a:graphic>
      </p:graphicFrame>
      <p:sp>
        <p:nvSpPr>
          <p:cNvPr id="10" name="Shape 6"/>
          <p:cNvSpPr/>
          <p:nvPr/>
        </p:nvSpPr>
        <p:spPr>
          <a:xfrm>
            <a:off x="5623560" y="3090672"/>
            <a:ext cx="3337560" cy="1828800"/>
          </a:xfrm>
          <a:prstGeom prst="rect">
            <a:avLst/>
          </a:prstGeom>
          <a:solidFill>
            <a:srgbClr val="F0F4F9"/>
          </a:solidFill>
          <a:ln w="19050">
            <a:solidFill>
              <a:srgbClr val="2E6DB4"/>
            </a:solidFill>
            <a:prstDash val="solid"/>
          </a:ln>
          <a:effectLst>
            <a:outerShdw sx="100000" sy="100000" kx="0" ky="0" algn="bl" rotWithShape="0" blurRad="101600" dist="38100" dir="8100000">
              <a:srgbClr val="000000">
                <a:alpha val="13000"/>
              </a:srgbClr>
            </a:outerShdw>
          </a:effectLst>
        </p:spPr>
      </p:sp>
      <p:sp>
        <p:nvSpPr>
          <p:cNvPr id="11" name="Shape 7"/>
          <p:cNvSpPr/>
          <p:nvPr/>
        </p:nvSpPr>
        <p:spPr>
          <a:xfrm>
            <a:off x="5623560" y="3090672"/>
            <a:ext cx="3337560" cy="301752"/>
          </a:xfrm>
          <a:prstGeom prst="rect">
            <a:avLst/>
          </a:prstGeom>
          <a:solidFill>
            <a:srgbClr val="2E6DB4"/>
          </a:solidFill>
          <a:ln w="12700">
            <a:solidFill>
              <a:srgbClr val="2E6DB4"/>
            </a:solidFill>
            <a:prstDash val="solid"/>
          </a:ln>
        </p:spPr>
      </p:sp>
      <p:sp>
        <p:nvSpPr>
          <p:cNvPr id="12" name="Text 8"/>
          <p:cNvSpPr/>
          <p:nvPr/>
        </p:nvSpPr>
        <p:spPr>
          <a:xfrm>
            <a:off x="5678424" y="3090672"/>
            <a:ext cx="3246120" cy="301752"/>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Key finding from Appendix B</a:t>
            </a:r>
            <a:endParaRPr lang="en-US" sz="1100" dirty="0"/>
          </a:p>
        </p:txBody>
      </p:sp>
      <p:sp>
        <p:nvSpPr>
          <p:cNvPr id="13" name="Text 9"/>
          <p:cNvSpPr/>
          <p:nvPr/>
        </p:nvSpPr>
        <p:spPr>
          <a:xfrm>
            <a:off x="5715000" y="3419856"/>
            <a:ext cx="3172968" cy="1444752"/>
          </a:xfrm>
          <a:prstGeom prst="rect">
            <a:avLst/>
          </a:prstGeom>
          <a:noFill/>
          <a:ln/>
        </p:spPr>
        <p:txBody>
          <a:bodyPr wrap="square" lIns="25400" tIns="25400" rIns="25400" bIns="25400" rtlCol="0" anchor="t"/>
          <a:lstStyle/>
          <a:p>
            <a:pPr algn="l" indent="0" marL="0">
              <a:buNone/>
            </a:pPr>
            <a:r>
              <a:rPr lang="en-US" sz="1000" dirty="0">
                <a:solidFill>
                  <a:srgbClr val="2D3748"/>
                </a:solidFill>
                <a:latin typeface="Calibri" pitchFamily="34" charset="0"/>
                <a:ea typeface="Calibri" pitchFamily="34" charset="-122"/>
                <a:cs typeface="Calibri" pitchFamily="34" charset="-120"/>
              </a:rPr>
              <a:t>Feature hierarchy shifts between regimes: Pooled dominated by term spread at all lags; Pre-GFC dominated by CPI and debt-to-GDP. This confirms that regime-conditional modelling is conceptually motivated — but statistically constrained by crisis episode scarcity per regime.</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B3E"/>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C0392B"/>
          </a:solidFill>
          <a:ln w="12700">
            <a:solidFill>
              <a:srgbClr val="C0392B"/>
            </a:solidFill>
            <a:prstDash val="solid"/>
          </a:ln>
        </p:spPr>
      </p:sp>
      <p:sp>
        <p:nvSpPr>
          <p:cNvPr id="3" name="Text 1"/>
          <p:cNvSpPr/>
          <p:nvPr/>
        </p:nvSpPr>
        <p:spPr>
          <a:xfrm>
            <a:off x="256032" y="91440"/>
            <a:ext cx="8686800" cy="457200"/>
          </a:xfrm>
          <a:prstGeom prst="rect">
            <a:avLst/>
          </a:prstGeom>
          <a:noFill/>
          <a:ln/>
        </p:spPr>
        <p:txBody>
          <a:bodyPr wrap="square" lIns="0" tIns="0" rIns="0" bIns="0" rtlCol="0" anchor="ctr"/>
          <a:lstStyle/>
          <a:p>
            <a:pPr algn="l" indent="0" marL="0">
              <a:buNone/>
            </a:pPr>
            <a:r>
              <a:rPr lang="en-US" sz="2400" b="1" dirty="0">
                <a:solidFill>
                  <a:srgbClr val="FFFFFF"/>
                </a:solidFill>
                <a:latin typeface="Calibri" pitchFamily="34" charset="0"/>
                <a:ea typeface="Calibri" pitchFamily="34" charset="-122"/>
                <a:cs typeface="Calibri" pitchFamily="34" charset="-120"/>
              </a:rPr>
              <a:t>Q&amp;A — 6 Challenging Questions</a:t>
            </a:r>
            <a:endParaRPr lang="en-US" sz="2400" dirty="0"/>
          </a:p>
        </p:txBody>
      </p:sp>
      <p:sp>
        <p:nvSpPr>
          <p:cNvPr id="4" name="Text 2"/>
          <p:cNvSpPr/>
          <p:nvPr/>
        </p:nvSpPr>
        <p:spPr>
          <a:xfrm>
            <a:off x="256032" y="548640"/>
            <a:ext cx="8686800" cy="274320"/>
          </a:xfrm>
          <a:prstGeom prst="rect">
            <a:avLst/>
          </a:prstGeom>
          <a:noFill/>
          <a:ln/>
        </p:spPr>
        <p:txBody>
          <a:bodyPr wrap="square" lIns="0" tIns="0" rIns="0" bIns="0" rtlCol="0" anchor="ctr"/>
          <a:lstStyle/>
          <a:p>
            <a:pPr algn="l" indent="0" marL="0">
              <a:buNone/>
            </a:pPr>
            <a:r>
              <a:rPr lang="en-US" sz="1200" i="1" dirty="0">
                <a:solidFill>
                  <a:srgbClr val="CADCFC"/>
                </a:solidFill>
                <a:latin typeface="Calibri" pitchFamily="34" charset="0"/>
                <a:ea typeface="Calibri" pitchFamily="34" charset="-122"/>
                <a:cs typeface="Calibri" pitchFamily="34" charset="-120"/>
              </a:rPr>
              <a:t>5-minute window · Be concise · Answers in speaker notes</a:t>
            </a:r>
            <a:endParaRPr lang="en-US" sz="1200" dirty="0"/>
          </a:p>
        </p:txBody>
      </p:sp>
      <p:sp>
        <p:nvSpPr>
          <p:cNvPr id="5" name="Shape 3"/>
          <p:cNvSpPr/>
          <p:nvPr/>
        </p:nvSpPr>
        <p:spPr>
          <a:xfrm>
            <a:off x="256032" y="850392"/>
            <a:ext cx="8686800" cy="0"/>
          </a:xfrm>
          <a:prstGeom prst="line">
            <a:avLst/>
          </a:prstGeom>
          <a:noFill/>
          <a:ln w="12700">
            <a:solidFill>
              <a:srgbClr val="E8A020"/>
            </a:solidFill>
            <a:prstDash val="solid"/>
          </a:ln>
        </p:spPr>
      </p:sp>
      <p:sp>
        <p:nvSpPr>
          <p:cNvPr id="6" name="Shape 4"/>
          <p:cNvSpPr/>
          <p:nvPr/>
        </p:nvSpPr>
        <p:spPr>
          <a:xfrm>
            <a:off x="256032" y="960120"/>
            <a:ext cx="4251960" cy="1234440"/>
          </a:xfrm>
          <a:prstGeom prst="rect">
            <a:avLst/>
          </a:prstGeom>
          <a:solidFill>
            <a:srgbClr val="1A3A6B"/>
          </a:solidFill>
          <a:ln w="12700">
            <a:solidFill>
              <a:srgbClr val="2E6DB4"/>
            </a:solidFill>
            <a:prstDash val="solid"/>
          </a:ln>
          <a:effectLst>
            <a:outerShdw sx="100000" sy="100000" kx="0" ky="0" algn="bl" rotWithShape="0" blurRad="101600" dist="38100" dir="8100000">
              <a:srgbClr val="000000">
                <a:alpha val="13000"/>
              </a:srgbClr>
            </a:outerShdw>
          </a:effectLst>
        </p:spPr>
      </p:sp>
      <p:sp>
        <p:nvSpPr>
          <p:cNvPr id="7" name="Shape 5"/>
          <p:cNvSpPr/>
          <p:nvPr/>
        </p:nvSpPr>
        <p:spPr>
          <a:xfrm>
            <a:off x="256032" y="960120"/>
            <a:ext cx="548640" cy="1234440"/>
          </a:xfrm>
          <a:prstGeom prst="rect">
            <a:avLst/>
          </a:prstGeom>
          <a:solidFill>
            <a:srgbClr val="C0392B"/>
          </a:solidFill>
          <a:ln w="12700">
            <a:solidFill>
              <a:srgbClr val="C0392B"/>
            </a:solidFill>
            <a:prstDash val="solid"/>
          </a:ln>
        </p:spPr>
      </p:sp>
      <p:sp>
        <p:nvSpPr>
          <p:cNvPr id="8" name="Text 6"/>
          <p:cNvSpPr/>
          <p:nvPr/>
        </p:nvSpPr>
        <p:spPr>
          <a:xfrm>
            <a:off x="256032" y="960120"/>
            <a:ext cx="548640" cy="12344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Q1</a:t>
            </a:r>
            <a:endParaRPr lang="en-US" sz="1400" dirty="0"/>
          </a:p>
        </p:txBody>
      </p:sp>
      <p:sp>
        <p:nvSpPr>
          <p:cNvPr id="9" name="Text 7"/>
          <p:cNvSpPr/>
          <p:nvPr/>
        </p:nvSpPr>
        <p:spPr>
          <a:xfrm>
            <a:off x="896112" y="1051560"/>
            <a:ext cx="3520440" cy="1051560"/>
          </a:xfrm>
          <a:prstGeom prst="rect">
            <a:avLst/>
          </a:prstGeom>
          <a:noFill/>
          <a:ln/>
        </p:spPr>
        <p:txBody>
          <a:bodyPr wrap="square" lIns="50800" tIns="50800" rIns="50800" bIns="50800" rtlCol="0" anchor="ctr"/>
          <a:lstStyle/>
          <a:p>
            <a:pPr algn="l" indent="0" marL="0">
              <a:buNone/>
            </a:pPr>
            <a:r>
              <a:rPr lang="en-US" sz="1050" dirty="0">
                <a:solidFill>
                  <a:srgbClr val="E8F0FF"/>
                </a:solidFill>
                <a:latin typeface="Calibri" pitchFamily="34" charset="0"/>
                <a:ea typeface="Calibri" pitchFamily="34" charset="-122"/>
                <a:cs typeface="Calibri" pitchFamily="34" charset="-120"/>
              </a:rPr>
              <a:t>Split B has only 6 training positives. How can you draw conclusions from it?</a:t>
            </a:r>
            <a:endParaRPr lang="en-US" sz="1050" dirty="0"/>
          </a:p>
        </p:txBody>
      </p:sp>
      <p:sp>
        <p:nvSpPr>
          <p:cNvPr id="10" name="Shape 8"/>
          <p:cNvSpPr/>
          <p:nvPr/>
        </p:nvSpPr>
        <p:spPr>
          <a:xfrm>
            <a:off x="256032" y="2331720"/>
            <a:ext cx="4251960" cy="1234440"/>
          </a:xfrm>
          <a:prstGeom prst="rect">
            <a:avLst/>
          </a:prstGeom>
          <a:solidFill>
            <a:srgbClr val="1A3A6B"/>
          </a:solidFill>
          <a:ln w="12700">
            <a:solidFill>
              <a:srgbClr val="2E6DB4"/>
            </a:solidFill>
            <a:prstDash val="solid"/>
          </a:ln>
          <a:effectLst>
            <a:outerShdw sx="100000" sy="100000" kx="0" ky="0" algn="bl" rotWithShape="0" blurRad="101600" dist="38100" dir="8100000">
              <a:srgbClr val="000000">
                <a:alpha val="13000"/>
              </a:srgbClr>
            </a:outerShdw>
          </a:effectLst>
        </p:spPr>
      </p:sp>
      <p:sp>
        <p:nvSpPr>
          <p:cNvPr id="11" name="Shape 9"/>
          <p:cNvSpPr/>
          <p:nvPr/>
        </p:nvSpPr>
        <p:spPr>
          <a:xfrm>
            <a:off x="256032" y="2331720"/>
            <a:ext cx="548640" cy="1234440"/>
          </a:xfrm>
          <a:prstGeom prst="rect">
            <a:avLst/>
          </a:prstGeom>
          <a:solidFill>
            <a:srgbClr val="C0392B"/>
          </a:solidFill>
          <a:ln w="12700">
            <a:solidFill>
              <a:srgbClr val="C0392B"/>
            </a:solidFill>
            <a:prstDash val="solid"/>
          </a:ln>
        </p:spPr>
      </p:sp>
      <p:sp>
        <p:nvSpPr>
          <p:cNvPr id="12" name="Text 10"/>
          <p:cNvSpPr/>
          <p:nvPr/>
        </p:nvSpPr>
        <p:spPr>
          <a:xfrm>
            <a:off x="256032" y="2331720"/>
            <a:ext cx="548640" cy="12344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Q2</a:t>
            </a:r>
            <a:endParaRPr lang="en-US" sz="1400" dirty="0"/>
          </a:p>
        </p:txBody>
      </p:sp>
      <p:sp>
        <p:nvSpPr>
          <p:cNvPr id="13" name="Text 11"/>
          <p:cNvSpPr/>
          <p:nvPr/>
        </p:nvSpPr>
        <p:spPr>
          <a:xfrm>
            <a:off x="896112" y="2423160"/>
            <a:ext cx="3520440" cy="1051560"/>
          </a:xfrm>
          <a:prstGeom prst="rect">
            <a:avLst/>
          </a:prstGeom>
          <a:noFill/>
          <a:ln/>
        </p:spPr>
        <p:txBody>
          <a:bodyPr wrap="square" lIns="50800" tIns="50800" rIns="50800" bIns="50800" rtlCol="0" anchor="ctr"/>
          <a:lstStyle/>
          <a:p>
            <a:pPr algn="l" indent="0" marL="0">
              <a:buNone/>
            </a:pPr>
            <a:r>
              <a:rPr lang="en-US" sz="1050" dirty="0">
                <a:solidFill>
                  <a:srgbClr val="E8F0FF"/>
                </a:solidFill>
                <a:latin typeface="Calibri" pitchFamily="34" charset="0"/>
                <a:ea typeface="Calibri" pitchFamily="34" charset="-122"/>
                <a:cs typeface="Calibri" pitchFamily="34" charset="-120"/>
              </a:rPr>
              <a:t>EBM 0.333 could be sample thinness, not regime shift. How do you distinguish?</a:t>
            </a:r>
            <a:endParaRPr lang="en-US" sz="1050" dirty="0"/>
          </a:p>
        </p:txBody>
      </p:sp>
      <p:sp>
        <p:nvSpPr>
          <p:cNvPr id="14" name="Shape 12"/>
          <p:cNvSpPr/>
          <p:nvPr/>
        </p:nvSpPr>
        <p:spPr>
          <a:xfrm>
            <a:off x="256032" y="3703320"/>
            <a:ext cx="4251960" cy="1234440"/>
          </a:xfrm>
          <a:prstGeom prst="rect">
            <a:avLst/>
          </a:prstGeom>
          <a:solidFill>
            <a:srgbClr val="1A3A6B"/>
          </a:solidFill>
          <a:ln w="12700">
            <a:solidFill>
              <a:srgbClr val="2E6DB4"/>
            </a:solidFill>
            <a:prstDash val="solid"/>
          </a:ln>
          <a:effectLst>
            <a:outerShdw sx="100000" sy="100000" kx="0" ky="0" algn="bl" rotWithShape="0" blurRad="101600" dist="38100" dir="8100000">
              <a:srgbClr val="000000">
                <a:alpha val="13000"/>
              </a:srgbClr>
            </a:outerShdw>
          </a:effectLst>
        </p:spPr>
      </p:sp>
      <p:sp>
        <p:nvSpPr>
          <p:cNvPr id="15" name="Shape 13"/>
          <p:cNvSpPr/>
          <p:nvPr/>
        </p:nvSpPr>
        <p:spPr>
          <a:xfrm>
            <a:off x="256032" y="3703320"/>
            <a:ext cx="548640" cy="1234440"/>
          </a:xfrm>
          <a:prstGeom prst="rect">
            <a:avLst/>
          </a:prstGeom>
          <a:solidFill>
            <a:srgbClr val="C0392B"/>
          </a:solidFill>
          <a:ln w="12700">
            <a:solidFill>
              <a:srgbClr val="C0392B"/>
            </a:solidFill>
            <a:prstDash val="solid"/>
          </a:ln>
        </p:spPr>
      </p:sp>
      <p:sp>
        <p:nvSpPr>
          <p:cNvPr id="16" name="Text 14"/>
          <p:cNvSpPr/>
          <p:nvPr/>
        </p:nvSpPr>
        <p:spPr>
          <a:xfrm>
            <a:off x="256032" y="3703320"/>
            <a:ext cx="548640" cy="12344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Q3</a:t>
            </a:r>
            <a:endParaRPr lang="en-US" sz="1400" dirty="0"/>
          </a:p>
        </p:txBody>
      </p:sp>
      <p:sp>
        <p:nvSpPr>
          <p:cNvPr id="17" name="Text 15"/>
          <p:cNvSpPr/>
          <p:nvPr/>
        </p:nvSpPr>
        <p:spPr>
          <a:xfrm>
            <a:off x="896112" y="3794760"/>
            <a:ext cx="3520440" cy="1051560"/>
          </a:xfrm>
          <a:prstGeom prst="rect">
            <a:avLst/>
          </a:prstGeom>
          <a:noFill/>
          <a:ln/>
        </p:spPr>
        <p:txBody>
          <a:bodyPr wrap="square" lIns="50800" tIns="50800" rIns="50800" bIns="50800" rtlCol="0" anchor="ctr"/>
          <a:lstStyle/>
          <a:p>
            <a:pPr algn="l" indent="0" marL="0">
              <a:buNone/>
            </a:pPr>
            <a:r>
              <a:rPr lang="en-US" sz="1050" dirty="0">
                <a:solidFill>
                  <a:srgbClr val="E8F0FF"/>
                </a:solidFill>
                <a:latin typeface="Calibri" pitchFamily="34" charset="0"/>
                <a:ea typeface="Calibri" pitchFamily="34" charset="-122"/>
                <a:cs typeface="Calibri" pitchFamily="34" charset="-120"/>
              </a:rPr>
              <a:t>You cannot separate sentiment from algorithm in Stage 2. Is H1 meaningful?</a:t>
            </a:r>
            <a:endParaRPr lang="en-US" sz="1050" dirty="0"/>
          </a:p>
        </p:txBody>
      </p:sp>
      <p:sp>
        <p:nvSpPr>
          <p:cNvPr id="18" name="Shape 16"/>
          <p:cNvSpPr/>
          <p:nvPr/>
        </p:nvSpPr>
        <p:spPr>
          <a:xfrm>
            <a:off x="4690872" y="960120"/>
            <a:ext cx="4251960" cy="1234440"/>
          </a:xfrm>
          <a:prstGeom prst="rect">
            <a:avLst/>
          </a:prstGeom>
          <a:solidFill>
            <a:srgbClr val="1A3A6B"/>
          </a:solidFill>
          <a:ln w="12700">
            <a:solidFill>
              <a:srgbClr val="2E6DB4"/>
            </a:solidFill>
            <a:prstDash val="solid"/>
          </a:ln>
          <a:effectLst>
            <a:outerShdw sx="100000" sy="100000" kx="0" ky="0" algn="bl" rotWithShape="0" blurRad="101600" dist="38100" dir="8100000">
              <a:srgbClr val="000000">
                <a:alpha val="13000"/>
              </a:srgbClr>
            </a:outerShdw>
          </a:effectLst>
        </p:spPr>
      </p:sp>
      <p:sp>
        <p:nvSpPr>
          <p:cNvPr id="19" name="Shape 17"/>
          <p:cNvSpPr/>
          <p:nvPr/>
        </p:nvSpPr>
        <p:spPr>
          <a:xfrm>
            <a:off x="4690872" y="960120"/>
            <a:ext cx="548640" cy="1234440"/>
          </a:xfrm>
          <a:prstGeom prst="rect">
            <a:avLst/>
          </a:prstGeom>
          <a:solidFill>
            <a:srgbClr val="C0392B"/>
          </a:solidFill>
          <a:ln w="12700">
            <a:solidFill>
              <a:srgbClr val="C0392B"/>
            </a:solidFill>
            <a:prstDash val="solid"/>
          </a:ln>
        </p:spPr>
      </p:sp>
      <p:sp>
        <p:nvSpPr>
          <p:cNvPr id="20" name="Text 18"/>
          <p:cNvSpPr/>
          <p:nvPr/>
        </p:nvSpPr>
        <p:spPr>
          <a:xfrm>
            <a:off x="4690872" y="960120"/>
            <a:ext cx="548640" cy="12344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Q4</a:t>
            </a:r>
            <a:endParaRPr lang="en-US" sz="1400" dirty="0"/>
          </a:p>
        </p:txBody>
      </p:sp>
      <p:sp>
        <p:nvSpPr>
          <p:cNvPr id="21" name="Text 19"/>
          <p:cNvSpPr/>
          <p:nvPr/>
        </p:nvSpPr>
        <p:spPr>
          <a:xfrm>
            <a:off x="5330952" y="1051560"/>
            <a:ext cx="3520440" cy="1051560"/>
          </a:xfrm>
          <a:prstGeom prst="rect">
            <a:avLst/>
          </a:prstGeom>
          <a:noFill/>
          <a:ln/>
        </p:spPr>
        <p:txBody>
          <a:bodyPr wrap="square" lIns="50800" tIns="50800" rIns="50800" bIns="50800" rtlCol="0" anchor="ctr"/>
          <a:lstStyle/>
          <a:p>
            <a:pPr algn="l" indent="0" marL="0">
              <a:buNone/>
            </a:pPr>
            <a:r>
              <a:rPr lang="en-US" sz="1050" dirty="0">
                <a:solidFill>
                  <a:srgbClr val="E8F0FF"/>
                </a:solidFill>
                <a:latin typeface="Calibri" pitchFamily="34" charset="0"/>
                <a:ea typeface="Calibri" pitchFamily="34" charset="-122"/>
                <a:cs typeface="Calibri" pitchFamily="34" charset="-120"/>
              </a:rPr>
              <a:t>Stage 2 AUROC 0.93–0.96 is inflated by GFC concentration. Are these numbers informative?</a:t>
            </a:r>
            <a:endParaRPr lang="en-US" sz="1050" dirty="0"/>
          </a:p>
        </p:txBody>
      </p:sp>
      <p:sp>
        <p:nvSpPr>
          <p:cNvPr id="22" name="Shape 20"/>
          <p:cNvSpPr/>
          <p:nvPr/>
        </p:nvSpPr>
        <p:spPr>
          <a:xfrm>
            <a:off x="4690872" y="2331720"/>
            <a:ext cx="4251960" cy="1234440"/>
          </a:xfrm>
          <a:prstGeom prst="rect">
            <a:avLst/>
          </a:prstGeom>
          <a:solidFill>
            <a:srgbClr val="1A3A6B"/>
          </a:solidFill>
          <a:ln w="12700">
            <a:solidFill>
              <a:srgbClr val="2E6DB4"/>
            </a:solidFill>
            <a:prstDash val="solid"/>
          </a:ln>
          <a:effectLst>
            <a:outerShdw sx="100000" sy="100000" kx="0" ky="0" algn="bl" rotWithShape="0" blurRad="101600" dist="38100" dir="8100000">
              <a:srgbClr val="000000">
                <a:alpha val="13000"/>
              </a:srgbClr>
            </a:outerShdw>
          </a:effectLst>
        </p:spPr>
      </p:sp>
      <p:sp>
        <p:nvSpPr>
          <p:cNvPr id="23" name="Shape 21"/>
          <p:cNvSpPr/>
          <p:nvPr/>
        </p:nvSpPr>
        <p:spPr>
          <a:xfrm>
            <a:off x="4690872" y="2331720"/>
            <a:ext cx="548640" cy="1234440"/>
          </a:xfrm>
          <a:prstGeom prst="rect">
            <a:avLst/>
          </a:prstGeom>
          <a:solidFill>
            <a:srgbClr val="C0392B"/>
          </a:solidFill>
          <a:ln w="12700">
            <a:solidFill>
              <a:srgbClr val="C0392B"/>
            </a:solidFill>
            <a:prstDash val="solid"/>
          </a:ln>
        </p:spPr>
      </p:sp>
      <p:sp>
        <p:nvSpPr>
          <p:cNvPr id="24" name="Text 22"/>
          <p:cNvSpPr/>
          <p:nvPr/>
        </p:nvSpPr>
        <p:spPr>
          <a:xfrm>
            <a:off x="4690872" y="2331720"/>
            <a:ext cx="548640" cy="12344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Q5</a:t>
            </a:r>
            <a:endParaRPr lang="en-US" sz="1400" dirty="0"/>
          </a:p>
        </p:txBody>
      </p:sp>
      <p:sp>
        <p:nvSpPr>
          <p:cNvPr id="25" name="Text 23"/>
          <p:cNvSpPr/>
          <p:nvPr/>
        </p:nvSpPr>
        <p:spPr>
          <a:xfrm>
            <a:off x="5330952" y="2423160"/>
            <a:ext cx="3520440" cy="1051560"/>
          </a:xfrm>
          <a:prstGeom prst="rect">
            <a:avLst/>
          </a:prstGeom>
          <a:noFill/>
          <a:ln/>
        </p:spPr>
        <p:txBody>
          <a:bodyPr wrap="square" lIns="50800" tIns="50800" rIns="50800" bIns="50800" rtlCol="0" anchor="ctr"/>
          <a:lstStyle/>
          <a:p>
            <a:pPr algn="l" indent="0" marL="0">
              <a:buNone/>
            </a:pPr>
            <a:r>
              <a:rPr lang="en-US" sz="1050" dirty="0">
                <a:solidFill>
                  <a:srgbClr val="E8F0FF"/>
                </a:solidFill>
                <a:latin typeface="Calibri" pitchFamily="34" charset="0"/>
                <a:ea typeface="Calibri" pitchFamily="34" charset="-122"/>
                <a:cs typeface="Calibri" pitchFamily="34" charset="-120"/>
              </a:rPr>
              <a:t>Why not use a regime-switching model to directly address non-stationarity?</a:t>
            </a:r>
            <a:endParaRPr lang="en-US" sz="1050" dirty="0"/>
          </a:p>
        </p:txBody>
      </p:sp>
      <p:sp>
        <p:nvSpPr>
          <p:cNvPr id="26" name="Shape 24"/>
          <p:cNvSpPr/>
          <p:nvPr/>
        </p:nvSpPr>
        <p:spPr>
          <a:xfrm>
            <a:off x="4690872" y="3703320"/>
            <a:ext cx="4251960" cy="1234440"/>
          </a:xfrm>
          <a:prstGeom prst="rect">
            <a:avLst/>
          </a:prstGeom>
          <a:solidFill>
            <a:srgbClr val="1A3A6B"/>
          </a:solidFill>
          <a:ln w="12700">
            <a:solidFill>
              <a:srgbClr val="2E6DB4"/>
            </a:solidFill>
            <a:prstDash val="solid"/>
          </a:ln>
          <a:effectLst>
            <a:outerShdw sx="100000" sy="100000" kx="0" ky="0" algn="bl" rotWithShape="0" blurRad="101600" dist="38100" dir="8100000">
              <a:srgbClr val="000000">
                <a:alpha val="13000"/>
              </a:srgbClr>
            </a:outerShdw>
          </a:effectLst>
        </p:spPr>
      </p:sp>
      <p:sp>
        <p:nvSpPr>
          <p:cNvPr id="27" name="Shape 25"/>
          <p:cNvSpPr/>
          <p:nvPr/>
        </p:nvSpPr>
        <p:spPr>
          <a:xfrm>
            <a:off x="4690872" y="3703320"/>
            <a:ext cx="548640" cy="1234440"/>
          </a:xfrm>
          <a:prstGeom prst="rect">
            <a:avLst/>
          </a:prstGeom>
          <a:solidFill>
            <a:srgbClr val="C0392B"/>
          </a:solidFill>
          <a:ln w="12700">
            <a:solidFill>
              <a:srgbClr val="C0392B"/>
            </a:solidFill>
            <a:prstDash val="solid"/>
          </a:ln>
        </p:spPr>
      </p:sp>
      <p:sp>
        <p:nvSpPr>
          <p:cNvPr id="28" name="Text 26"/>
          <p:cNvSpPr/>
          <p:nvPr/>
        </p:nvSpPr>
        <p:spPr>
          <a:xfrm>
            <a:off x="4690872" y="3703320"/>
            <a:ext cx="548640" cy="12344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Q6</a:t>
            </a:r>
            <a:endParaRPr lang="en-US" sz="1400" dirty="0"/>
          </a:p>
        </p:txBody>
      </p:sp>
      <p:sp>
        <p:nvSpPr>
          <p:cNvPr id="29" name="Text 27"/>
          <p:cNvSpPr/>
          <p:nvPr/>
        </p:nvSpPr>
        <p:spPr>
          <a:xfrm>
            <a:off x="5330952" y="3794760"/>
            <a:ext cx="3520440" cy="1051560"/>
          </a:xfrm>
          <a:prstGeom prst="rect">
            <a:avLst/>
          </a:prstGeom>
          <a:noFill/>
          <a:ln/>
        </p:spPr>
        <p:txBody>
          <a:bodyPr wrap="square" lIns="50800" tIns="50800" rIns="50800" bIns="50800" rtlCol="0" anchor="ctr"/>
          <a:lstStyle/>
          <a:p>
            <a:pPr algn="l" indent="0" marL="0">
              <a:buNone/>
            </a:pPr>
            <a:r>
              <a:rPr lang="en-US" sz="1050" dirty="0">
                <a:solidFill>
                  <a:srgbClr val="E8F0FF"/>
                </a:solidFill>
                <a:latin typeface="Calibri" pitchFamily="34" charset="0"/>
                <a:ea typeface="Calibri" pitchFamily="34" charset="-122"/>
                <a:cs typeface="Calibri" pitchFamily="34" charset="-120"/>
              </a:rPr>
              <a:t>SHAP already shows feature instability across time. What does EBM add?</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EWS for Banking Crises — Viva Presentation PP24589</dc:title>
  <dc:subject>PptxGenJS Presentation</dc:subject>
  <dc:creator>Pavlos Papachristos</dc:creator>
  <cp:lastModifiedBy>Pavlos Papachristos</cp:lastModifiedBy>
  <cp:revision>1</cp:revision>
  <dcterms:created xsi:type="dcterms:W3CDTF">2026-06-07T09:15:22Z</dcterms:created>
  <dcterms:modified xsi:type="dcterms:W3CDTF">2026-06-07T09:15:22Z</dcterms:modified>
</cp:coreProperties>
</file>