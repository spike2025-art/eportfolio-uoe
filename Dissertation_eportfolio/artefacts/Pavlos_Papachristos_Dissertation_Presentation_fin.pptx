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2" r:id="rId1"/>
  </p:sldMasterIdLst>
  <p:notesMasterIdLst>
    <p:notesMasterId r:id="rId23"/>
  </p:notesMasterIdLst>
  <p:handoutMasterIdLst>
    <p:handoutMasterId r:id="rId24"/>
  </p:handoutMasterIdLst>
  <p:sldIdLst>
    <p:sldId id="258" r:id="rId2"/>
    <p:sldId id="259" r:id="rId3"/>
    <p:sldId id="514" r:id="rId4"/>
    <p:sldId id="584" r:id="rId5"/>
    <p:sldId id="585" r:id="rId6"/>
    <p:sldId id="586" r:id="rId7"/>
    <p:sldId id="562" r:id="rId8"/>
    <p:sldId id="578" r:id="rId9"/>
    <p:sldId id="579" r:id="rId10"/>
    <p:sldId id="580" r:id="rId11"/>
    <p:sldId id="581" r:id="rId12"/>
    <p:sldId id="582" r:id="rId13"/>
    <p:sldId id="583" r:id="rId14"/>
    <p:sldId id="587" r:id="rId15"/>
    <p:sldId id="588" r:id="rId16"/>
    <p:sldId id="596" r:id="rId32"/>
    <p:sldId id="589" r:id="rId17"/>
    <p:sldId id="590" r:id="rId18"/>
    <p:sldId id="591" r:id="rId19"/>
    <p:sldId id="592" r:id="rId20"/>
    <p:sldId id="593" r:id="rId21"/>
    <p:sldId id="594" r:id="rId22"/>
    <p:sldId id="59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048DFA-E6F9-9F4F-9DB1-604C8E7A1C1F}">
          <p14:sldIdLst>
            <p14:sldId id="258"/>
            <p14:sldId id="259"/>
            <p14:sldId id="514"/>
            <p14:sldId id="584"/>
            <p14:sldId id="585"/>
            <p14:sldId id="586"/>
            <p14:sldId id="562"/>
            <p14:sldId id="578"/>
            <p14:sldId id="579"/>
            <p14:sldId id="580"/>
            <p14:sldId id="581"/>
            <p14:sldId id="582"/>
            <p14:sldId id="583"/>
            <p14:sldId id="587"/>
            <p14:sldId id="588"/>
            <p14:sldId id="589"/>
            <p14:sldId id="590"/>
            <p14:sldId id="591"/>
            <p14:sldId id="592"/>
            <p14:sldId id="593"/>
            <p14:sldId id="59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395694-5EAB-4FDD-9A81-9A325AD1F6FB}" v="2" dt="2026-07-19T16:03:03.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75" autoAdjust="0"/>
    <p:restoredTop sz="96247" autoAdjust="0"/>
  </p:normalViewPr>
  <p:slideViewPr>
    <p:cSldViewPr snapToGrid="0" snapToObjects="1">
      <p:cViewPr varScale="1">
        <p:scale>
          <a:sx n="78" d="100"/>
          <a:sy n="78" d="100"/>
        </p:scale>
        <p:origin x="1493"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2"/>
    </p:cViewPr>
  </p:sorterViewPr>
  <p:notesViewPr>
    <p:cSldViewPr snapToGrid="0" snapToObjects="1">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  <Relationship Id="rId31" Type="http://schemas.openxmlformats.org/officeDocument/2006/relationships/slide" Target="slides/slide22.xml"/>
  <Relationship Id="rId32" Type="http://schemas.openxmlformats.org/officeDocument/2006/relationships/slide" Target="slides/slide2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los papachristos" userId="6d0459f3cc0def96" providerId="LiveId" clId="{232D4754-B684-4945-AC86-D9DE383D5E1B}"/>
    <pc:docChg chg="custSel addSld modSld modSection">
      <pc:chgData name="pavlos papachristos" userId="6d0459f3cc0def96" providerId="LiveId" clId="{232D4754-B684-4945-AC86-D9DE383D5E1B}" dt="2026-07-19T16:08:52.524" v="447" actId="20577"/>
      <pc:docMkLst>
        <pc:docMk/>
      </pc:docMkLst>
      <pc:sldChg chg="modSp mod">
        <pc:chgData name="pavlos papachristos" userId="6d0459f3cc0def96" providerId="LiveId" clId="{232D4754-B684-4945-AC86-D9DE383D5E1B}" dt="2026-07-19T15:45:01.813" v="13" actId="20577"/>
        <pc:sldMkLst>
          <pc:docMk/>
          <pc:sldMk cId="2243093750" sldId="258"/>
        </pc:sldMkLst>
        <pc:spChg chg="mod">
          <ac:chgData name="pavlos papachristos" userId="6d0459f3cc0def96" providerId="LiveId" clId="{232D4754-B684-4945-AC86-D9DE383D5E1B}" dt="2026-07-19T15:45:01.813" v="13" actId="20577"/>
          <ac:spMkLst>
            <pc:docMk/>
            <pc:sldMk cId="2243093750" sldId="258"/>
            <ac:spMk id="3" creationId="{A7433A97-FCB8-7341-A18D-D171B3A5AD4E}"/>
          </ac:spMkLst>
        </pc:spChg>
      </pc:sldChg>
      <pc:sldChg chg="modSp mod">
        <pc:chgData name="pavlos papachristos" userId="6d0459f3cc0def96" providerId="LiveId" clId="{232D4754-B684-4945-AC86-D9DE383D5E1B}" dt="2026-07-19T16:04:00.306" v="378" actId="255"/>
        <pc:sldMkLst>
          <pc:docMk/>
          <pc:sldMk cId="1393362260" sldId="259"/>
        </pc:sldMkLst>
        <pc:spChg chg="mod">
          <ac:chgData name="pavlos papachristos" userId="6d0459f3cc0def96" providerId="LiveId" clId="{232D4754-B684-4945-AC86-D9DE383D5E1B}" dt="2026-07-19T16:04:00.306" v="378" actId="255"/>
          <ac:spMkLst>
            <pc:docMk/>
            <pc:sldMk cId="1393362260" sldId="259"/>
            <ac:spMk id="2" creationId="{5921534C-BF88-E541-B4DF-559ACD9C5196}"/>
          </ac:spMkLst>
        </pc:spChg>
      </pc:sldChg>
      <pc:sldChg chg="modSp mod">
        <pc:chgData name="pavlos papachristos" userId="6d0459f3cc0def96" providerId="LiveId" clId="{232D4754-B684-4945-AC86-D9DE383D5E1B}" dt="2026-07-19T16:03:38.432" v="377" actId="108"/>
        <pc:sldMkLst>
          <pc:docMk/>
          <pc:sldMk cId="187626742" sldId="514"/>
        </pc:sldMkLst>
        <pc:spChg chg="mod">
          <ac:chgData name="pavlos papachristos" userId="6d0459f3cc0def96" providerId="LiveId" clId="{232D4754-B684-4945-AC86-D9DE383D5E1B}" dt="2026-07-19T16:03:38.432" v="377" actId="108"/>
          <ac:spMkLst>
            <pc:docMk/>
            <pc:sldMk cId="187626742" sldId="514"/>
            <ac:spMk id="5" creationId="{82AD37A6-8172-48D3-0784-1AE5696421C1}"/>
          </ac:spMkLst>
        </pc:spChg>
        <pc:spChg chg="mod">
          <ac:chgData name="pavlos papachristos" userId="6d0459f3cc0def96" providerId="LiveId" clId="{232D4754-B684-4945-AC86-D9DE383D5E1B}" dt="2026-07-19T15:53:35.584" v="161" actId="255"/>
          <ac:spMkLst>
            <pc:docMk/>
            <pc:sldMk cId="187626742" sldId="514"/>
            <ac:spMk id="8" creationId="{00000000-0000-0000-0000-000000000000}"/>
          </ac:spMkLst>
        </pc:spChg>
        <pc:spChg chg="mod">
          <ac:chgData name="pavlos papachristos" userId="6d0459f3cc0def96" providerId="LiveId" clId="{232D4754-B684-4945-AC86-D9DE383D5E1B}" dt="2026-07-19T15:53:44.815" v="162" actId="255"/>
          <ac:spMkLst>
            <pc:docMk/>
            <pc:sldMk cId="187626742" sldId="514"/>
            <ac:spMk id="9" creationId="{00000000-0000-0000-0000-000000000000}"/>
          </ac:spMkLst>
        </pc:spChg>
        <pc:spChg chg="mod">
          <ac:chgData name="pavlos papachristos" userId="6d0459f3cc0def96" providerId="LiveId" clId="{232D4754-B684-4945-AC86-D9DE383D5E1B}" dt="2026-07-19T15:52:44.521" v="157" actId="1076"/>
          <ac:spMkLst>
            <pc:docMk/>
            <pc:sldMk cId="187626742" sldId="514"/>
            <ac:spMk id="10" creationId="{00000000-0000-0000-0000-000000000000}"/>
          </ac:spMkLst>
        </pc:spChg>
      </pc:sldChg>
      <pc:sldChg chg="modSp mod">
        <pc:chgData name="pavlos papachristos" userId="6d0459f3cc0def96" providerId="LiveId" clId="{232D4754-B684-4945-AC86-D9DE383D5E1B}" dt="2026-07-19T16:08:52.524" v="447" actId="20577"/>
        <pc:sldMkLst>
          <pc:docMk/>
          <pc:sldMk cId="3923424358" sldId="580"/>
        </pc:sldMkLst>
        <pc:spChg chg="mod">
          <ac:chgData name="pavlos papachristos" userId="6d0459f3cc0def96" providerId="LiveId" clId="{232D4754-B684-4945-AC86-D9DE383D5E1B}" dt="2026-07-19T16:08:52.524" v="447" actId="20577"/>
          <ac:spMkLst>
            <pc:docMk/>
            <pc:sldMk cId="3923424358" sldId="580"/>
            <ac:spMk id="5" creationId="{00000000-0000-0000-0000-000000000000}"/>
          </ac:spMkLst>
        </pc:spChg>
      </pc:sldChg>
      <pc:sldChg chg="modSp new mod">
        <pc:chgData name="pavlos papachristos" userId="6d0459f3cc0def96" providerId="LiveId" clId="{232D4754-B684-4945-AC86-D9DE383D5E1B}" dt="2026-07-19T16:03:24.567" v="376" actId="20577"/>
        <pc:sldMkLst>
          <pc:docMk/>
          <pc:sldMk cId="80649797" sldId="584"/>
        </pc:sldMkLst>
        <pc:spChg chg="mod">
          <ac:chgData name="pavlos papachristos" userId="6d0459f3cc0def96" providerId="LiveId" clId="{232D4754-B684-4945-AC86-D9DE383D5E1B}" dt="2026-07-19T16:00:13.551" v="367" actId="20577"/>
          <ac:spMkLst>
            <pc:docMk/>
            <pc:sldMk cId="80649797" sldId="584"/>
            <ac:spMk id="4" creationId="{00000000-0000-0000-0000-000000000000}"/>
          </ac:spMkLst>
        </pc:spChg>
        <pc:spChg chg="mod">
          <ac:chgData name="pavlos papachristos" userId="6d0459f3cc0def96" providerId="LiveId" clId="{232D4754-B684-4945-AC86-D9DE383D5E1B}" dt="2026-07-19T16:03:24.567" v="376" actId="20577"/>
          <ac:spMkLst>
            <pc:docMk/>
            <pc:sldMk cId="80649797" sldId="584"/>
            <ac:spMk id="5" creationId="{00000000-0000-0000-0000-000000000000}"/>
          </ac:spMkLst>
        </pc:spChg>
      </pc:sldChg>
      <pc:sldChg chg="new">
        <pc:chgData name="pavlos papachristos" userId="6d0459f3cc0def96" providerId="LiveId" clId="{232D4754-B684-4945-AC86-D9DE383D5E1B}" dt="2026-07-19T13:25:28.479" v="1" actId="680"/>
        <pc:sldMkLst>
          <pc:docMk/>
          <pc:sldMk cId="1356210396" sldId="585"/>
        </pc:sldMkLst>
      </pc:sldChg>
      <pc:sldChg chg="new">
        <pc:chgData name="pavlos papachristos" userId="6d0459f3cc0def96" providerId="LiveId" clId="{232D4754-B684-4945-AC86-D9DE383D5E1B}" dt="2026-07-19T13:25:28.622" v="2" actId="680"/>
        <pc:sldMkLst>
          <pc:docMk/>
          <pc:sldMk cId="867959331" sldId="586"/>
        </pc:sldMkLst>
      </pc:sldChg>
      <pc:sldChg chg="new">
        <pc:chgData name="pavlos papachristos" userId="6d0459f3cc0def96" providerId="LiveId" clId="{232D4754-B684-4945-AC86-D9DE383D5E1B}" dt="2026-07-19T13:25:33.667" v="3" actId="680"/>
        <pc:sldMkLst>
          <pc:docMk/>
          <pc:sldMk cId="3437179100" sldId="587"/>
        </pc:sldMkLst>
      </pc:sldChg>
      <pc:sldChg chg="new">
        <pc:chgData name="pavlos papachristos" userId="6d0459f3cc0def96" providerId="LiveId" clId="{232D4754-B684-4945-AC86-D9DE383D5E1B}" dt="2026-07-19T13:25:33.808" v="4" actId="680"/>
        <pc:sldMkLst>
          <pc:docMk/>
          <pc:sldMk cId="406663431" sldId="588"/>
        </pc:sldMkLst>
      </pc:sldChg>
      <pc:sldChg chg="new">
        <pc:chgData name="pavlos papachristos" userId="6d0459f3cc0def96" providerId="LiveId" clId="{232D4754-B684-4945-AC86-D9DE383D5E1B}" dt="2026-07-19T13:25:33.952" v="5" actId="680"/>
        <pc:sldMkLst>
          <pc:docMk/>
          <pc:sldMk cId="1765268470" sldId="589"/>
        </pc:sldMkLst>
      </pc:sldChg>
      <pc:sldChg chg="new">
        <pc:chgData name="pavlos papachristos" userId="6d0459f3cc0def96" providerId="LiveId" clId="{232D4754-B684-4945-AC86-D9DE383D5E1B}" dt="2026-07-19T13:25:34.899" v="6" actId="680"/>
        <pc:sldMkLst>
          <pc:docMk/>
          <pc:sldMk cId="864563641" sldId="590"/>
        </pc:sldMkLst>
      </pc:sldChg>
      <pc:sldChg chg="new">
        <pc:chgData name="pavlos papachristos" userId="6d0459f3cc0def96" providerId="LiveId" clId="{232D4754-B684-4945-AC86-D9DE383D5E1B}" dt="2026-07-19T13:25:35.236" v="7" actId="680"/>
        <pc:sldMkLst>
          <pc:docMk/>
          <pc:sldMk cId="2104237942" sldId="591"/>
        </pc:sldMkLst>
      </pc:sldChg>
      <pc:sldChg chg="new">
        <pc:chgData name="pavlos papachristos" userId="6d0459f3cc0def96" providerId="LiveId" clId="{232D4754-B684-4945-AC86-D9DE383D5E1B}" dt="2026-07-19T13:25:36.182" v="8" actId="680"/>
        <pc:sldMkLst>
          <pc:docMk/>
          <pc:sldMk cId="1670580231" sldId="592"/>
        </pc:sldMkLst>
      </pc:sldChg>
      <pc:sldChg chg="new">
        <pc:chgData name="pavlos papachristos" userId="6d0459f3cc0def96" providerId="LiveId" clId="{232D4754-B684-4945-AC86-D9DE383D5E1B}" dt="2026-07-19T13:25:36.546" v="9" actId="680"/>
        <pc:sldMkLst>
          <pc:docMk/>
          <pc:sldMk cId="968130901" sldId="59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a:solidFill>
                  <a:srgbClr val="002060"/>
                </a:solidFill>
              </a:rPr>
              <a:t>AUPRC by algorithm × feature set — 2007 GFC cross-section</a:t>
            </a:r>
          </a:p>
        </c:rich>
      </c:tx>
      <c:overlay val="0"/>
    </c:title>
    <c:autoTitleDeleted val="0"/>
    <c:plotArea>
      <c:layout/>
      <c:barChart>
        <c:barDir val="bar"/>
        <c:grouping val="clustered"/>
        <c:varyColors val="1"/>
        <c:ser>
          <c:idx val="0"/>
          <c:order val="0"/>
          <c:tx>
            <c:strRef>
              <c:f>Sheet1!$B$1</c:f>
              <c:strCache>
                <c:ptCount val="1"/>
                <c:pt idx="0">
                  <c:v>AUPRC</c:v>
                </c:pt>
              </c:strCache>
            </c:strRef>
          </c:tx>
          <c:invertIfNegative val="1"/>
          <c:dPt>
            <c:idx val="0"/>
            <c:invertIfNegative val="1"/>
            <c:bubble3D val="0"/>
            <c:spPr>
              <a:solidFill>
                <a:srgbClr val="5A6B85"/>
              </a:solidFill>
            </c:spPr>
            <c:extLst>
              <c:ext xmlns:c16="http://schemas.microsoft.com/office/drawing/2014/chart" uri="{C3380CC4-5D6E-409C-BE32-E72D297353CC}">
                <c16:uniqueId val="{00000001-3EDF-4D50-9F17-C16A9664DF99}"/>
              </c:ext>
            </c:extLst>
          </c:dPt>
          <c:dPt>
            <c:idx val="1"/>
            <c:invertIfNegative val="1"/>
            <c:bubble3D val="0"/>
            <c:spPr>
              <a:solidFill>
                <a:srgbClr val="5A6B85"/>
              </a:solidFill>
            </c:spPr>
            <c:extLst>
              <c:ext xmlns:c16="http://schemas.microsoft.com/office/drawing/2014/chart" uri="{C3380CC4-5D6E-409C-BE32-E72D297353CC}">
                <c16:uniqueId val="{00000003-3EDF-4D50-9F17-C16A9664DF99}"/>
              </c:ext>
            </c:extLst>
          </c:dPt>
          <c:dPt>
            <c:idx val="2"/>
            <c:invertIfNegative val="1"/>
            <c:bubble3D val="0"/>
            <c:spPr>
              <a:solidFill>
                <a:srgbClr val="4400A9"/>
              </a:solidFill>
            </c:spPr>
            <c:extLst>
              <c:ext xmlns:c16="http://schemas.microsoft.com/office/drawing/2014/chart" uri="{C3380CC4-5D6E-409C-BE32-E72D297353CC}">
                <c16:uniqueId val="{00000005-3EDF-4D50-9F17-C16A9664DF99}"/>
              </c:ext>
            </c:extLst>
          </c:dPt>
          <c:dPt>
            <c:idx val="3"/>
            <c:invertIfNegative val="1"/>
            <c:bubble3D val="0"/>
            <c:spPr>
              <a:solidFill>
                <a:srgbClr val="4400A9"/>
              </a:solidFill>
            </c:spPr>
            <c:extLst>
              <c:ext xmlns:c16="http://schemas.microsoft.com/office/drawing/2014/chart" uri="{C3380CC4-5D6E-409C-BE32-E72D297353CC}">
                <c16:uniqueId val="{00000007-3EDF-4D50-9F17-C16A9664DF99}"/>
              </c:ext>
            </c:extLst>
          </c:dPt>
          <c:dLbls>
            <c:numFmt formatCode="0.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RF · macro-only (41)</c:v>
                </c:pt>
                <c:pt idx="1">
                  <c:v>XGBoost · macro+sent (61)</c:v>
                </c:pt>
                <c:pt idx="2">
                  <c:v>EBM · macro+sent (61)</c:v>
                </c:pt>
                <c:pt idx="3">
                  <c:v>EBM · macro-only (41)</c:v>
                </c:pt>
              </c:strCache>
            </c:strRef>
          </c:cat>
          <c:val>
            <c:numRef>
              <c:f>Sheet1!$B$2:$B$5</c:f>
              <c:numCache>
                <c:formatCode>General</c:formatCode>
                <c:ptCount val="4"/>
                <c:pt idx="0">
                  <c:v>0.343</c:v>
                </c:pt>
                <c:pt idx="1">
                  <c:v>0.411</c:v>
                </c:pt>
                <c:pt idx="2">
                  <c:v>0.454</c:v>
                </c:pt>
                <c:pt idx="3">
                  <c:v>0.532</c:v>
                </c:pt>
              </c:numCache>
            </c:numRef>
          </c:val>
          <c:extLst>
            <c:ext xmlns:c16="http://schemas.microsoft.com/office/drawing/2014/chart" uri="{C3380CC4-5D6E-409C-BE32-E72D297353CC}">
              <c16:uniqueId val="{00000008-3EDF-4D50-9F17-C16A9664DF99}"/>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0.6"/>
          <c:min val="0"/>
        </c:scaling>
        <c:delete val="0"/>
        <c:axPos val="b"/>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507C33-6055-6818-108A-1878B0D811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79ECB2C-62D2-7185-D037-08A7FD57E8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1538C4-CD1A-4C2E-84C0-F725A5EEA1A1}" type="datetimeFigureOut">
              <a:rPr lang="en-GB" smtClean="0"/>
              <a:t>19/07/2026</a:t>
            </a:fld>
            <a:endParaRPr lang="en-GB"/>
          </a:p>
        </p:txBody>
      </p:sp>
      <p:sp>
        <p:nvSpPr>
          <p:cNvPr id="4" name="Footer Placeholder 3">
            <a:extLst>
              <a:ext uri="{FF2B5EF4-FFF2-40B4-BE49-F238E27FC236}">
                <a16:creationId xmlns:a16="http://schemas.microsoft.com/office/drawing/2014/main" id="{9FCDE357-C3FE-E201-8A9A-64E56E429B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4E5E61A-B793-EC07-1D3E-0E3007BE4E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EB5D21-BED2-48FB-A6FC-486221C264D1}" type="slidenum">
              <a:rPr lang="en-GB" smtClean="0"/>
              <a:t>‹#›</a:t>
            </a:fld>
            <a:endParaRPr lang="en-GB"/>
          </a:p>
        </p:txBody>
      </p:sp>
    </p:spTree>
    <p:extLst>
      <p:ext uri="{BB962C8B-B14F-4D97-AF65-F5344CB8AC3E}">
        <p14:creationId xmlns:p14="http://schemas.microsoft.com/office/powerpoint/2010/main" val="386631080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A3E57C-7A75-4E1B-9C9D-A97DC44D4172}" type="datetimeFigureOut">
              <a:rPr lang="en-GB" smtClean="0"/>
              <a:t>19/07/2026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3E0B1-0C21-4B1F-9036-D8F2F0729156}" type="slidenum">
              <a:rPr lang="en-GB" smtClean="0"/>
              <a:t>‹#›</a:t>
            </a:fld>
            <a:endParaRPr lang="en-GB"/>
          </a:p>
        </p:txBody>
      </p:sp>
    </p:spTree>
    <p:extLst>
      <p:ext uri="{BB962C8B-B14F-4D97-AF65-F5344CB8AC3E}">
        <p14:creationId xmlns:p14="http://schemas.microsoft.com/office/powerpoint/2010/main" val="9183470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Introduce yourself and the title. One-sentence framing: this project asks why ML early-warning systems that look excellent on paper keep failing when tested honestly on the future - and whether interpretability costs anything in the process.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sec. One breath over the agenda: introduction and hypotheses, methods, four results blocks - discrimination, sentiment, mechanism, prospective validation and robustness - then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sec. Open with the core problem: a model credited with 'predicting' 2008 has usually already learned from that era - the honest test is train on the past, predict the future. Then the research question: why does a model trained on one crisis era fail when the next, structurally different one arrives? Then the three hypotheses as plain questions - does language add signal; if it matters it should show; the price of transparency. Close with the one rule: the model never sees anything dated after the moment of prediction.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Walk data, models, validation quickly. Stress the Stage 1 / Stage 2 distinction - Stage 2 is a single-episode ranking exercise; every Stage 2 number is an upper bound. This pre-empts the most common examiner challenge. If asked how many independent episodes: the 37 positive labels are 19 distinct onsets - the two-year horizon assigns up to two labels per onset - clustering into three systemic episodes: early-1990s European/Nordic (6 onsets), Japan 1997 (1), and the GFC 2007-08 (12, i.e. roughly two-thirds). Three regimes, not thirty-seven observations - which is the constraint the whole thesis is about. Table 4.4 already counts onsets rather than labels. If pressed on Stage 1 versus Stage 2: the panel is multi-episode but the SCORED sample is not - 467 observations, 28 positives, 1993-2018, and 26 of those 28 are the GFC. The early-1990s cluster falls inside the burn-in and is never scored. So Stage 1 is broader than Stage 2 in training history, not a fully independent multi-episode test. I state this in 4.1.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Headline: the natively interpretable EBM posts the highest Stage 1 point estimates on identical features. Lead with the ROBUST reading, not the naive one: the pooled DeLong test is significant but panel dependence invalidates its standard error; country-resampling supports the gap, year-resampling does not. H3's presumed trade-off is not observed in-regime. If asked about 19 vs 41 features: 19 is the lag-1 slice of the same 41 set; the bridge logistic M1b on all 41 features scores AUROC 0.646 / AUPRC 0.145 - it catches the RF (0.636) but not the EBM (0.753), so the gap is non-linearity, not feature count. On the clustered inference: pooled panel predictions breach DeLong's independence assumption, so I re-ran it as a cluster bootstrap, 5000 replicates. Resampling countries, the gap holds - CI 0.068 to 0.175, p=0.0002 - and a leave-one-country-out jackknife moves it only between 0.101 and 0.127. Resampling years, it does not - CI spans zero. That is not a weakness in the finding, it locates it: the EBM advantage is a stable CROSS-COUNTRY regularity, but 93 per cent of scored positives are the GFC, so it is a within-regime result. My own headline is subject to the non-stationarity the thesis identifies.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Same pattern in the 2007 cross-section: EBM leads every single model on AUPRC at 0.532. Two honest caveats: within a single episode the EBM-RF difference is not separable (p=0.097), and the ensemble smooths calibration at the cost of precision-recall. This transparent assessment sets the stage for the subsequent slides. Note the lift column now uses the SCORED prevalence (5.1%, 11/215) rather than the full-panel 8.15% - the AUPRC no-skill baseline is the prevalence in the evaluated sample. The correction runs in our favour: the EBM's lift is 10.4x, not 6.5x.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Point at the solid Stage 1 curves - modest and realistic - versus the dashed Stage 2 curves compressed toward the corner because the evaluation is concentrated on one well-understood crisis.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The ranking shows informative failure: fundamental domestic credit-boom crises at the top around 0.8; the ordering is Fundamental &gt; Contagion &gt; No-crisis - the ranking tracks domestic credit-cycle precursors the model trained on, and this crisis-type read is explicitly exploratory and post-hoc. Spain versus UK makes the logic legible - Spain flagged on a classic domestic credit boom (19.8% p.a.); the UK is not a missed crisis (target_h2 = 0) but a scope limit, its funding-channel fragility outside the feature set. If asked about Sweden (rank 5, 0.783): crisisjst=1 in 2008 - a TRUE positive, not a false positive.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At first glance sentiment appears to help: M3 beats the macro-only RF. But that comparison changes two things at once. So I fitted the missing cells of the matched pairwise set - every combination of algorithm and feature set on the same 2007 cross-section.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Holding features fixed, EBM beats XGBoost by 0.043 - an algorithm effect. Holding the algorithm fixed, adding sentiment REDUCES AUPRC by 0.078, CI spans zero. And upstream, zero of 156 sentiment Granger tests survive correction. Verdict on H1: not confirmed. If you want the memorable line, deliver it AFTER the formal conclusion, not instead of it: an algorithm effect wearing a sentiment costume.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sec. The intellectual core. Walk the lag-3 panel: the early-run-up curve (blue, 2003-06) rises monotonically; the GFC-inclusive curve (red, 2003-10) reverses it at high spread values - the two curves cross at moderate positive spreads. Same value, opposite risk contribution. Because shape functions are the model itself, this directly demonstrates instability in what the fitted model learns - not attribution noise; note these are nested training windows (2003–06 vs 2003–10), so Figure 4.7 shows training-window instability, with the disjoint cross-regime comparison in Appendix A (NB11); together with the credit-growth break test it is consistent with a shifting data-generating process, though sample-driven model variance cannot be excluded. It also answers H2: importance is all macro.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The full six-panel view: the pattern is systematic across lags and features, not cherry-picked - term spread on top, credit below, and the two training windows disagree everywhere it matters.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The decisive test: train pre-2003, predict the GFC. Lead with 6.2.1 - more data is not the answer: even trained on the full pre-GFC history - 1989-2002, Nordic cluster and Japan 1997 included - the RF performs below random. The EBM, being more flexible, fails more dramatically - directionally consistent with flexibility amplifying overfitting to a specific regime; six training positives cannot confirm it statistically. The collapse is consistent with a shift in the underlying feature-risk relationships rather than insufficient training history alone.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The interpretation is corroborated formally: credit growth breaks at 2007 with p=0.0066 and genuine sign reversals. And there is no COVID contamination - zero scored observations in 2019-20 by construction. H3 verdict: partially supported, non-monotonic; the flexibility refinement is data-driven and exploratory, not confirmatory (Table 4.7).</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Three results protect the headline claims: one of 84 Granger tests survives correction; LOCO median 0.967 across held-out countries; and the hyperparameter sweep moves AUROC by 0.007 - essentially flat. Brisk and factual - these are the robustness checks that bound the headline claims.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sec. Visually: the EBM leads clearly where the held-out country has informative events - the Netherlands, Germany, Portugal - and both models are near-random in Japan.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sec. Answer the research question in one sentence, from memory, looking at the examiners: EWS failure is most consistent with structural non-stationarity in the data-generating process rather than model choice. Then the four takeaways. Close with the 5.2 framing: crisis prediction sits within non-stationary ML under distribution shift. All five objectives met: O1 panel extension, O2 model sequence, O3 EBM regime-stability, O4 algorithm-controlled sentiment and ensemble evaluation, O5 distribution-shift implications. Four contributions (see backup slide): empirical - more history does not fix prospective failure; methodological - quantifying expanding-window bias vs strict temporal; interpretability - shape functions expose regime misspecification with no post-hoc step; theoretical - primary evidence the failure is structural non-stationarity.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Count the four on your fingers: mandatory prospective validation; interpretable non-linear models as primary candidates; ensembles for calibration, not discrimination; multi-episode validation before sentiment is deployed. If probed on Rec 3: model disagreement is 2.8x higher at crisis observations (0.348 vs 0.125, M2m-EBM; 4.10.2) - ensembles help exactly where individual-model uncertainty peaks (Holopainen and Sarlin motivation).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Own the limitations plainly - thin events, single-episode Stage 2, English-only sentiment, calibration caveat - then pivot: the Appendix A prototype shows the feature hierarchy genuinely shifts across regimes; the constraint is sample size; the answer is data-driven regime detection. If probed on FinBERT: it only reads English; BIS coverage is mostly but not entirely English, and language was untagged at corpus construction, so the non-English share is unquantifiable - an unresolved limitation, not a filter we applied. Measurement error is structured by country, so H1's null means THIS measurement added nothing, not that central-bank language carries nothing. No validated multilingual FinBERT existed and translation distorts tone - and the null held in sentiment's best-case setting (predominantly English corpus, GFC-concentrated sample, isolated effect negative at -0.078). Further limitations if asked (5.7): crisis-label heterogeneity - the target conflates fundamental, contagion and exogenous episodes; uneven cross-country corpus volume and register; bootstrap CIs understate uncertainty under panel dependence (descriptive only - the disagreement analysis is the better-grounded characterisation). If asked why no LSTM/recurrent models (new 5.7 scope limitation): the comparison spans logistic, tree ensembles and a boosted GAM, not recurrent architectures (Tölö 2020), so the prospective-failure finding holds for the architectures tested, not for ML as a class. But the shape-function reversals (4.7.3) and the credit-growth break (4.9.7) show the feature-outcome mapping itself inverts - a sequence model learns dependency structure within a mapping; it does not repair a mapping whose sign reverses. Running a recurrent model through the Split B design is left to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sec. Pause after 'misspecification', deliver the legibility line, then stop. Likely questions: Stage 2 upper bound; Split B gap is directional; NB05A 61-vs-55 feature-count correction (documentation error only); why sentiment failed; how regime-conditional design works operationally. Also be ready for: alternative horizons - the 1-year and 3-year horizons (h1, h3) are infeasible on Stage 2, with insufficient positives under every horizon definition, a structural consequence of 2007 concentration (4.4); literature position - Beutel, List and von Schweinitz set the validation gap, Holopainen and Sarlin motivate the ensemble, Lou et al. is the EBM foundation, Ho, Moench and Steeley point to topic features (Rec 4); MSc AI requirement - end-to-end NLP pipeline (FinBERT on 16,622 speeches), interpretable ML, and distribution-shift analysis (1.5, 6.3); ethics - public secondary data, no human participants, seeds fixed at 42, full code on GitHub (3.2); generative-AI use was declared in 3.2 (literature-search support, code assistance, drafting) with all analysis and results author-verified.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 not presented. Source attribution for every claim in the deck, by dissertation section, table and figure.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GB" dirty="0"/>
              <a:t>~40 sec. This slide unpacks the Granger battery that sits under the one-liners on the sentiment and robustness slides.</a:t>
            </a:r>
          </a:p>
          <a:p>
            <a:r>
              <a:rPr lang="en-GB" dirty="0"/>
              <a:t>Rationale first: Granger causality is a model-independent test — does a predictor's own past improve the crisis forecast beyond what the panel already contains? It is the guard against reading in-sample SHAP or EBM importance as if it were predictive signal.</a:t>
            </a:r>
          </a:p>
          <a:p>
            <a:r>
              <a:rPr lang="en-GB" dirty="0"/>
              <a:t>Macro battery: credit growth and term spread, lags 1-3, 14 of 18 countries (four dropped because a constant crisis series makes the F-test uncomputable) = 84 tests. 16 clear the uncorrected 5% bar against about 4.2 expected by chance — so without correction you cannot say which are real.</a:t>
            </a:r>
          </a:p>
          <a:p>
            <a:r>
              <a:rPr lang="en-GB" dirty="0"/>
              <a:t>After Bonferroni and Benjamini-Hochberg, exactly one survives: US credit growth at lag 3, p=0.000015, about 40x inside the threshold. Crucially, none of the five term_spread_lag3 countries survives — so the lag-3 term-spread concentration that matches EBM's top feature (1.717) is a descriptive within-sample pattern, not a confirmed relationship. The shape-function sign reversal in 4.7.3 is the stronger evidence.</a:t>
            </a:r>
          </a:p>
          <a:p>
            <a:r>
              <a:rPr lang="en-GB" dirty="0"/>
              <a:t>Sentiment: 156-test family, 17 nominally significant vs 7.8 expected, zero survive either correction — an independent corroboration of the H1 'not confirmed' verdict.</a:t>
            </a:r>
          </a:p>
          <a:p>
            <a:r>
              <a:rPr lang="en-GB" dirty="0"/>
              <a:t>If asked why Granger on a binary target: it is used as an auxiliary screen (F-test on lagged predictor coefficients), not the primary evidence; the ML discrimination and the shape functions carry the argument, and the divergence between them is itself the point (4.9.8).</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6F46960-5967-5840-B330-2ECD3C492CCD}"/>
              </a:ext>
            </a:extLst>
          </p:cNvPr>
          <p:cNvPicPr>
            <a:picLocks noChangeAspect="1"/>
          </p:cNvPicPr>
          <p:nvPr userDrawn="1"/>
        </p:nvPicPr>
        <p:blipFill>
          <a:blip r:embed="rId2"/>
          <a:stretch>
            <a:fillRect/>
          </a:stretch>
        </p:blipFill>
        <p:spPr>
          <a:xfrm>
            <a:off x="0" y="1608"/>
            <a:ext cx="9142570" cy="6856392"/>
          </a:xfrm>
          <a:prstGeom prst="rect">
            <a:avLst/>
          </a:prstGeom>
        </p:spPr>
      </p:pic>
    </p:spTree>
    <p:extLst>
      <p:ext uri="{BB962C8B-B14F-4D97-AF65-F5344CB8AC3E}">
        <p14:creationId xmlns:p14="http://schemas.microsoft.com/office/powerpoint/2010/main" val="3856059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5DD430-9727-C844-A598-26063C75DEDD}"/>
              </a:ext>
            </a:extLst>
          </p:cNvPr>
          <p:cNvPicPr>
            <a:picLocks noChangeAspect="1"/>
          </p:cNvPicPr>
          <p:nvPr userDrawn="1"/>
        </p:nvPicPr>
        <p:blipFill>
          <a:blip r:embed="rId2"/>
          <a:stretch>
            <a:fillRect/>
          </a:stretch>
        </p:blipFill>
        <p:spPr>
          <a:xfrm>
            <a:off x="1430" y="1609"/>
            <a:ext cx="9142570" cy="6856391"/>
          </a:xfrm>
          <a:prstGeom prst="rect">
            <a:avLst/>
          </a:prstGeom>
        </p:spPr>
      </p:pic>
    </p:spTree>
    <p:extLst>
      <p:ext uri="{BB962C8B-B14F-4D97-AF65-F5344CB8AC3E}">
        <p14:creationId xmlns:p14="http://schemas.microsoft.com/office/powerpoint/2010/main" val="201850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4E27B-905F-8D4A-843C-3474D8580484}"/>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pic>
        <p:nvPicPr>
          <p:cNvPr id="3" name="Picture 2">
            <a:extLst>
              <a:ext uri="{FF2B5EF4-FFF2-40B4-BE49-F238E27FC236}">
                <a16:creationId xmlns:a16="http://schemas.microsoft.com/office/drawing/2014/main" id="{256C56AE-3A23-1C42-844F-6CF0A6D9248F}"/>
              </a:ext>
            </a:extLst>
          </p:cNvPr>
          <p:cNvPicPr>
            <a:picLocks noChangeAspect="1"/>
          </p:cNvPicPr>
          <p:nvPr userDrawn="1"/>
        </p:nvPicPr>
        <p:blipFill>
          <a:blip r:embed="rId2"/>
          <a:stretch>
            <a:fillRect/>
          </a:stretch>
        </p:blipFill>
        <p:spPr>
          <a:xfrm>
            <a:off x="1430" y="1609"/>
            <a:ext cx="9142570" cy="6856391"/>
          </a:xfrm>
          <a:prstGeom prst="rect">
            <a:avLst/>
          </a:prstGeom>
        </p:spPr>
      </p:pic>
      <p:sp>
        <p:nvSpPr>
          <p:cNvPr id="4" name="Title Placeholder 1">
            <a:extLst>
              <a:ext uri="{FF2B5EF4-FFF2-40B4-BE49-F238E27FC236}">
                <a16:creationId xmlns:a16="http://schemas.microsoft.com/office/drawing/2014/main" id="{04403AFC-BAD3-6842-84A1-706291FF1B09}"/>
              </a:ext>
            </a:extLst>
          </p:cNvPr>
          <p:cNvSpPr txBox="1">
            <a:spLocks/>
          </p:cNvSpPr>
          <p:nvPr userDrawn="1"/>
        </p:nvSpPr>
        <p:spPr>
          <a:xfrm>
            <a:off x="515438" y="81797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Click to edit Master title style</a:t>
            </a:r>
          </a:p>
        </p:txBody>
      </p:sp>
      <p:sp>
        <p:nvSpPr>
          <p:cNvPr id="5" name="Text Placeholder 2">
            <a:extLst>
              <a:ext uri="{FF2B5EF4-FFF2-40B4-BE49-F238E27FC236}">
                <a16:creationId xmlns:a16="http://schemas.microsoft.com/office/drawing/2014/main" id="{88E6AF9C-A5C0-3B4D-AE1C-1AB44F07258F}"/>
              </a:ext>
            </a:extLst>
          </p:cNvPr>
          <p:cNvSpPr>
            <a:spLocks noGrp="1"/>
          </p:cNvSpPr>
          <p:nvPr>
            <p:ph idx="1"/>
          </p:nvPr>
        </p:nvSpPr>
        <p:spPr>
          <a:xfrm>
            <a:off x="628650" y="1924413"/>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9990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Statistical analysis Presentation - PP24589</a:t>
            </a:r>
          </a:p>
        </p:txBody>
      </p:sp>
      <p:sp>
        <p:nvSpPr>
          <p:cNvPr id="6" name="Slide Number Placeholder 5"/>
          <p:cNvSpPr>
            <a:spLocks noGrp="1"/>
          </p:cNvSpPr>
          <p:nvPr>
            <p:ph type="sldNum" sz="quarter" idx="12"/>
          </p:nvPr>
        </p:nvSpPr>
        <p:spPr/>
        <p:txBody>
          <a:bodyPr/>
          <a:lstStyle/>
          <a:p>
            <a:fld id="{35811D78-A4CE-4E8D-8E38-CF9315FA1603}"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718844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442E2965-B75C-DEB4-7D32-17FA582F54F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8F745B4-25BB-E73F-BDDE-EAD45F9B3A82}"/>
              </a:ext>
            </a:extLst>
          </p:cNvPr>
          <p:cNvSpPr>
            <a:spLocks noGrp="1" noChangeArrowheads="1"/>
          </p:cNvSpPr>
          <p:nvPr>
            <p:ph type="ftr" sz="quarter" idx="11"/>
          </p:nvPr>
        </p:nvSpPr>
        <p:spPr>
          <a:ln/>
        </p:spPr>
        <p:txBody>
          <a:bodyPr/>
          <a:lstStyle>
            <a:lvl1pPr>
              <a:defRPr/>
            </a:lvl1pPr>
          </a:lstStyle>
          <a:p>
            <a:pPr>
              <a:defRPr/>
            </a:pPr>
            <a:r>
              <a:rPr lang="en-US"/>
              <a:t>Statistical analysis Presentation - PP24589</a:t>
            </a:r>
          </a:p>
        </p:txBody>
      </p:sp>
      <p:sp>
        <p:nvSpPr>
          <p:cNvPr id="5" name="Rectangle 6">
            <a:extLst>
              <a:ext uri="{FF2B5EF4-FFF2-40B4-BE49-F238E27FC236}">
                <a16:creationId xmlns:a16="http://schemas.microsoft.com/office/drawing/2014/main" id="{ECD87FDD-C385-EDB2-F52A-4D5B201B14BF}"/>
              </a:ext>
            </a:extLst>
          </p:cNvPr>
          <p:cNvSpPr>
            <a:spLocks noGrp="1" noChangeArrowheads="1"/>
          </p:cNvSpPr>
          <p:nvPr>
            <p:ph type="sldNum" sz="quarter" idx="12"/>
          </p:nvPr>
        </p:nvSpPr>
        <p:spPr>
          <a:ln/>
        </p:spPr>
        <p:txBody>
          <a:bodyPr/>
          <a:lstStyle>
            <a:lvl1pPr>
              <a:defRPr/>
            </a:lvl1pPr>
          </a:lstStyle>
          <a:p>
            <a:fld id="{DF35FA02-3CF5-E143-B23D-405388B8D993}" type="slidenum">
              <a:rPr lang="en-US" altLang="en-US"/>
              <a:pPr/>
              <a:t>‹#›</a:t>
            </a:fld>
            <a:endParaRPr lang="en-US" altLang="en-US"/>
          </a:p>
        </p:txBody>
      </p:sp>
    </p:spTree>
    <p:extLst>
      <p:ext uri="{BB962C8B-B14F-4D97-AF65-F5344CB8AC3E}">
        <p14:creationId xmlns:p14="http://schemas.microsoft.com/office/powerpoint/2010/main" val="2406883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11"/>
        <p:cNvGrpSpPr/>
        <p:nvPr/>
      </p:nvGrpSpPr>
      <p:grpSpPr>
        <a:xfrm>
          <a:off x="0" y="0"/>
          <a:ext cx="0" cy="0"/>
          <a:chOff x="0" y="0"/>
          <a:chExt cx="0" cy="0"/>
        </a:xfrm>
      </p:grpSpPr>
      <p:sp>
        <p:nvSpPr>
          <p:cNvPr id="12" name="Google Shape;12;p3"/>
          <p:cNvSpPr txBox="1">
            <a:spLocks noGrp="1"/>
          </p:cNvSpPr>
          <p:nvPr>
            <p:ph type="body" idx="1"/>
          </p:nvPr>
        </p:nvSpPr>
        <p:spPr>
          <a:xfrm>
            <a:off x="615137" y="1045411"/>
            <a:ext cx="7758113" cy="246221"/>
          </a:xfrm>
          <a:prstGeom prst="rect">
            <a:avLst/>
          </a:prstGeom>
          <a:noFill/>
          <a:ln>
            <a:noFill/>
          </a:ln>
        </p:spPr>
        <p:txBody>
          <a:bodyPr spcFirstLastPara="1" wrap="square" lIns="0" tIns="0" rIns="0" bIns="0" anchor="t" anchorCtr="0"/>
          <a:lstStyle>
            <a:lvl1pPr marL="171446" marR="0" lvl="0" indent="-85723" algn="l" rtl="0">
              <a:lnSpc>
                <a:spcPct val="100000"/>
              </a:lnSpc>
              <a:spcBef>
                <a:spcPts val="0"/>
              </a:spcBef>
              <a:spcAft>
                <a:spcPts val="0"/>
              </a:spcAft>
              <a:buClr>
                <a:schemeClr val="dk2"/>
              </a:buClr>
              <a:buSzPts val="3200"/>
              <a:buFont typeface="Arial"/>
              <a:buNone/>
              <a:defRPr sz="1350" b="0" i="0" u="none" strike="noStrike" cap="none">
                <a:solidFill>
                  <a:schemeClr val="dk2"/>
                </a:solidFill>
                <a:latin typeface="Montserrat Medium" panose="00000600000000000000" pitchFamily="50" charset="0"/>
                <a:ea typeface="Montserrat Medium" panose="00000600000000000000" pitchFamily="50" charset="0"/>
                <a:cs typeface="Montserrat Medium" panose="00000600000000000000" pitchFamily="50" charset="0"/>
                <a:sym typeface="Lato Light"/>
              </a:defRPr>
            </a:lvl1pPr>
            <a:lvl2pPr marL="342892" marR="0" lvl="1"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2pPr>
            <a:lvl3pPr marL="514337" marR="0" lvl="2"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3pPr>
            <a:lvl4pPr marL="685783" marR="0" lvl="3"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4pPr>
            <a:lvl5pPr marL="857228" marR="0" lvl="4"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5pPr>
            <a:lvl6pPr marL="1028675" marR="0" lvl="5"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6pPr>
            <a:lvl7pPr marL="1200120" marR="0" lvl="6"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7pPr>
            <a:lvl8pPr marL="1371566" marR="0" lvl="7"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8pPr>
            <a:lvl9pPr marL="1543012" marR="0" lvl="8"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9pPr>
          </a:lstStyle>
          <a:p>
            <a:endParaRPr dirty="0"/>
          </a:p>
        </p:txBody>
      </p:sp>
      <p:sp>
        <p:nvSpPr>
          <p:cNvPr id="14" name="Google Shape;14;p3"/>
          <p:cNvSpPr txBox="1">
            <a:spLocks noGrp="1"/>
          </p:cNvSpPr>
          <p:nvPr>
            <p:ph type="title"/>
          </p:nvPr>
        </p:nvSpPr>
        <p:spPr>
          <a:xfrm>
            <a:off x="615137" y="361951"/>
            <a:ext cx="7758113" cy="677108"/>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chemeClr val="dk2"/>
              </a:buClr>
              <a:buSzPts val="8800"/>
              <a:buFont typeface="Lato"/>
              <a:buNone/>
              <a:defRPr sz="3300" b="1" i="0" u="none" strike="noStrike" cap="none">
                <a:solidFill>
                  <a:schemeClr val="dk2"/>
                </a:solidFill>
                <a:latin typeface="Montserrat" panose="02000505000000020004" pitchFamily="2" charset="0"/>
                <a:ea typeface="Montserrat" panose="02000505000000020004" pitchFamily="2" charset="0"/>
                <a:cs typeface="Montserrat" panose="02000505000000020004" pitchFamily="2" charset="0"/>
                <a:sym typeface="Lato"/>
              </a:defRPr>
            </a:lvl1pPr>
            <a:lvl2pPr lvl="1">
              <a:spcBef>
                <a:spcPts val="0"/>
              </a:spcBef>
              <a:spcAft>
                <a:spcPts val="0"/>
              </a:spcAft>
              <a:buSzPts val="1400"/>
              <a:buNone/>
              <a:defRPr sz="675"/>
            </a:lvl2pPr>
            <a:lvl3pPr lvl="2">
              <a:spcBef>
                <a:spcPts val="0"/>
              </a:spcBef>
              <a:spcAft>
                <a:spcPts val="0"/>
              </a:spcAft>
              <a:buSzPts val="1400"/>
              <a:buNone/>
              <a:defRPr sz="675"/>
            </a:lvl3pPr>
            <a:lvl4pPr lvl="3">
              <a:spcBef>
                <a:spcPts val="0"/>
              </a:spcBef>
              <a:spcAft>
                <a:spcPts val="0"/>
              </a:spcAft>
              <a:buSzPts val="1400"/>
              <a:buNone/>
              <a:defRPr sz="675"/>
            </a:lvl4pPr>
            <a:lvl5pPr lvl="4">
              <a:spcBef>
                <a:spcPts val="0"/>
              </a:spcBef>
              <a:spcAft>
                <a:spcPts val="0"/>
              </a:spcAft>
              <a:buSzPts val="1400"/>
              <a:buNone/>
              <a:defRPr sz="675"/>
            </a:lvl5pPr>
            <a:lvl6pPr lvl="5">
              <a:spcBef>
                <a:spcPts val="0"/>
              </a:spcBef>
              <a:spcAft>
                <a:spcPts val="0"/>
              </a:spcAft>
              <a:buSzPts val="1400"/>
              <a:buNone/>
              <a:defRPr sz="675"/>
            </a:lvl6pPr>
            <a:lvl7pPr lvl="6">
              <a:spcBef>
                <a:spcPts val="0"/>
              </a:spcBef>
              <a:spcAft>
                <a:spcPts val="0"/>
              </a:spcAft>
              <a:buSzPts val="1400"/>
              <a:buNone/>
              <a:defRPr sz="675"/>
            </a:lvl7pPr>
            <a:lvl8pPr lvl="7">
              <a:spcBef>
                <a:spcPts val="0"/>
              </a:spcBef>
              <a:spcAft>
                <a:spcPts val="0"/>
              </a:spcAft>
              <a:buSzPts val="1400"/>
              <a:buNone/>
              <a:defRPr sz="675"/>
            </a:lvl8pPr>
            <a:lvl9pPr lvl="8">
              <a:spcBef>
                <a:spcPts val="0"/>
              </a:spcBef>
              <a:spcAft>
                <a:spcPts val="0"/>
              </a:spcAft>
              <a:buSzPts val="1400"/>
              <a:buNone/>
              <a:defRPr sz="675"/>
            </a:lvl9pPr>
          </a:lstStyle>
          <a:p>
            <a:endParaRPr dirty="0"/>
          </a:p>
        </p:txBody>
      </p:sp>
      <p:cxnSp>
        <p:nvCxnSpPr>
          <p:cNvPr id="15" name="Google Shape;15;p3"/>
          <p:cNvCxnSpPr/>
          <p:nvPr/>
        </p:nvCxnSpPr>
        <p:spPr>
          <a:xfrm>
            <a:off x="503930" y="457204"/>
            <a:ext cx="0" cy="809807"/>
          </a:xfrm>
          <a:prstGeom prst="straightConnector1">
            <a:avLst/>
          </a:prstGeom>
          <a:noFill/>
          <a:ln w="88900" cap="flat" cmpd="sng">
            <a:solidFill>
              <a:schemeClr val="accent2"/>
            </a:solidFill>
            <a:prstDash val="solid"/>
            <a:miter lim="800000"/>
            <a:headEnd type="none" w="sm" len="sm"/>
            <a:tailEnd type="none" w="sm" len="sm"/>
          </a:ln>
        </p:spPr>
      </p:cxn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88032" b="-1"/>
          <a:stretch/>
        </p:blipFill>
        <p:spPr>
          <a:xfrm>
            <a:off x="0" y="6052931"/>
            <a:ext cx="9144000" cy="805070"/>
          </a:xfrm>
          <a:prstGeom prst="rect">
            <a:avLst/>
          </a:prstGeom>
        </p:spPr>
      </p:pic>
    </p:spTree>
    <p:extLst>
      <p:ext uri="{BB962C8B-B14F-4D97-AF65-F5344CB8AC3E}">
        <p14:creationId xmlns:p14="http://schemas.microsoft.com/office/powerpoint/2010/main" val="445649923"/>
      </p:ext>
    </p:extLst>
  </p:cSld>
  <p:clrMapOvr>
    <a:masterClrMapping/>
  </p:clrMapOvr>
  <p:extLst>
    <p:ext uri="{DCECCB84-F9BA-43D5-87BE-67443E8EF086}">
      <p15:sldGuideLst xmlns:p15="http://schemas.microsoft.com/office/powerpoint/2012/main">
        <p15:guide id="1" pos="528">
          <p15:clr>
            <a:srgbClr val="FBAE40"/>
          </p15:clr>
        </p15:guide>
        <p15:guide id="2" pos="7152">
          <p15:clr>
            <a:srgbClr val="FBAE40"/>
          </p15:clr>
        </p15:guide>
        <p15:guide id="3" orient="horz" pos="4032">
          <p15:clr>
            <a:srgbClr val="FBAE40"/>
          </p15:clr>
        </p15:guide>
        <p15:guide id="4" orient="horz" pos="28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654782"/>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66" r:id="rId3"/>
    <p:sldLayoutId id="2147483667" r:id="rId4"/>
    <p:sldLayoutId id="2147483669" r:id="rId5"/>
    <p:sldLayoutId id="2147483670"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9"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7433A97-FCB8-7341-A18D-D171B3A5AD4E}"/>
              </a:ext>
            </a:extLst>
          </p:cNvPr>
          <p:cNvSpPr txBox="1">
            <a:spLocks/>
          </p:cNvSpPr>
          <p:nvPr/>
        </p:nvSpPr>
        <p:spPr>
          <a:xfrm>
            <a:off x="598011" y="4821240"/>
            <a:ext cx="7772400" cy="649696"/>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6000" kern="1200">
                <a:solidFill>
                  <a:schemeClr val="accent6">
                    <a:lumMod val="50000"/>
                  </a:schemeClr>
                </a:solidFill>
                <a:latin typeface="Arial" panose="020B0604020202020204" pitchFamily="34" charset="0"/>
                <a:ea typeface="+mn-ea"/>
                <a:cs typeface="Arial" panose="020B0604020202020204" pitchFamily="34" charset="0"/>
              </a:defRPr>
            </a:lvl1pPr>
            <a:lvl2pPr marL="457200" indent="0" algn="ctr" defTabSz="457200" rtl="0" eaLnBrk="1" latinLnBrk="0" hangingPunct="1">
              <a:spcBef>
                <a:spcPct val="20000"/>
              </a:spcBef>
              <a:buFont typeface="Arial"/>
              <a:buNone/>
              <a:defRPr sz="28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457200" rtl="0" eaLnBrk="1" latinLnBrk="0" hangingPunct="1">
              <a:spcBef>
                <a:spcPct val="20000"/>
              </a:spcBef>
              <a:buFont typeface="Arial"/>
              <a:buNone/>
              <a:defRPr sz="24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GB" sz="2000" dirty="0">
                <a:solidFill>
                  <a:schemeClr val="bg1"/>
                </a:solidFill>
              </a:rPr>
              <a:t>PP</a:t>
            </a:r>
            <a:r>
              <a:rPr kumimoji="0" lang="en-GB" sz="2000" b="0" i="0" u="none" strike="noStrike" kern="1200" cap="none" spc="0" normalizeH="0" baseline="0" noProof="0" dirty="0">
                <a:ln>
                  <a:noFill/>
                </a:ln>
                <a:solidFill>
                  <a:schemeClr val="bg1"/>
                </a:solidFill>
                <a:effectLst/>
                <a:uLnTx/>
                <a:uFillTx/>
              </a:rPr>
              <a:t>24589</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lang="en-GB" sz="2000" dirty="0">
                <a:solidFill>
                  <a:schemeClr val="bg1"/>
                </a:solidFill>
              </a:rPr>
              <a:t>August 2026</a:t>
            </a:r>
            <a:endParaRPr kumimoji="0" lang="en-GB" sz="2000" b="0" i="0" u="none" strike="noStrike" kern="1200" cap="none" spc="0" normalizeH="0" baseline="0" noProof="0" dirty="0">
              <a:ln>
                <a:noFill/>
              </a:ln>
              <a:solidFill>
                <a:schemeClr val="bg1"/>
              </a:solidFill>
              <a:effectLst/>
              <a:uLnTx/>
              <a:uFillTx/>
            </a:endParaRPr>
          </a:p>
        </p:txBody>
      </p:sp>
      <p:sp>
        <p:nvSpPr>
          <p:cNvPr id="4" name="TextBox 3">
            <a:extLst>
              <a:ext uri="{FF2B5EF4-FFF2-40B4-BE49-F238E27FC236}">
                <a16:creationId xmlns:a16="http://schemas.microsoft.com/office/drawing/2014/main" id="{5455B212-23F3-0942-89E4-2FB419A91ED9}"/>
              </a:ext>
            </a:extLst>
          </p:cNvPr>
          <p:cNvSpPr txBox="1"/>
          <p:nvPr/>
        </p:nvSpPr>
        <p:spPr>
          <a:xfrm>
            <a:off x="2412274" y="3248297"/>
            <a:ext cx="184731" cy="369332"/>
          </a:xfrm>
          <a:prstGeom prst="rect">
            <a:avLst/>
          </a:prstGeom>
          <a:noFill/>
        </p:spPr>
        <p:txBody>
          <a:bodyPr wrap="none" rtlCol="0">
            <a:spAutoFit/>
          </a:bodyPr>
          <a:lstStyle/>
          <a:p>
            <a:endParaRPr lang="en-US"/>
          </a:p>
        </p:txBody>
      </p:sp>
      <p:sp>
        <p:nvSpPr>
          <p:cNvPr id="5" name="TextBox 4"/>
          <p:cNvSpPr txBox="1"/>
          <p:nvPr/>
        </p:nvSpPr>
        <p:spPr>
          <a:xfrm>
            <a:off x="685800" y="1874519"/>
            <a:ext cx="7772400" cy="1737360"/>
          </a:xfrm>
          <a:prstGeom prst="rect">
            <a:avLst/>
          </a:prstGeom>
          <a:noFill/>
        </p:spPr>
        <p:txBody>
          <a:bodyPr wrap="square" lIns="0" tIns="0" rIns="0" bIns="0" anchor="t">
            <a:spAutoFit/>
          </a:bodyPr>
          <a:lstStyle/>
          <a:p>
            <a:pPr>
              <a:spcAft>
                <a:spcPts val="1000"/>
              </a:spcAft>
            </a:pPr>
            <a:r>
              <a:rPr sz="2800" b="1" i="0">
                <a:solidFill>
                  <a:srgbClr val="FFFFFF"/>
                </a:solidFill>
                <a:latin typeface="Calibri Light"/>
              </a:rPr>
              <a:t>Economic Crisis Prediction: Early Warning Systems for Banking Crises</a:t>
            </a:r>
          </a:p>
          <a:p>
            <a:pPr>
              <a:spcAft>
                <a:spcPts val="600"/>
              </a:spcAft>
            </a:pPr>
            <a:r>
              <a:rPr sz="1700" b="0" i="1">
                <a:solidFill>
                  <a:srgbClr val="EFE3F7"/>
                </a:solidFill>
                <a:latin typeface="Calibri"/>
              </a:rPr>
              <a:t>Evaluating the Interpretability–Performance Trade-off Under Structural Non-Stationarity</a:t>
            </a:r>
          </a:p>
        </p:txBody>
      </p:sp>
      <p:sp>
        <p:nvSpPr>
          <p:cNvPr id="6" name="TextBox 5"/>
          <p:cNvSpPr txBox="1"/>
          <p:nvPr/>
        </p:nvSpPr>
        <p:spPr>
          <a:xfrm>
            <a:off x="685800" y="3977639"/>
            <a:ext cx="7772400" cy="731520"/>
          </a:xfrm>
          <a:prstGeom prst="rect">
            <a:avLst/>
          </a:prstGeom>
          <a:noFill/>
        </p:spPr>
        <p:txBody>
          <a:bodyPr wrap="square" lIns="0" tIns="0" rIns="0" bIns="0" anchor="t">
            <a:spAutoFit/>
          </a:bodyPr>
          <a:lstStyle/>
          <a:p>
            <a:pPr>
              <a:spcAft>
                <a:spcPts val="200"/>
              </a:spcAft>
            </a:pPr>
            <a:r>
              <a:rPr sz="1600" b="1" i="0">
                <a:solidFill>
                  <a:srgbClr val="FFFFFF"/>
                </a:solidFill>
                <a:latin typeface="Calibri"/>
              </a:rPr>
              <a:t>Pavlos Papachristos</a:t>
            </a:r>
          </a:p>
          <a:p>
            <a:pPr>
              <a:spcAft>
                <a:spcPts val="600"/>
              </a:spcAft>
            </a:pPr>
            <a:r>
              <a:rPr sz="1250" b="0" i="0">
                <a:solidFill>
                  <a:srgbClr val="E8DCF2"/>
                </a:solidFill>
                <a:latin typeface="Calibri"/>
              </a:rPr>
              <a:t>MSc Artificial Intelligence · Supervisor: Dr Steph Paladini</a:t>
            </a:r>
          </a:p>
        </p:txBody>
      </p:sp>
    </p:spTree>
    <p:extLst>
      <p:ext uri="{BB962C8B-B14F-4D97-AF65-F5344CB8AC3E}">
        <p14:creationId xmlns:p14="http://schemas.microsoft.com/office/powerpoint/2010/main" val="2243093750"/>
      </p:ext>
    </p:extLst>
  </p:cSld>
  <p:clrMapOvr>
    <a:masterClrMapping/>
  </p:clrMapOvr>
  <mc:AlternateContent xmlns:mc="http://schemas.openxmlformats.org/markup-compatibility/2006" xmlns:p14="http://schemas.microsoft.com/office/powerpoint/2010/main">
    <mc:Choice Requires="p14">
      <p:transition spd="slow" p14:dur="2000" advTm="19232"/>
    </mc:Choice>
    <mc:Fallback xmlns="">
      <p:transition spd="slow" advTm="1923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534C-BF88-E541-B4DF-559ACD9C5196}"/>
              </a:ext>
            </a:extLst>
          </p:cNvPr>
          <p:cNvSpPr txBox="1">
            <a:spLocks/>
          </p:cNvSpPr>
          <p:nvPr/>
        </p:nvSpPr>
        <p:spPr>
          <a:xfrm>
            <a:off x="175886" y="1171154"/>
            <a:ext cx="7422778" cy="63021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solidFill>
                  <a:schemeClr val="bg1"/>
                </a:solidFill>
                <a:latin typeface="Arial" panose="020B0604020202020204" pitchFamily="34" charset="0"/>
                <a:cs typeface="Arial" panose="020B0604020202020204" pitchFamily="34" charset="0"/>
              </a:rPr>
              <a:t>Contents</a:t>
            </a:r>
          </a:p>
        </p:txBody>
      </p:sp>
      <p:sp>
        <p:nvSpPr>
          <p:cNvPr id="5" name="TextBox 4">
            <a:extLst>
              <a:ext uri="{FF2B5EF4-FFF2-40B4-BE49-F238E27FC236}">
                <a16:creationId xmlns:a16="http://schemas.microsoft.com/office/drawing/2014/main" id="{1BFD150D-4E4F-CBDB-FC0E-F112ADEDA601}"/>
              </a:ext>
            </a:extLst>
          </p:cNvPr>
          <p:cNvSpPr txBox="1"/>
          <p:nvPr/>
        </p:nvSpPr>
        <p:spPr>
          <a:xfrm>
            <a:off x="8810625" y="6552798"/>
            <a:ext cx="333375" cy="261610"/>
          </a:xfrm>
          <a:prstGeom prst="rect">
            <a:avLst/>
          </a:prstGeom>
          <a:noFill/>
        </p:spPr>
        <p:txBody>
          <a:bodyPr wrap="square" rtlCol="0">
            <a:spAutoFit/>
          </a:bodyPr>
          <a:lstStyle/>
          <a:p>
            <a:r>
              <a:rPr lang="en-GB" sz="1100" dirty="0"/>
              <a:t>1</a:t>
            </a:r>
          </a:p>
        </p:txBody>
      </p:sp>
      <p:sp>
        <p:nvSpPr>
          <p:cNvPr id="6" name="TextBox 5"/>
          <p:cNvSpPr txBox="1"/>
          <p:nvPr/>
        </p:nvSpPr>
        <p:spPr>
          <a:xfrm>
            <a:off x="411480" y="1965960"/>
            <a:ext cx="8229600" cy="4206240"/>
          </a:xfrm>
          <a:prstGeom prst="rect">
            <a:avLst/>
          </a:prstGeom>
          <a:noFill/>
        </p:spPr>
        <p:txBody>
          <a:bodyPr wrap="square" lIns="0" tIns="0" rIns="0" bIns="0" anchor="t">
            <a:spAutoFit/>
          </a:bodyPr>
          <a:lstStyle/>
          <a:p>
            <a:pPr>
              <a:spcAft>
                <a:spcPts val="1000"/>
              </a:spcAft>
            </a:pPr>
            <a:r>
              <a:rPr sz="1450" b="1" i="0">
                <a:solidFill>
                  <a:srgbClr val="002060"/>
                </a:solidFill>
                <a:latin typeface="Calibri"/>
              </a:rPr>
              <a:t>1.  Introduction  </a:t>
            </a:r>
            <a:r>
              <a:rPr sz="1450" b="0" i="0">
                <a:solidFill>
                  <a:srgbClr val="5A6B85"/>
                </a:solidFill>
                <a:latin typeface="Calibri"/>
              </a:rPr>
              <a:t>—  Research question and hypotheses (H1–H3)</a:t>
            </a:r>
          </a:p>
          <a:p>
            <a:pPr>
              <a:spcAft>
                <a:spcPts val="1000"/>
              </a:spcAft>
            </a:pPr>
            <a:r>
              <a:rPr sz="1450" b="1" i="0">
                <a:solidFill>
                  <a:srgbClr val="002060"/>
                </a:solidFill>
                <a:latin typeface="Calibri"/>
              </a:rPr>
              <a:t>2.  Methodology  </a:t>
            </a:r>
            <a:r>
              <a:rPr sz="1450" b="0" i="0">
                <a:solidFill>
                  <a:srgbClr val="5A6B85"/>
                </a:solidFill>
                <a:latin typeface="Calibri"/>
              </a:rPr>
              <a:t>—  Data, four model classes, two-stage evaluation design</a:t>
            </a:r>
          </a:p>
          <a:p>
            <a:pPr>
              <a:spcAft>
                <a:spcPts val="1000"/>
              </a:spcAft>
            </a:pPr>
            <a:r>
              <a:rPr sz="1450" b="1" i="0">
                <a:solidFill>
                  <a:srgbClr val="002060"/>
                </a:solidFill>
                <a:latin typeface="Calibri"/>
              </a:rPr>
              <a:t>3.  Results — Discrimination  </a:t>
            </a:r>
            <a:r>
              <a:rPr sz="1450" b="0" i="0">
                <a:solidFill>
                  <a:srgbClr val="5A6B85"/>
                </a:solidFill>
                <a:latin typeface="Calibri"/>
              </a:rPr>
              <a:t>—  Stage 1 and Stage 2 performance; ROC/PR; 2007 country ranking</a:t>
            </a:r>
          </a:p>
          <a:p>
            <a:pPr>
              <a:spcAft>
                <a:spcPts val="1000"/>
              </a:spcAft>
            </a:pPr>
            <a:r>
              <a:rPr sz="1450" b="1" i="0">
                <a:solidFill>
                  <a:srgbClr val="002060"/>
                </a:solidFill>
                <a:latin typeface="Calibri"/>
              </a:rPr>
              <a:t>4.  Results — Sentiment (H1)  </a:t>
            </a:r>
            <a:r>
              <a:rPr sz="1450" b="0" i="0">
                <a:solidFill>
                  <a:srgbClr val="5A6B85"/>
                </a:solidFill>
                <a:latin typeface="Calibri"/>
              </a:rPr>
              <a:t>—  matched pairwise decomposition: algorithm effect vs sentiment effect</a:t>
            </a:r>
          </a:p>
          <a:p>
            <a:pPr>
              <a:spcAft>
                <a:spcPts val="1000"/>
              </a:spcAft>
            </a:pPr>
            <a:r>
              <a:rPr sz="1450" b="1" i="0">
                <a:solidFill>
                  <a:srgbClr val="002060"/>
                </a:solidFill>
                <a:latin typeface="Calibri"/>
              </a:rPr>
              <a:t>5.  Results — Mechanism &amp; Training-Window Instability  </a:t>
            </a:r>
            <a:r>
              <a:rPr sz="1450" b="0" i="0">
                <a:solidFill>
                  <a:srgbClr val="5A6B85"/>
                </a:solidFill>
                <a:latin typeface="Calibri"/>
              </a:rPr>
              <a:t>—  EBM shape functions and regime instability</a:t>
            </a:r>
          </a:p>
          <a:p>
            <a:pPr>
              <a:spcAft>
                <a:spcPts val="1000"/>
              </a:spcAft>
            </a:pPr>
            <a:r>
              <a:rPr sz="1450" b="1" i="0">
                <a:solidFill>
                  <a:srgbClr val="002060"/>
                </a:solidFill>
                <a:latin typeface="Calibri"/>
              </a:rPr>
              <a:t>6.  Results — Strict Prospective Validation  </a:t>
            </a:r>
            <a:r>
              <a:rPr sz="1450" b="0" i="0">
                <a:solidFill>
                  <a:srgbClr val="5A6B85"/>
                </a:solidFill>
                <a:latin typeface="Calibri"/>
              </a:rPr>
              <a:t>—  Strict temporal splits; structural break evidence</a:t>
            </a:r>
          </a:p>
          <a:p>
            <a:pPr>
              <a:spcAft>
                <a:spcPts val="1000"/>
              </a:spcAft>
            </a:pPr>
            <a:r>
              <a:rPr sz="1450" b="1" i="0">
                <a:solidFill>
                  <a:srgbClr val="002060"/>
                </a:solidFill>
                <a:latin typeface="Calibri"/>
              </a:rPr>
              <a:t>7.  Results — Robustness  </a:t>
            </a:r>
            <a:r>
              <a:rPr sz="1450" b="0" i="0">
                <a:solidFill>
                  <a:srgbClr val="5A6B85"/>
                </a:solidFill>
                <a:latin typeface="Calibri"/>
              </a:rPr>
              <a:t>—  Multiple-testing correction, LOCO, hyperparameter sweep</a:t>
            </a:r>
          </a:p>
          <a:p>
            <a:pPr>
              <a:spcAft>
                <a:spcPts val="1000"/>
              </a:spcAft>
            </a:pPr>
            <a:r>
              <a:rPr sz="1450" b="1" i="0">
                <a:solidFill>
                  <a:srgbClr val="002060"/>
                </a:solidFill>
                <a:latin typeface="Calibri"/>
              </a:rPr>
              <a:t>8.  Conclusions  </a:t>
            </a:r>
            <a:r>
              <a:rPr sz="1450" b="0" i="0">
                <a:solidFill>
                  <a:srgbClr val="5A6B85"/>
                </a:solidFill>
                <a:latin typeface="Calibri"/>
              </a:rPr>
              <a:t>—  Central thesis, recommendations, limitations and future work</a:t>
            </a:r>
          </a:p>
        </p:txBody>
      </p:sp>
    </p:spTree>
    <p:extLst>
      <p:ext uri="{BB962C8B-B14F-4D97-AF65-F5344CB8AC3E}">
        <p14:creationId xmlns:p14="http://schemas.microsoft.com/office/powerpoint/2010/main" val="1393362260"/>
      </p:ext>
    </p:extLst>
  </p:cSld>
  <p:clrMapOvr>
    <a:masterClrMapping/>
  </p:clrMapOvr>
  <mc:AlternateContent xmlns:mc="http://schemas.openxmlformats.org/markup-compatibility/2006" xmlns:p14="http://schemas.microsoft.com/office/powerpoint/2010/main">
    <mc:Choice Requires="p14">
      <p:transition spd="slow" p14:dur="2000" advTm="37039"/>
    </mc:Choice>
    <mc:Fallback xmlns="">
      <p:transition spd="slow" advTm="3703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AD37A6-8172-48D3-0784-1AE5696421C1}"/>
              </a:ext>
            </a:extLst>
          </p:cNvPr>
          <p:cNvSpPr txBox="1"/>
          <p:nvPr/>
        </p:nvSpPr>
        <p:spPr>
          <a:xfrm>
            <a:off x="1801639" y="662685"/>
            <a:ext cx="7238325" cy="369332"/>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defPPr>
              <a:defRPr lang="en-US"/>
            </a:defPPr>
            <a:lvl1pPr algn="ctr">
              <a:defRPr sz="1400" b="1">
                <a:solidFill>
                  <a:srgbClr val="FFFFFF"/>
                </a:solidFill>
                <a:latin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Introduction</a:t>
            </a:r>
            <a:endParaRPr lang="en-US" dirty="0"/>
          </a:p>
        </p:txBody>
      </p:sp>
      <p:sp>
        <p:nvSpPr>
          <p:cNvPr id="6" name="TextBox 5">
            <a:extLst>
              <a:ext uri="{FF2B5EF4-FFF2-40B4-BE49-F238E27FC236}">
                <a16:creationId xmlns:a16="http://schemas.microsoft.com/office/drawing/2014/main" id="{FA86AE90-F72E-B4E4-C1B1-E607C3DFE347}"/>
              </a:ext>
            </a:extLst>
          </p:cNvPr>
          <p:cNvSpPr txBox="1"/>
          <p:nvPr/>
        </p:nvSpPr>
        <p:spPr>
          <a:xfrm>
            <a:off x="8760743" y="6538972"/>
            <a:ext cx="333375" cy="261610"/>
          </a:xfrm>
          <a:prstGeom prst="rect">
            <a:avLst/>
          </a:prstGeom>
          <a:noFill/>
        </p:spPr>
        <p:txBody>
          <a:bodyPr wrap="square" rtlCol="0">
            <a:spAutoFit/>
          </a:bodyPr>
          <a:lstStyle/>
          <a:p>
            <a:r>
              <a:rPr lang="en-GB" sz="1100" dirty="0"/>
              <a:t>2</a:t>
            </a:r>
          </a:p>
        </p:txBody>
      </p:sp>
      <p:sp>
        <p:nvSpPr>
          <p:cNvPr id="7" name="TextBox 6"/>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Research Question and Hypotheses</a:t>
            </a:r>
          </a:p>
        </p:txBody>
      </p:sp>
      <p:sp>
        <p:nvSpPr>
          <p:cNvPr id="8" name="TextBox 7"/>
          <p:cNvSpPr txBox="1"/>
          <p:nvPr/>
        </p:nvSpPr>
        <p:spPr>
          <a:xfrm>
            <a:off x="411480" y="2468880"/>
            <a:ext cx="8321040" cy="1826141"/>
          </a:xfrm>
          <a:prstGeom prst="rect">
            <a:avLst/>
          </a:prstGeom>
          <a:noFill/>
        </p:spPr>
        <p:txBody>
          <a:bodyPr wrap="square" lIns="0" tIns="0" rIns="0" bIns="0" anchor="t">
            <a:spAutoFit/>
          </a:bodyPr>
          <a:lstStyle/>
          <a:p>
            <a:pPr>
              <a:spcAft>
                <a:spcPts val="800"/>
              </a:spcAft>
            </a:pPr>
            <a:r>
              <a:rPr sz="1400" b="1" i="0" dirty="0">
                <a:solidFill>
                  <a:srgbClr val="002060"/>
                </a:solidFill>
                <a:latin typeface="Calibri"/>
              </a:rPr>
              <a:t>The core problem: </a:t>
            </a:r>
            <a:r>
              <a:rPr lang="en-GB" sz="1400" dirty="0"/>
              <a:t>Models credited with predicting a crisis have usually already learned from that era. Tested under strictly forward-looking conditions, performance collapses — is the fix more data, a better model, or the framework itself?</a:t>
            </a:r>
          </a:p>
          <a:p>
            <a:pPr>
              <a:spcAft>
                <a:spcPts val="800"/>
              </a:spcAft>
            </a:pPr>
            <a:r>
              <a:rPr sz="1400" b="1" dirty="0">
                <a:solidFill>
                  <a:srgbClr val="002060"/>
                </a:solidFill>
                <a:latin typeface="Calibri"/>
              </a:rPr>
              <a:t>Research question </a:t>
            </a:r>
            <a:r>
              <a:rPr sz="1400" dirty="0"/>
              <a:t>(gap: Beutel, List &amp; von </a:t>
            </a:r>
            <a:r>
              <a:rPr sz="1400" dirty="0" err="1"/>
              <a:t>Schweinitz</a:t>
            </a:r>
            <a:r>
              <a:rPr sz="1400" dirty="0"/>
              <a:t>, 2019): under what structural conditions do ML-based early-warning systems fail to deliver genuinely prospective performance — and why does a model trained on one crisis era fail when the next, structurally different one arrives?</a:t>
            </a:r>
          </a:p>
        </p:txBody>
      </p:sp>
      <p:sp>
        <p:nvSpPr>
          <p:cNvPr id="9" name="TextBox 8"/>
          <p:cNvSpPr txBox="1"/>
          <p:nvPr/>
        </p:nvSpPr>
        <p:spPr>
          <a:xfrm>
            <a:off x="411480" y="4395705"/>
            <a:ext cx="8321040" cy="1446550"/>
          </a:xfrm>
          <a:prstGeom prst="rect">
            <a:avLst/>
          </a:prstGeom>
          <a:noFill/>
        </p:spPr>
        <p:txBody>
          <a:bodyPr wrap="square" lIns="0" tIns="0" rIns="0" bIns="0" anchor="t">
            <a:spAutoFit/>
          </a:bodyPr>
          <a:lstStyle/>
          <a:p>
            <a:pPr>
              <a:spcAft>
                <a:spcPts val="600"/>
              </a:spcAft>
            </a:pPr>
            <a:r>
              <a:rPr sz="1200" b="1" i="0" dirty="0">
                <a:solidFill>
                  <a:srgbClr val="002060"/>
                </a:solidFill>
                <a:latin typeface="Calibri"/>
              </a:rPr>
              <a:t>–  </a:t>
            </a:r>
            <a:r>
              <a:rPr sz="1400" b="1" i="0" dirty="0">
                <a:solidFill>
                  <a:srgbClr val="222A3F"/>
                </a:solidFill>
                <a:latin typeface="Calibri"/>
              </a:rPr>
              <a:t>H1 — Does language add signal? </a:t>
            </a:r>
            <a:r>
              <a:rPr sz="1400" b="0" i="0" dirty="0">
                <a:solidFill>
                  <a:srgbClr val="222A3F"/>
                </a:solidFill>
                <a:latin typeface="Calibri"/>
              </a:rPr>
              <a:t>Do central-bank communications (</a:t>
            </a:r>
            <a:r>
              <a:rPr sz="1400" b="0" i="0" dirty="0" err="1">
                <a:solidFill>
                  <a:srgbClr val="222A3F"/>
                </a:solidFill>
                <a:latin typeface="Calibri"/>
              </a:rPr>
              <a:t>FinBERT</a:t>
            </a:r>
            <a:r>
              <a:rPr sz="1400" b="0" i="0" dirty="0">
                <a:solidFill>
                  <a:srgbClr val="222A3F"/>
                </a:solidFill>
                <a:latin typeface="Calibri"/>
              </a:rPr>
              <a:t> sentiment) improve crisis prediction beyond what macro-financial data already contains?</a:t>
            </a:r>
          </a:p>
          <a:p>
            <a:pPr>
              <a:spcAft>
                <a:spcPts val="600"/>
              </a:spcAft>
            </a:pPr>
            <a:r>
              <a:rPr sz="1400" b="1" i="0" dirty="0">
                <a:solidFill>
                  <a:srgbClr val="002060"/>
                </a:solidFill>
                <a:latin typeface="Calibri"/>
              </a:rPr>
              <a:t>–  </a:t>
            </a:r>
            <a:r>
              <a:rPr sz="1400" b="1" i="0" dirty="0">
                <a:solidFill>
                  <a:srgbClr val="222A3F"/>
                </a:solidFill>
                <a:latin typeface="Calibri"/>
              </a:rPr>
              <a:t>H2 — If it matters, it should show. </a:t>
            </a:r>
            <a:r>
              <a:rPr sz="1400" b="0" i="0" dirty="0">
                <a:solidFill>
                  <a:srgbClr val="222A3F"/>
                </a:solidFill>
                <a:latin typeface="Calibri"/>
              </a:rPr>
              <a:t>If sentiment carries real signal, sentiment features should rank among the model’s most influential predictors.</a:t>
            </a:r>
          </a:p>
          <a:p>
            <a:pPr>
              <a:spcAft>
                <a:spcPts val="600"/>
              </a:spcAft>
            </a:pPr>
            <a:r>
              <a:rPr sz="1400" b="1" i="0" dirty="0">
                <a:solidFill>
                  <a:srgbClr val="002060"/>
                </a:solidFill>
                <a:latin typeface="Calibri"/>
              </a:rPr>
              <a:t>–  </a:t>
            </a:r>
            <a:r>
              <a:rPr sz="1400" b="1" i="0" dirty="0">
                <a:solidFill>
                  <a:srgbClr val="222A3F"/>
                </a:solidFill>
                <a:latin typeface="Calibri"/>
              </a:rPr>
              <a:t>H3 — The price of transparency. </a:t>
            </a:r>
            <a:r>
              <a:rPr sz="1400" b="0" i="0" dirty="0">
                <a:solidFill>
                  <a:srgbClr val="222A3F"/>
                </a:solidFill>
                <a:latin typeface="Calibri"/>
              </a:rPr>
              <a:t>Does choosing a model whose reasoning we can read (EBM) cost accuracy compared with black-box alternatives?</a:t>
            </a:r>
          </a:p>
        </p:txBody>
      </p:sp>
      <p:sp>
        <p:nvSpPr>
          <p:cNvPr id="10" name="TextBox 9"/>
          <p:cNvSpPr txBox="1"/>
          <p:nvPr/>
        </p:nvSpPr>
        <p:spPr>
          <a:xfrm>
            <a:off x="411480" y="6121137"/>
            <a:ext cx="8321040" cy="548640"/>
          </a:xfrm>
          <a:prstGeom prst="rect">
            <a:avLst/>
          </a:prstGeom>
          <a:noFill/>
        </p:spPr>
        <p:txBody>
          <a:bodyPr wrap="square" lIns="0" tIns="0" rIns="0" bIns="0" anchor="t">
            <a:spAutoFit/>
          </a:bodyPr>
          <a:lstStyle/>
          <a:p>
            <a:pPr>
              <a:spcAft>
                <a:spcPts val="600"/>
              </a:spcAft>
            </a:pPr>
            <a:r>
              <a:rPr sz="1150" b="0" i="1" dirty="0">
                <a:solidFill>
                  <a:srgbClr val="5A6B85"/>
                </a:solidFill>
                <a:latin typeface="Calibri"/>
              </a:rPr>
              <a:t>One rule governs every number in this talk: the model never sees anything dated after the moment of prediction.</a:t>
            </a:r>
          </a:p>
        </p:txBody>
      </p:sp>
    </p:spTree>
    <p:extLst>
      <p:ext uri="{BB962C8B-B14F-4D97-AF65-F5344CB8AC3E}">
        <p14:creationId xmlns:p14="http://schemas.microsoft.com/office/powerpoint/2010/main" val="187626742"/>
      </p:ext>
    </p:extLst>
  </p:cSld>
  <p:clrMapOvr>
    <a:masterClrMapping/>
  </p:clrMapOvr>
  <mc:AlternateContent xmlns:mc="http://schemas.openxmlformats.org/markup-compatibility/2006" xmlns:p14="http://schemas.microsoft.com/office/powerpoint/2010/main">
    <mc:Choice Requires="p14">
      <p:transition spd="slow" p14:dur="2000" advTm="95759"/>
    </mc:Choice>
    <mc:Fallback xmlns="">
      <p:transition spd="slow" advTm="9575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Methodology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A Two-Stage Pipeline with Four Model Classes</a:t>
            </a:r>
          </a:p>
        </p:txBody>
      </p:sp>
      <p:sp>
        <p:nvSpPr>
          <p:cNvPr id="4" name="TextBox 3"/>
          <p:cNvSpPr txBox="1"/>
          <p:nvPr/>
        </p:nvSpPr>
        <p:spPr>
          <a:xfrm>
            <a:off x="411480" y="2514600"/>
            <a:ext cx="8321040" cy="2149306"/>
          </a:xfrm>
          <a:prstGeom prst="rect">
            <a:avLst/>
          </a:prstGeom>
          <a:noFill/>
        </p:spPr>
        <p:txBody>
          <a:bodyPr wrap="square" lIns="0" tIns="0" rIns="0" bIns="0" anchor="t">
            <a:spAutoFit/>
          </a:bodyPr>
          <a:lstStyle/>
          <a:p>
            <a:pPr>
              <a:spcAft>
                <a:spcPts val="1000"/>
              </a:spcAft>
            </a:pPr>
            <a:r>
              <a:rPr sz="1400" b="1" i="0" dirty="0">
                <a:solidFill>
                  <a:srgbClr val="002060"/>
                </a:solidFill>
                <a:latin typeface="Calibri"/>
              </a:rPr>
              <a:t>–  </a:t>
            </a:r>
            <a:r>
              <a:rPr sz="1400" b="1" i="0" dirty="0">
                <a:solidFill>
                  <a:srgbClr val="222A3F"/>
                </a:solidFill>
                <a:latin typeface="Calibri"/>
              </a:rPr>
              <a:t>Data: </a:t>
            </a:r>
            <a:r>
              <a:rPr sz="1400" b="0" i="0" dirty="0">
                <a:solidFill>
                  <a:srgbClr val="222A3F"/>
                </a:solidFill>
                <a:latin typeface="Calibri"/>
              </a:rPr>
              <a:t>JST </a:t>
            </a:r>
            <a:r>
              <a:rPr sz="1400" b="0" i="0" dirty="0" err="1">
                <a:solidFill>
                  <a:srgbClr val="222A3F"/>
                </a:solidFill>
                <a:latin typeface="Calibri"/>
              </a:rPr>
              <a:t>Macrohistory</a:t>
            </a:r>
            <a:r>
              <a:rPr sz="1400" b="0" i="0" dirty="0">
                <a:solidFill>
                  <a:srgbClr val="222A3F"/>
                </a:solidFill>
                <a:latin typeface="Calibri"/>
              </a:rPr>
              <a:t> R6 — 18 economies; 41 macro features (lags 1–3, demeaned). Target_h2 = 1 if crisis onset within the next two years.</a:t>
            </a:r>
          </a:p>
          <a:p>
            <a:pPr>
              <a:spcAft>
                <a:spcPts val="1000"/>
              </a:spcAft>
            </a:pPr>
            <a:r>
              <a:rPr sz="1400" b="1" i="0" dirty="0">
                <a:solidFill>
                  <a:srgbClr val="002060"/>
                </a:solidFill>
                <a:latin typeface="Calibri"/>
              </a:rPr>
              <a:t>–  </a:t>
            </a:r>
            <a:r>
              <a:rPr sz="1400" b="1" i="0" dirty="0">
                <a:solidFill>
                  <a:srgbClr val="222A3F"/>
                </a:solidFill>
                <a:latin typeface="Calibri"/>
              </a:rPr>
              <a:t>Text layer: </a:t>
            </a:r>
            <a:r>
              <a:rPr sz="1400" b="0" i="0" dirty="0">
                <a:solidFill>
                  <a:srgbClr val="222A3F"/>
                </a:solidFill>
                <a:latin typeface="Calibri"/>
              </a:rPr>
              <a:t>16,622 BIS central-bank speeches → </a:t>
            </a:r>
            <a:r>
              <a:rPr sz="1400" b="0" i="0" dirty="0" err="1">
                <a:solidFill>
                  <a:srgbClr val="222A3F"/>
                </a:solidFill>
                <a:latin typeface="Calibri"/>
              </a:rPr>
              <a:t>FinBERT</a:t>
            </a:r>
            <a:r>
              <a:rPr sz="1400" b="0" i="0" dirty="0">
                <a:solidFill>
                  <a:srgbClr val="222A3F"/>
                </a:solidFill>
                <a:latin typeface="Calibri"/>
              </a:rPr>
              <a:t> → 20 sentiment features (14 intended; a feature-selection pattern captured 6 further lag-3/derived columns — a labelling discrepancy only, no validity impact, §3.3).</a:t>
            </a:r>
          </a:p>
          <a:p>
            <a:pPr>
              <a:spcAft>
                <a:spcPts val="1000"/>
              </a:spcAft>
            </a:pPr>
            <a:r>
              <a:rPr sz="1400" b="1" i="0" dirty="0">
                <a:solidFill>
                  <a:srgbClr val="002060"/>
                </a:solidFill>
                <a:latin typeface="Calibri"/>
              </a:rPr>
              <a:t>–  </a:t>
            </a:r>
            <a:r>
              <a:rPr sz="1400" b="1" i="0" dirty="0">
                <a:solidFill>
                  <a:srgbClr val="222A3F"/>
                </a:solidFill>
                <a:latin typeface="Calibri"/>
              </a:rPr>
              <a:t>Models: </a:t>
            </a:r>
            <a:r>
              <a:rPr sz="1400" b="0" i="0" dirty="0">
                <a:solidFill>
                  <a:srgbClr val="222A3F"/>
                </a:solidFill>
                <a:latin typeface="Calibri"/>
              </a:rPr>
              <a:t>M1 Logistic · M2 Random Forest · M2.5 EBM (interpretable) · M3 </a:t>
            </a:r>
            <a:r>
              <a:rPr sz="1400" b="0" i="0" dirty="0" err="1">
                <a:solidFill>
                  <a:srgbClr val="222A3F"/>
                </a:solidFill>
                <a:latin typeface="Calibri"/>
              </a:rPr>
              <a:t>XGBoost</a:t>
            </a:r>
            <a:r>
              <a:rPr sz="1400" b="0" i="0" dirty="0">
                <a:solidFill>
                  <a:srgbClr val="222A3F"/>
                </a:solidFill>
                <a:latin typeface="Calibri"/>
              </a:rPr>
              <a:t> + </a:t>
            </a:r>
            <a:r>
              <a:rPr sz="1400" b="0" i="0" dirty="0" err="1">
                <a:solidFill>
                  <a:srgbClr val="222A3F"/>
                </a:solidFill>
                <a:latin typeface="Calibri"/>
              </a:rPr>
              <a:t>FinBERT</a:t>
            </a:r>
            <a:r>
              <a:rPr sz="1400" b="0" i="0" dirty="0">
                <a:solidFill>
                  <a:srgbClr val="222A3F"/>
                </a:solidFill>
                <a:latin typeface="Calibri"/>
              </a:rPr>
              <a:t>.</a:t>
            </a:r>
          </a:p>
          <a:p>
            <a:pPr>
              <a:spcAft>
                <a:spcPts val="1000"/>
              </a:spcAft>
            </a:pPr>
            <a:r>
              <a:rPr sz="1400" b="1" i="0" dirty="0">
                <a:solidFill>
                  <a:srgbClr val="002060"/>
                </a:solidFill>
                <a:latin typeface="Calibri"/>
              </a:rPr>
              <a:t>–  </a:t>
            </a:r>
            <a:r>
              <a:rPr sz="1400" b="1" i="0" dirty="0">
                <a:solidFill>
                  <a:srgbClr val="222A3F"/>
                </a:solidFill>
                <a:latin typeface="Calibri"/>
              </a:rPr>
              <a:t>Validation: </a:t>
            </a:r>
            <a:r>
              <a:rPr lang="en-GB" sz="1400" i="0" dirty="0">
                <a:solidFill>
                  <a:srgbClr val="222A3F"/>
                </a:solidFill>
                <a:latin typeface="Calibri"/>
              </a:rPr>
              <a:t>employs </a:t>
            </a:r>
            <a:r>
              <a:rPr sz="1400" b="0" i="0" dirty="0">
                <a:solidFill>
                  <a:srgbClr val="222A3F"/>
                </a:solidFill>
                <a:latin typeface="Calibri"/>
              </a:rPr>
              <a:t>expanding-window </a:t>
            </a:r>
            <a:r>
              <a:rPr lang="en-GB" sz="1400" b="0" i="0" dirty="0">
                <a:solidFill>
                  <a:srgbClr val="222A3F"/>
                </a:solidFill>
                <a:latin typeface="Calibri"/>
              </a:rPr>
              <a:t>cross-validation, plus strict temporal splits, LOCO (Leave-One-Country-Out), and calibration analysis.</a:t>
            </a:r>
          </a:p>
          <a:p>
            <a:pPr marL="285750" indent="-285750">
              <a:spcAft>
                <a:spcPts val="1000"/>
              </a:spcAft>
              <a:buFontTx/>
              <a:buChar char="-"/>
            </a:pPr>
            <a:r>
              <a:rPr sz="1400" b="0" i="0" dirty="0">
                <a:solidFill>
                  <a:srgbClr val="222A3F"/>
                </a:solidFill>
                <a:latin typeface="Calibri"/>
              </a:rPr>
              <a:t>Stage 1: 27 folds </a:t>
            </a:r>
            <a:r>
              <a:rPr lang="en-GB" sz="1400" b="0" i="0" dirty="0">
                <a:solidFill>
                  <a:srgbClr val="222A3F"/>
                </a:solidFill>
                <a:latin typeface="Calibri"/>
              </a:rPr>
              <a:t>(</a:t>
            </a:r>
            <a:r>
              <a:rPr sz="1400" b="0" i="0" dirty="0">
                <a:solidFill>
                  <a:srgbClr val="222A3F"/>
                </a:solidFill>
                <a:latin typeface="Calibri"/>
              </a:rPr>
              <a:t>1992–2018, 4-yr burn-in).</a:t>
            </a:r>
            <a:endParaRPr lang="en-GB" sz="1400" b="0" i="0" dirty="0">
              <a:solidFill>
                <a:srgbClr val="222A3F"/>
              </a:solidFill>
              <a:latin typeface="Calibri"/>
            </a:endParaRPr>
          </a:p>
          <a:p>
            <a:pPr marL="285750" indent="-285750">
              <a:spcAft>
                <a:spcPts val="1000"/>
              </a:spcAft>
              <a:buFontTx/>
              <a:buChar char="-"/>
            </a:pPr>
            <a:r>
              <a:rPr sz="1400" b="0" i="0" dirty="0">
                <a:solidFill>
                  <a:srgbClr val="222A3F"/>
                </a:solidFill>
                <a:latin typeface="Calibri"/>
              </a:rPr>
              <a:t>Stage 2: 12 folds </a:t>
            </a:r>
            <a:r>
              <a:rPr lang="en-GB" sz="1400" b="0" i="0" dirty="0">
                <a:solidFill>
                  <a:srgbClr val="222A3F"/>
                </a:solidFill>
                <a:latin typeface="Calibri"/>
              </a:rPr>
              <a:t>(</a:t>
            </a:r>
            <a:r>
              <a:rPr sz="1400" b="0" i="0" dirty="0">
                <a:solidFill>
                  <a:srgbClr val="222A3F"/>
                </a:solidFill>
                <a:latin typeface="Calibri"/>
              </a:rPr>
              <a:t>2007–2018); 2019–20 held out in both stages.</a:t>
            </a:r>
          </a:p>
        </p:txBody>
      </p:sp>
      <p:sp>
        <p:nvSpPr>
          <p:cNvPr id="5" name="TextBox 4"/>
          <p:cNvSpPr txBox="1"/>
          <p:nvPr/>
        </p:nvSpPr>
        <p:spPr>
          <a:xfrm>
            <a:off x="411480" y="4763132"/>
            <a:ext cx="8321040" cy="1815882"/>
          </a:xfrm>
          <a:prstGeom prst="rect">
            <a:avLst/>
          </a:prstGeom>
          <a:noFill/>
        </p:spPr>
        <p:txBody>
          <a:bodyPr wrap="square" lIns="0" tIns="0" rIns="0" bIns="0" anchor="t">
            <a:spAutoFit/>
          </a:bodyPr>
          <a:lstStyle/>
          <a:p>
            <a:pPr>
              <a:spcAft>
                <a:spcPts val="600"/>
              </a:spcAft>
            </a:pPr>
            <a:endParaRPr lang="en-GB" sz="1400" b="1" i="0" dirty="0">
              <a:solidFill>
                <a:srgbClr val="002060"/>
              </a:solidFill>
              <a:latin typeface="Calibri"/>
            </a:endParaRPr>
          </a:p>
          <a:p>
            <a:pPr>
              <a:spcAft>
                <a:spcPts val="600"/>
              </a:spcAft>
            </a:pPr>
            <a:r>
              <a:rPr lang="en-GB" sz="1400" b="1" i="0" dirty="0">
                <a:solidFill>
                  <a:srgbClr val="002060"/>
                </a:solidFill>
                <a:latin typeface="Calibri"/>
              </a:rPr>
              <a:t>Two Evaluation Stages:</a:t>
            </a:r>
          </a:p>
          <a:p>
            <a:pPr>
              <a:spcAft>
                <a:spcPts val="600"/>
              </a:spcAft>
            </a:pPr>
            <a:r>
              <a:rPr sz="1400" b="1" i="0" dirty="0">
                <a:solidFill>
                  <a:srgbClr val="002060"/>
                </a:solidFill>
                <a:latin typeface="Calibri"/>
              </a:rPr>
              <a:t>Stage 1 — extended panel: </a:t>
            </a:r>
            <a:r>
              <a:rPr sz="1400" b="0" i="0" dirty="0">
                <a:solidFill>
                  <a:srgbClr val="222A3F"/>
                </a:solidFill>
                <a:latin typeface="Calibri"/>
              </a:rPr>
              <a:t>panel 1989–2020, 37 labels → 19 onsets → 3 episodes; scored 1993–2018, 28 positives of which 93% are GFC — broader than Stage 2, still an upper bound.</a:t>
            </a:r>
          </a:p>
          <a:p>
            <a:pPr>
              <a:spcAft>
                <a:spcPts val="600"/>
              </a:spcAft>
            </a:pPr>
            <a:r>
              <a:rPr sz="1400" b="1" i="0" dirty="0">
                <a:solidFill>
                  <a:srgbClr val="002060"/>
                </a:solidFill>
                <a:latin typeface="Calibri"/>
              </a:rPr>
              <a:t>Stage 2 — 2007 GFC case study: </a:t>
            </a:r>
            <a:r>
              <a:rPr sz="1400" b="0" i="0" dirty="0">
                <a:solidFill>
                  <a:srgbClr val="222A3F"/>
                </a:solidFill>
                <a:latin typeface="Calibri"/>
              </a:rPr>
              <a:t>26 positive labels, ~11 effective positives in one GFC episode — cross-sectional ranking, </a:t>
            </a:r>
            <a:r>
              <a:rPr lang="en-GB" sz="1400" b="0" i="0" dirty="0">
                <a:solidFill>
                  <a:srgbClr val="222A3F"/>
                </a:solidFill>
                <a:latin typeface="Calibri"/>
              </a:rPr>
              <a:t/>
            </a:r>
            <a:r>
              <a:rPr sz="1400" b="0" i="0" dirty="0">
                <a:solidFill>
                  <a:srgbClr val="222A3F"/>
                </a:solidFill>
                <a:latin typeface="Calibri"/>
              </a:rPr>
              <a:t>an upper bound</a:t>
            </a:r>
            <a:r>
              <a:rPr lang="en-GB" sz="1400" b="0" i="0" dirty="0">
                <a:solidFill>
                  <a:srgbClr val="222A3F"/>
                </a:solidFill>
                <a:latin typeface="Calibri"/>
              </a:rPr>
              <a:t> for performance</a:t>
            </a:r>
            <a:r>
              <a:rPr sz="1400" b="0" i="0" dirty="0">
                <a:solidFill>
                  <a:srgbClr val="222A3F"/>
                </a:solidFill>
                <a:latin typeface="Calibri"/>
              </a:rPr>
              <a:t>, not </a:t>
            </a:r>
            <a:r>
              <a:rPr lang="en-GB" sz="1400" b="0" i="0" dirty="0">
                <a:solidFill>
                  <a:srgbClr val="222A3F"/>
                </a:solidFill>
                <a:latin typeface="Calibri"/>
              </a:rPr>
              <a:t>a direct measure of </a:t>
            </a:r>
            <a:r>
              <a:rPr sz="1400" b="0" i="0" dirty="0">
                <a:solidFill>
                  <a:srgbClr val="222A3F"/>
                </a:solidFill>
                <a:latin typeface="Calibri"/>
              </a:rPr>
              <a:t>prospective performance.</a:t>
            </a:r>
          </a:p>
          <a:p>
            <a:pPr>
              <a:spcAft>
                <a:spcPts val="600"/>
              </a:spcAft>
            </a:pPr>
            <a:r>
              <a:rPr sz="1400" b="1" i="0" dirty="0">
                <a:solidFill>
                  <a:srgbClr val="4400A9"/>
                </a:solidFill>
                <a:latin typeface="Calibri"/>
              </a:rPr>
              <a:t>Aim</a:t>
            </a:r>
            <a:r>
              <a:rPr lang="en-GB" sz="1400" b="1" i="0" dirty="0">
                <a:solidFill>
                  <a:srgbClr val="4400A9"/>
                </a:solidFill>
                <a:latin typeface="Calibri"/>
              </a:rPr>
              <a:t>: </a:t>
            </a:r>
            <a:r>
              <a:rPr lang="en-GB" sz="1400" dirty="0"/>
              <a:t>Can an interpretable non-linear model predict banking crises under forward-looking evaluation — and if not, why does generalisation fail?</a:t>
            </a:r>
            <a:endParaRPr sz="1400" b="0" i="1" dirty="0">
              <a:solidFill>
                <a:srgbClr val="222A3F"/>
              </a:solidFill>
              <a:latin typeface="Calibri"/>
            </a:endParaRP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3</a:t>
            </a:r>
          </a:p>
        </p:txBody>
      </p:sp>
    </p:spTree>
    <p:extLst>
      <p:ext uri="{BB962C8B-B14F-4D97-AF65-F5344CB8AC3E}">
        <p14:creationId xmlns:p14="http://schemas.microsoft.com/office/powerpoint/2010/main" val="80649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Stage 1 (scored 1993–2018, 28 positives): the Interpretable Model Leads</a:t>
            </a:r>
          </a:p>
        </p:txBody>
      </p:sp>
      <p:graphicFrame>
        <p:nvGraphicFramePr>
          <p:cNvPr id="4" name="Table 3"/>
          <p:cNvGraphicFramePr>
            <a:graphicFrameLocks noGrp="1"/>
          </p:cNvGraphicFramePr>
          <p:nvPr/>
        </p:nvGraphicFramePr>
        <p:xfrm>
          <a:off x="411480" y="2560320"/>
          <a:ext cx="8321038" cy="1536192"/>
        </p:xfrm>
        <a:graphic>
          <a:graphicData uri="http://schemas.openxmlformats.org/drawingml/2006/table">
            <a:tbl>
              <a:tblPr firstRow="1" bandRow="1">
                <a:tableStyleId>{5C22544A-7EE6-4342-B048-85BDC9FD1C3A}</a:tableStyleId>
              </a:tblPr>
              <a:tblGrid>
                <a:gridCol w="2809701">
                  <a:extLst>
                    <a:ext uri="{9D8B030D-6E8A-4147-A177-3AD203B41FA5}">
                      <a16:colId xmlns:a16="http://schemas.microsoft.com/office/drawing/2014/main" val="20000"/>
                    </a:ext>
                  </a:extLst>
                </a:gridCol>
                <a:gridCol w="972589">
                  <a:extLst>
                    <a:ext uri="{9D8B030D-6E8A-4147-A177-3AD203B41FA5}">
                      <a16:colId xmlns:a16="http://schemas.microsoft.com/office/drawing/2014/main" val="20001"/>
                    </a:ext>
                  </a:extLst>
                </a:gridCol>
                <a:gridCol w="2485505">
                  <a:extLst>
                    <a:ext uri="{9D8B030D-6E8A-4147-A177-3AD203B41FA5}">
                      <a16:colId xmlns:a16="http://schemas.microsoft.com/office/drawing/2014/main" val="20002"/>
                    </a:ext>
                  </a:extLst>
                </a:gridCol>
                <a:gridCol w="1080654">
                  <a:extLst>
                    <a:ext uri="{9D8B030D-6E8A-4147-A177-3AD203B41FA5}">
                      <a16:colId xmlns:a16="http://schemas.microsoft.com/office/drawing/2014/main" val="20003"/>
                    </a:ext>
                  </a:extLst>
                </a:gridCol>
                <a:gridCol w="972589">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Model</a:t>
                      </a:r>
                    </a:p>
                  </a:txBody>
                  <a:tcPr marL="54864" marR="54864" marT="18288" marB="18288" anchor="ctr">
                    <a:solidFill>
                      <a:srgbClr val="002060"/>
                    </a:solidFill>
                  </a:tcPr>
                </a:tc>
                <a:tc>
                  <a:txBody>
                    <a:bodyPr/>
                    <a:lstStyle/>
                    <a:p>
                      <a:r>
                        <a:rPr sz="1200" b="1" i="0">
                          <a:solidFill>
                            <a:srgbClr val="FFFFFF"/>
                          </a:solidFill>
                          <a:latin typeface="Calibri"/>
                        </a:rPr>
                        <a:t>Features</a:t>
                      </a:r>
                    </a:p>
                  </a:txBody>
                  <a:tcPr marL="54864" marR="54864" marT="18288" marB="18288" anchor="ctr">
                    <a:solidFill>
                      <a:srgbClr val="002060"/>
                    </a:solidFill>
                  </a:tcPr>
                </a:tc>
                <a:tc>
                  <a:txBody>
                    <a:bodyPr/>
                    <a:lstStyle/>
                    <a:p>
                      <a:r>
                        <a:rPr sz="1200" b="1" i="0">
                          <a:solidFill>
                            <a:srgbClr val="FFFFFF"/>
                          </a:solidFill>
                          <a:latin typeface="Calibri"/>
                        </a:rPr>
                        <a:t>AUROC [95% CI]</a:t>
                      </a:r>
                    </a:p>
                  </a:txBody>
                  <a:tcPr marL="54864" marR="54864" marT="18288" marB="18288" anchor="ctr">
                    <a:solidFill>
                      <a:srgbClr val="002060"/>
                    </a:solidFill>
                  </a:tcPr>
                </a:tc>
                <a:tc>
                  <a:txBody>
                    <a:bodyPr/>
                    <a:lstStyle/>
                    <a:p>
                      <a:r>
                        <a:rPr sz="1200" b="1" i="0">
                          <a:solidFill>
                            <a:srgbClr val="FFFFFF"/>
                          </a:solidFill>
                          <a:latin typeface="Calibri"/>
                        </a:rPr>
                        <a:t>AUPRC</a:t>
                      </a:r>
                    </a:p>
                  </a:txBody>
                  <a:tcPr marL="54864" marR="54864" marT="18288" marB="18288" anchor="ctr">
                    <a:solidFill>
                      <a:srgbClr val="002060"/>
                    </a:solidFill>
                  </a:tcPr>
                </a:tc>
                <a:tc>
                  <a:txBody>
                    <a:bodyPr/>
                    <a:lstStyle/>
                    <a:p>
                      <a:r>
                        <a:rPr sz="1200" b="1" i="0">
                          <a:solidFill>
                            <a:srgbClr val="FFFFFF"/>
                          </a:solidFill>
                          <a:latin typeface="Calibri"/>
                        </a:rPr>
                        <a:t>Lift</a:t>
                      </a:r>
                    </a:p>
                  </a:txBody>
                  <a:tcPr marL="54864" marR="54864" marT="18288" marB="18288" anchor="ctr">
                    <a:solidFill>
                      <a:srgbClr val="002060"/>
                    </a:solidFill>
                  </a:tcPr>
                </a:tc>
                <a:extLst>
                  <a:ext uri="{0D108BD9-81ED-4DB2-BD59-A6C34878D82A}">
                    <a16:rowId xmlns:a16="http://schemas.microsoft.com/office/drawing/2014/main" val="10000"/>
                  </a:ext>
                </a:extLst>
              </a:tr>
              <a:tr h="384048">
                <a:tc>
                  <a:txBody>
                    <a:bodyPr/>
                    <a:lstStyle/>
                    <a:p>
                      <a:r>
                        <a:rPr sz="1200" b="0" i="0">
                          <a:solidFill>
                            <a:srgbClr val="222A3F"/>
                          </a:solidFill>
                          <a:latin typeface="Calibri"/>
                        </a:rPr>
                        <a:t>M1 Logistic (lag1)</a:t>
                      </a:r>
                    </a:p>
                  </a:txBody>
                  <a:tcPr marL="54864" marR="54864" marT="18288" marB="18288" anchor="ctr">
                    <a:solidFill>
                      <a:srgbClr val="FFFFFF"/>
                    </a:solidFill>
                  </a:tcPr>
                </a:tc>
                <a:tc>
                  <a:txBody>
                    <a:bodyPr/>
                    <a:lstStyle/>
                    <a:p>
                      <a:r>
                        <a:rPr sz="1200" b="0" i="0">
                          <a:solidFill>
                            <a:srgbClr val="222A3F"/>
                          </a:solidFill>
                          <a:latin typeface="Calibri"/>
                        </a:rPr>
                        <a:t>19</a:t>
                      </a:r>
                    </a:p>
                  </a:txBody>
                  <a:tcPr marL="54864" marR="54864" marT="18288" marB="18288" anchor="ctr">
                    <a:solidFill>
                      <a:srgbClr val="FFFFFF"/>
                    </a:solidFill>
                  </a:tcPr>
                </a:tc>
                <a:tc>
                  <a:txBody>
                    <a:bodyPr/>
                    <a:lstStyle/>
                    <a:p>
                      <a:r>
                        <a:rPr sz="1200" b="0" i="0">
                          <a:solidFill>
                            <a:srgbClr val="222A3F"/>
                          </a:solidFill>
                          <a:latin typeface="Calibri"/>
                        </a:rPr>
                        <a:t>0.606 [0.477, 0.739]</a:t>
                      </a:r>
                    </a:p>
                  </a:txBody>
                  <a:tcPr marL="54864" marR="54864" marT="18288" marB="18288" anchor="ctr">
                    <a:solidFill>
                      <a:srgbClr val="FFFFFF"/>
                    </a:solidFill>
                  </a:tcPr>
                </a:tc>
                <a:tc>
                  <a:txBody>
                    <a:bodyPr/>
                    <a:lstStyle/>
                    <a:p>
                      <a:r>
                        <a:rPr sz="1200" b="0" i="0">
                          <a:solidFill>
                            <a:srgbClr val="222A3F"/>
                          </a:solidFill>
                          <a:latin typeface="Calibri"/>
                        </a:rPr>
                        <a:t>0.139</a:t>
                      </a:r>
                    </a:p>
                  </a:txBody>
                  <a:tcPr marL="54864" marR="54864" marT="18288" marB="18288" anchor="ctr">
                    <a:solidFill>
                      <a:srgbClr val="FFFFFF"/>
                    </a:solidFill>
                  </a:tcPr>
                </a:tc>
                <a:tc>
                  <a:txBody>
                    <a:bodyPr/>
                    <a:lstStyle/>
                    <a:p>
                      <a:r>
                        <a:rPr sz="1200" b="0" i="0">
                          <a:solidFill>
                            <a:srgbClr val="222A3F"/>
                          </a:solidFill>
                          <a:latin typeface="Calibri"/>
                        </a:rPr>
                        <a:t>2.3×</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200" b="0" i="0">
                          <a:solidFill>
                            <a:srgbClr val="222A3F"/>
                          </a:solidFill>
                          <a:latin typeface="Calibri"/>
                        </a:rPr>
                        <a:t>M2 Random Forest</a:t>
                      </a:r>
                    </a:p>
                  </a:txBody>
                  <a:tcPr marL="54864" marR="54864" marT="18288" marB="18288" anchor="ctr">
                    <a:solidFill>
                      <a:srgbClr val="FFFFFF"/>
                    </a:solidFill>
                  </a:tcPr>
                </a:tc>
                <a:tc>
                  <a:txBody>
                    <a:bodyPr/>
                    <a:lstStyle/>
                    <a:p>
                      <a:r>
                        <a:rPr sz="1200" b="0" i="0">
                          <a:solidFill>
                            <a:srgbClr val="222A3F"/>
                          </a:solidFill>
                          <a:latin typeface="Calibri"/>
                        </a:rPr>
                        <a:t>41</a:t>
                      </a:r>
                    </a:p>
                  </a:txBody>
                  <a:tcPr marL="54864" marR="54864" marT="18288" marB="18288" anchor="ctr">
                    <a:solidFill>
                      <a:srgbClr val="FFFFFF"/>
                    </a:solidFill>
                  </a:tcPr>
                </a:tc>
                <a:tc>
                  <a:txBody>
                    <a:bodyPr/>
                    <a:lstStyle/>
                    <a:p>
                      <a:r>
                        <a:rPr sz="1200" b="0" i="0">
                          <a:solidFill>
                            <a:srgbClr val="222A3F"/>
                          </a:solidFill>
                          <a:latin typeface="Calibri"/>
                        </a:rPr>
                        <a:t>0.636 [0.484, 0.781]</a:t>
                      </a:r>
                    </a:p>
                  </a:txBody>
                  <a:tcPr marL="54864" marR="54864" marT="18288" marB="18288" anchor="ctr">
                    <a:solidFill>
                      <a:srgbClr val="FFFFFF"/>
                    </a:solidFill>
                  </a:tcPr>
                </a:tc>
                <a:tc>
                  <a:txBody>
                    <a:bodyPr/>
                    <a:lstStyle/>
                    <a:p>
                      <a:r>
                        <a:rPr sz="1200" b="0" i="0">
                          <a:solidFill>
                            <a:srgbClr val="222A3F"/>
                          </a:solidFill>
                          <a:latin typeface="Calibri"/>
                        </a:rPr>
                        <a:t>0.224</a:t>
                      </a:r>
                    </a:p>
                  </a:txBody>
                  <a:tcPr marL="54864" marR="54864" marT="18288" marB="18288" anchor="ctr">
                    <a:solidFill>
                      <a:srgbClr val="FFFFFF"/>
                    </a:solidFill>
                  </a:tcPr>
                </a:tc>
                <a:tc>
                  <a:txBody>
                    <a:bodyPr/>
                    <a:lstStyle/>
                    <a:p>
                      <a:r>
                        <a:rPr sz="1200" b="0" i="0">
                          <a:solidFill>
                            <a:srgbClr val="222A3F"/>
                          </a:solidFill>
                          <a:latin typeface="Calibri"/>
                        </a:rPr>
                        <a:t>3.7×</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r>
                        <a:rPr sz="1200" b="1" i="0">
                          <a:solidFill>
                            <a:srgbClr val="222A3F"/>
                          </a:solidFill>
                          <a:latin typeface="Calibri"/>
                        </a:rPr>
                        <a:t>M2.5 EBM (interpretable)</a:t>
                      </a:r>
                    </a:p>
                  </a:txBody>
                  <a:tcPr marL="54864" marR="54864" marT="18288" marB="18288" anchor="ctr">
                    <a:solidFill>
                      <a:srgbClr val="EDE7F6"/>
                    </a:solidFill>
                  </a:tcPr>
                </a:tc>
                <a:tc>
                  <a:txBody>
                    <a:bodyPr/>
                    <a:lstStyle/>
                    <a:p>
                      <a:r>
                        <a:rPr sz="1200" b="1" i="0">
                          <a:solidFill>
                            <a:srgbClr val="222A3F"/>
                          </a:solidFill>
                          <a:latin typeface="Calibri"/>
                        </a:rPr>
                        <a:t>41</a:t>
                      </a:r>
                    </a:p>
                  </a:txBody>
                  <a:tcPr marL="54864" marR="54864" marT="18288" marB="18288" anchor="ctr">
                    <a:solidFill>
                      <a:srgbClr val="EDE7F6"/>
                    </a:solidFill>
                  </a:tcPr>
                </a:tc>
                <a:tc>
                  <a:txBody>
                    <a:bodyPr/>
                    <a:lstStyle/>
                    <a:p>
                      <a:r>
                        <a:rPr sz="1200" b="1" i="0">
                          <a:solidFill>
                            <a:srgbClr val="222A3F"/>
                          </a:solidFill>
                          <a:latin typeface="Calibri"/>
                        </a:rPr>
                        <a:t>0.753 [0.649, 0.855]</a:t>
                      </a:r>
                    </a:p>
                  </a:txBody>
                  <a:tcPr marL="54864" marR="54864" marT="18288" marB="18288" anchor="ctr">
                    <a:solidFill>
                      <a:srgbClr val="EDE7F6"/>
                    </a:solidFill>
                  </a:tcPr>
                </a:tc>
                <a:tc>
                  <a:txBody>
                    <a:bodyPr/>
                    <a:lstStyle/>
                    <a:p>
                      <a:r>
                        <a:rPr sz="1200" b="1" i="0">
                          <a:solidFill>
                            <a:srgbClr val="222A3F"/>
                          </a:solidFill>
                          <a:latin typeface="Calibri"/>
                        </a:rPr>
                        <a:t>0.273</a:t>
                      </a:r>
                    </a:p>
                  </a:txBody>
                  <a:tcPr marL="54864" marR="54864" marT="18288" marB="18288" anchor="ctr">
                    <a:solidFill>
                      <a:srgbClr val="EDE7F6"/>
                    </a:solidFill>
                  </a:tcPr>
                </a:tc>
                <a:tc>
                  <a:txBody>
                    <a:bodyPr/>
                    <a:lstStyle/>
                    <a:p>
                      <a:r>
                        <a:rPr sz="1200" b="1" i="0">
                          <a:solidFill>
                            <a:srgbClr val="222A3F"/>
                          </a:solidFill>
                          <a:latin typeface="Calibri"/>
                        </a:rPr>
                        <a:t>4.5×</a:t>
                      </a:r>
                    </a:p>
                  </a:txBody>
                  <a:tcPr marL="54864" marR="54864" marT="18288" marB="18288" anchor="ctr">
                    <a:solidFill>
                      <a:srgbClr val="EDE7F6"/>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11480" y="4434840"/>
            <a:ext cx="8321040" cy="1554480"/>
          </a:xfrm>
          <a:prstGeom prst="rect">
            <a:avLst/>
          </a:prstGeom>
          <a:noFill/>
        </p:spPr>
        <p:txBody>
          <a:bodyPr wrap="square" lIns="0" tIns="0" rIns="0" bIns="0" anchor="t">
            <a:spAutoFit/>
          </a:bodyPr>
          <a:lstStyle/>
          <a:p>
            <a:pPr>
              <a:spcAft>
                <a:spcPts val="900"/>
              </a:spcAft>
            </a:pPr>
            <a:r>
              <a:rPr sz="1300" b="1" i="0">
                <a:solidFill>
                  <a:srgbClr val="002060"/>
                </a:solidFill>
                <a:latin typeface="Calibri"/>
              </a:rPr>
              <a:t>–  </a:t>
            </a:r>
            <a:r>
              <a:rPr sz="1500" b="1" i="0">
                <a:solidFill>
                  <a:srgbClr val="4400A9"/>
                </a:solidFill>
                <a:latin typeface="Calibri"/>
              </a:rPr>
              <a:t>+0.117 </a:t>
            </a:r>
            <a:r>
              <a:rPr sz="1300" b="0" i="0">
                <a:solidFill>
                  <a:srgbClr val="222A3F"/>
                </a:solidFill>
                <a:latin typeface="Calibri"/>
              </a:rPr>
              <a:t>AUROC gap, EBM vs RF, on identical features — DeLong z = −3.35; survives country-cluster bootstrap (95% CI [+0.068, +0.175], LOCO jackknife sd 0.007) but not year-block resampling (CI [−0.011, +0.248]).</a:t>
            </a:r>
          </a:p>
          <a:p>
            <a:pPr>
              <a:spcAft>
                <a:spcPts val="900"/>
              </a:spcAft>
            </a:pPr>
            <a:r>
              <a:rPr sz="1300" b="1" i="0">
                <a:solidFill>
                  <a:srgbClr val="002060"/>
                </a:solidFill>
                <a:latin typeface="Calibri"/>
              </a:rPr>
              <a:t>–  </a:t>
            </a:r>
            <a:r>
              <a:rPr sz="1500" b="1" i="0">
                <a:solidFill>
                  <a:srgbClr val="002060"/>
                </a:solidFill>
                <a:latin typeface="Calibri"/>
              </a:rPr>
              <a:t>4.5× </a:t>
            </a:r>
            <a:r>
              <a:rPr sz="1300" b="0" i="0">
                <a:solidFill>
                  <a:srgbClr val="222A3F"/>
                </a:solidFill>
                <a:latin typeface="Calibri"/>
              </a:rPr>
              <a:t>base-rate lift on precision–recall (scored base rate 6.0%, 28/467) — highest of the Stage 1 models.</a:t>
            </a:r>
          </a:p>
          <a:p>
            <a:pPr>
              <a:spcAft>
                <a:spcPts val="900"/>
              </a:spcAft>
            </a:pPr>
            <a:r>
              <a:rPr sz="1300" b="1" i="0">
                <a:solidFill>
                  <a:srgbClr val="002060"/>
                </a:solidFill>
                <a:latin typeface="Calibri"/>
              </a:rPr>
              <a:t>–  </a:t>
            </a:r>
            <a:r>
              <a:rPr sz="1300" b="1" i="0">
                <a:solidFill>
                  <a:srgbClr val="5A6B85"/>
                </a:solidFill>
                <a:latin typeface="Calibri"/>
              </a:rPr>
              <a:t>Caveat: </a:t>
            </a:r>
            <a:r>
              <a:rPr sz="1300" b="0" i="1">
                <a:solidFill>
                  <a:srgbClr val="222A3F"/>
                </a:solidFill>
                <a:latin typeface="Calibri"/>
              </a:rPr>
              <a:t>all expanding-window figures are upper bounds; and 93% of scored positives are GFC, so this is a within-regime result (§4.1, §4.2).</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4</a:t>
            </a:r>
          </a:p>
        </p:txBody>
      </p:sp>
    </p:spTree>
    <p:extLst>
      <p:ext uri="{BB962C8B-B14F-4D97-AF65-F5344CB8AC3E}">
        <p14:creationId xmlns:p14="http://schemas.microsoft.com/office/powerpoint/2010/main" val="1356210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Stage 2 (2007 GFC single-episode case study): Same Pattern</a:t>
            </a:r>
          </a:p>
        </p:txBody>
      </p:sp>
      <p:graphicFrame>
        <p:nvGraphicFramePr>
          <p:cNvPr id="4" name="Table 3"/>
          <p:cNvGraphicFramePr>
            <a:graphicFrameLocks noGrp="1"/>
          </p:cNvGraphicFramePr>
          <p:nvPr/>
        </p:nvGraphicFramePr>
        <p:xfrm>
          <a:off x="411480" y="2560320"/>
          <a:ext cx="8321038" cy="1920240"/>
        </p:xfrm>
        <a:graphic>
          <a:graphicData uri="http://schemas.openxmlformats.org/drawingml/2006/table">
            <a:tbl>
              <a:tblPr firstRow="1" bandRow="1">
                <a:tableStyleId>{5C22544A-7EE6-4342-B048-85BDC9FD1C3A}</a:tableStyleId>
              </a:tblPr>
              <a:tblGrid>
                <a:gridCol w="2809701">
                  <a:extLst>
                    <a:ext uri="{9D8B030D-6E8A-4147-A177-3AD203B41FA5}">
                      <a16:colId xmlns:a16="http://schemas.microsoft.com/office/drawing/2014/main" val="20000"/>
                    </a:ext>
                  </a:extLst>
                </a:gridCol>
                <a:gridCol w="972589">
                  <a:extLst>
                    <a:ext uri="{9D8B030D-6E8A-4147-A177-3AD203B41FA5}">
                      <a16:colId xmlns:a16="http://schemas.microsoft.com/office/drawing/2014/main" val="20001"/>
                    </a:ext>
                  </a:extLst>
                </a:gridCol>
                <a:gridCol w="2485505">
                  <a:extLst>
                    <a:ext uri="{9D8B030D-6E8A-4147-A177-3AD203B41FA5}">
                      <a16:colId xmlns:a16="http://schemas.microsoft.com/office/drawing/2014/main" val="20002"/>
                    </a:ext>
                  </a:extLst>
                </a:gridCol>
                <a:gridCol w="1080654">
                  <a:extLst>
                    <a:ext uri="{9D8B030D-6E8A-4147-A177-3AD203B41FA5}">
                      <a16:colId xmlns:a16="http://schemas.microsoft.com/office/drawing/2014/main" val="20003"/>
                    </a:ext>
                  </a:extLst>
                </a:gridCol>
                <a:gridCol w="972589">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Model</a:t>
                      </a:r>
                    </a:p>
                  </a:txBody>
                  <a:tcPr marL="54864" marR="54864" marT="18288" marB="18288" anchor="ctr">
                    <a:solidFill>
                      <a:srgbClr val="002060"/>
                    </a:solidFill>
                  </a:tcPr>
                </a:tc>
                <a:tc>
                  <a:txBody>
                    <a:bodyPr/>
                    <a:lstStyle/>
                    <a:p>
                      <a:r>
                        <a:rPr sz="1200" b="1" i="0">
                          <a:solidFill>
                            <a:srgbClr val="FFFFFF"/>
                          </a:solidFill>
                          <a:latin typeface="Calibri"/>
                        </a:rPr>
                        <a:t>Features</a:t>
                      </a:r>
                    </a:p>
                  </a:txBody>
                  <a:tcPr marL="54864" marR="54864" marT="18288" marB="18288" anchor="ctr">
                    <a:solidFill>
                      <a:srgbClr val="002060"/>
                    </a:solidFill>
                  </a:tcPr>
                </a:tc>
                <a:tc>
                  <a:txBody>
                    <a:bodyPr/>
                    <a:lstStyle/>
                    <a:p>
                      <a:r>
                        <a:rPr sz="1200" b="1" i="0">
                          <a:solidFill>
                            <a:srgbClr val="FFFFFF"/>
                          </a:solidFill>
                          <a:latin typeface="Calibri"/>
                        </a:rPr>
                        <a:t>AUROC [95% CI]</a:t>
                      </a:r>
                    </a:p>
                  </a:txBody>
                  <a:tcPr marL="54864" marR="54864" marT="18288" marB="18288" anchor="ctr">
                    <a:solidFill>
                      <a:srgbClr val="002060"/>
                    </a:solidFill>
                  </a:tcPr>
                </a:tc>
                <a:tc>
                  <a:txBody>
                    <a:bodyPr/>
                    <a:lstStyle/>
                    <a:p>
                      <a:r>
                        <a:rPr sz="1200" b="1" i="0">
                          <a:solidFill>
                            <a:srgbClr val="FFFFFF"/>
                          </a:solidFill>
                          <a:latin typeface="Calibri"/>
                        </a:rPr>
                        <a:t>AUPRC</a:t>
                      </a:r>
                    </a:p>
                  </a:txBody>
                  <a:tcPr marL="54864" marR="54864" marT="18288" marB="18288" anchor="ctr">
                    <a:solidFill>
                      <a:srgbClr val="002060"/>
                    </a:solidFill>
                  </a:tcPr>
                </a:tc>
                <a:tc>
                  <a:txBody>
                    <a:bodyPr/>
                    <a:lstStyle/>
                    <a:p>
                      <a:r>
                        <a:rPr sz="1200" b="1" i="0">
                          <a:solidFill>
                            <a:srgbClr val="FFFFFF"/>
                          </a:solidFill>
                          <a:latin typeface="Calibri"/>
                        </a:rPr>
                        <a:t>Lift</a:t>
                      </a:r>
                    </a:p>
                  </a:txBody>
                  <a:tcPr marL="54864" marR="54864" marT="18288" marB="18288" anchor="ctr">
                    <a:solidFill>
                      <a:srgbClr val="002060"/>
                    </a:solidFill>
                  </a:tcPr>
                </a:tc>
                <a:extLst>
                  <a:ext uri="{0D108BD9-81ED-4DB2-BD59-A6C34878D82A}">
                    <a16:rowId xmlns:a16="http://schemas.microsoft.com/office/drawing/2014/main" val="10000"/>
                  </a:ext>
                </a:extLst>
              </a:tr>
              <a:tr h="384048">
                <a:tc>
                  <a:txBody>
                    <a:bodyPr/>
                    <a:lstStyle/>
                    <a:p>
                      <a:r>
                        <a:rPr sz="1200" b="0" i="0">
                          <a:solidFill>
                            <a:srgbClr val="222A3F"/>
                          </a:solidFill>
                          <a:latin typeface="Calibri"/>
                        </a:rPr>
                        <a:t>M2-matched RF</a:t>
                      </a:r>
                    </a:p>
                  </a:txBody>
                  <a:tcPr marL="54864" marR="54864" marT="18288" marB="18288" anchor="ctr">
                    <a:solidFill>
                      <a:srgbClr val="FFFFFF"/>
                    </a:solidFill>
                  </a:tcPr>
                </a:tc>
                <a:tc>
                  <a:txBody>
                    <a:bodyPr/>
                    <a:lstStyle/>
                    <a:p>
                      <a:r>
                        <a:rPr sz="1200" b="0" i="0">
                          <a:solidFill>
                            <a:srgbClr val="222A3F"/>
                          </a:solidFill>
                          <a:latin typeface="Calibri"/>
                        </a:rPr>
                        <a:t>41</a:t>
                      </a:r>
                    </a:p>
                  </a:txBody>
                  <a:tcPr marL="54864" marR="54864" marT="18288" marB="18288" anchor="ctr">
                    <a:solidFill>
                      <a:srgbClr val="FFFFFF"/>
                    </a:solidFill>
                  </a:tcPr>
                </a:tc>
                <a:tc>
                  <a:txBody>
                    <a:bodyPr/>
                    <a:lstStyle/>
                    <a:p>
                      <a:r>
                        <a:rPr sz="1200" b="0" i="0">
                          <a:solidFill>
                            <a:srgbClr val="222A3F"/>
                          </a:solidFill>
                          <a:latin typeface="Calibri"/>
                        </a:rPr>
                        <a:t>0.939 [0.897, 0.970]</a:t>
                      </a:r>
                    </a:p>
                  </a:txBody>
                  <a:tcPr marL="54864" marR="54864" marT="18288" marB="18288" anchor="ctr">
                    <a:solidFill>
                      <a:srgbClr val="FFFFFF"/>
                    </a:solidFill>
                  </a:tcPr>
                </a:tc>
                <a:tc>
                  <a:txBody>
                    <a:bodyPr/>
                    <a:lstStyle/>
                    <a:p>
                      <a:r>
                        <a:rPr sz="1200" b="0" i="0">
                          <a:solidFill>
                            <a:srgbClr val="222A3F"/>
                          </a:solidFill>
                          <a:latin typeface="Calibri"/>
                        </a:rPr>
                        <a:t>0.343</a:t>
                      </a:r>
                    </a:p>
                  </a:txBody>
                  <a:tcPr marL="54864" marR="54864" marT="18288" marB="18288" anchor="ctr">
                    <a:solidFill>
                      <a:srgbClr val="FFFFFF"/>
                    </a:solidFill>
                  </a:tcPr>
                </a:tc>
                <a:tc>
                  <a:txBody>
                    <a:bodyPr/>
                    <a:lstStyle/>
                    <a:p>
                      <a:r>
                        <a:rPr sz="1200" b="0" i="0">
                          <a:solidFill>
                            <a:srgbClr val="222A3F"/>
                          </a:solidFill>
                          <a:latin typeface="Calibri"/>
                        </a:rPr>
                        <a:t>6.7×</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200" b="1" i="0">
                          <a:solidFill>
                            <a:srgbClr val="222A3F"/>
                          </a:solidFill>
                          <a:latin typeface="Calibri"/>
                        </a:rPr>
                        <a:t>M2.5-matched EBM</a:t>
                      </a:r>
                    </a:p>
                  </a:txBody>
                  <a:tcPr marL="54864" marR="54864" marT="18288" marB="18288" anchor="ctr">
                    <a:solidFill>
                      <a:srgbClr val="EDE7F6"/>
                    </a:solidFill>
                  </a:tcPr>
                </a:tc>
                <a:tc>
                  <a:txBody>
                    <a:bodyPr/>
                    <a:lstStyle/>
                    <a:p>
                      <a:r>
                        <a:rPr sz="1200" b="1" i="0">
                          <a:solidFill>
                            <a:srgbClr val="222A3F"/>
                          </a:solidFill>
                          <a:latin typeface="Calibri"/>
                        </a:rPr>
                        <a:t>41</a:t>
                      </a:r>
                    </a:p>
                  </a:txBody>
                  <a:tcPr marL="54864" marR="54864" marT="18288" marB="18288" anchor="ctr">
                    <a:solidFill>
                      <a:srgbClr val="EDE7F6"/>
                    </a:solidFill>
                  </a:tcPr>
                </a:tc>
                <a:tc>
                  <a:txBody>
                    <a:bodyPr/>
                    <a:lstStyle/>
                    <a:p>
                      <a:r>
                        <a:rPr sz="1200" b="1" i="0">
                          <a:solidFill>
                            <a:srgbClr val="222A3F"/>
                          </a:solidFill>
                          <a:latin typeface="Calibri"/>
                        </a:rPr>
                        <a:t>0.960 [0.927, 0.988]</a:t>
                      </a:r>
                    </a:p>
                  </a:txBody>
                  <a:tcPr marL="54864" marR="54864" marT="18288" marB="18288" anchor="ctr">
                    <a:solidFill>
                      <a:srgbClr val="EDE7F6"/>
                    </a:solidFill>
                  </a:tcPr>
                </a:tc>
                <a:tc>
                  <a:txBody>
                    <a:bodyPr/>
                    <a:lstStyle/>
                    <a:p>
                      <a:r>
                        <a:rPr sz="1200" b="1" i="0">
                          <a:solidFill>
                            <a:srgbClr val="222A3F"/>
                          </a:solidFill>
                          <a:latin typeface="Calibri"/>
                        </a:rPr>
                        <a:t>0.532</a:t>
                      </a:r>
                    </a:p>
                  </a:txBody>
                  <a:tcPr marL="54864" marR="54864" marT="18288" marB="18288" anchor="ctr">
                    <a:solidFill>
                      <a:srgbClr val="EDE7F6"/>
                    </a:solidFill>
                  </a:tcPr>
                </a:tc>
                <a:tc>
                  <a:txBody>
                    <a:bodyPr/>
                    <a:lstStyle/>
                    <a:p>
                      <a:r>
                        <a:rPr sz="1200" b="1" i="0">
                          <a:solidFill>
                            <a:srgbClr val="222A3F"/>
                          </a:solidFill>
                          <a:latin typeface="Calibri"/>
                        </a:rPr>
                        <a:t>10.4×</a:t>
                      </a:r>
                    </a:p>
                  </a:txBody>
                  <a:tcPr marL="54864" marR="54864" marT="18288" marB="18288" anchor="ctr">
                    <a:solidFill>
                      <a:srgbClr val="EDE7F6"/>
                    </a:solidFill>
                  </a:tcPr>
                </a:tc>
                <a:extLst>
                  <a:ext uri="{0D108BD9-81ED-4DB2-BD59-A6C34878D82A}">
                    <a16:rowId xmlns:a16="http://schemas.microsoft.com/office/drawing/2014/main" val="10002"/>
                  </a:ext>
                </a:extLst>
              </a:tr>
              <a:tr h="384048">
                <a:tc>
                  <a:txBody>
                    <a:bodyPr/>
                    <a:lstStyle/>
                    <a:p>
                      <a:r>
                        <a:rPr sz="1200" b="0" i="0">
                          <a:solidFill>
                            <a:srgbClr val="222A3F"/>
                          </a:solidFill>
                          <a:latin typeface="Calibri"/>
                        </a:rPr>
                        <a:t>M3 XGBoost + FinBERT</a:t>
                      </a:r>
                    </a:p>
                  </a:txBody>
                  <a:tcPr marL="54864" marR="54864" marT="18288" marB="18288" anchor="ctr">
                    <a:solidFill>
                      <a:srgbClr val="FFFFFF"/>
                    </a:solidFill>
                  </a:tcPr>
                </a:tc>
                <a:tc>
                  <a:txBody>
                    <a:bodyPr/>
                    <a:lstStyle/>
                    <a:p>
                      <a:r>
                        <a:rPr sz="1200" b="0" i="0">
                          <a:solidFill>
                            <a:srgbClr val="222A3F"/>
                          </a:solidFill>
                          <a:latin typeface="Calibri"/>
                        </a:rPr>
                        <a:t>61</a:t>
                      </a:r>
                    </a:p>
                  </a:txBody>
                  <a:tcPr marL="54864" marR="54864" marT="18288" marB="18288" anchor="ctr">
                    <a:solidFill>
                      <a:srgbClr val="FFFFFF"/>
                    </a:solidFill>
                  </a:tcPr>
                </a:tc>
                <a:tc>
                  <a:txBody>
                    <a:bodyPr/>
                    <a:lstStyle/>
                    <a:p>
                      <a:r>
                        <a:rPr sz="1200" b="0" i="0">
                          <a:solidFill>
                            <a:srgbClr val="222A3F"/>
                          </a:solidFill>
                          <a:latin typeface="Calibri"/>
                        </a:rPr>
                        <a:t>0.932 [0.875, 0.979]</a:t>
                      </a:r>
                    </a:p>
                  </a:txBody>
                  <a:tcPr marL="54864" marR="54864" marT="18288" marB="18288" anchor="ctr">
                    <a:solidFill>
                      <a:srgbClr val="FFFFFF"/>
                    </a:solidFill>
                  </a:tcPr>
                </a:tc>
                <a:tc>
                  <a:txBody>
                    <a:bodyPr/>
                    <a:lstStyle/>
                    <a:p>
                      <a:r>
                        <a:rPr sz="1200" b="0" i="0">
                          <a:solidFill>
                            <a:srgbClr val="222A3F"/>
                          </a:solidFill>
                          <a:latin typeface="Calibri"/>
                        </a:rPr>
                        <a:t>0.411</a:t>
                      </a:r>
                    </a:p>
                  </a:txBody>
                  <a:tcPr marL="54864" marR="54864" marT="18288" marB="18288" anchor="ctr">
                    <a:solidFill>
                      <a:srgbClr val="FFFFFF"/>
                    </a:solidFill>
                  </a:tcPr>
                </a:tc>
                <a:tc>
                  <a:txBody>
                    <a:bodyPr/>
                    <a:lstStyle/>
                    <a:p>
                      <a:r>
                        <a:rPr sz="1200" b="0" i="0">
                          <a:solidFill>
                            <a:srgbClr val="222A3F"/>
                          </a:solidFill>
                          <a:latin typeface="Calibri"/>
                        </a:rPr>
                        <a:t>8.0×</a:t>
                      </a:r>
                    </a:p>
                  </a:txBody>
                  <a:tcPr marL="54864" marR="54864" marT="18288" marB="18288" anchor="ctr">
                    <a:solidFill>
                      <a:srgbClr val="FFFFFF"/>
                    </a:solidFill>
                  </a:tcPr>
                </a:tc>
                <a:extLst>
                  <a:ext uri="{0D108BD9-81ED-4DB2-BD59-A6C34878D82A}">
                    <a16:rowId xmlns:a16="http://schemas.microsoft.com/office/drawing/2014/main" val="10003"/>
                  </a:ext>
                </a:extLst>
              </a:tr>
              <a:tr h="384048">
                <a:tc>
                  <a:txBody>
                    <a:bodyPr/>
                    <a:lstStyle/>
                    <a:p>
                      <a:r>
                        <a:rPr sz="1200" b="0" i="0">
                          <a:solidFill>
                            <a:srgbClr val="222A3F"/>
                          </a:solidFill>
                          <a:latin typeface="Calibri"/>
                        </a:rPr>
                        <a:t>M4 E1-EBM ensemble</a:t>
                      </a:r>
                    </a:p>
                  </a:txBody>
                  <a:tcPr marL="54864" marR="54864" marT="18288" marB="18288" anchor="ctr">
                    <a:solidFill>
                      <a:srgbClr val="FFFFFF"/>
                    </a:solidFill>
                  </a:tcPr>
                </a:tc>
                <a:tc>
                  <a:txBody>
                    <a:bodyPr/>
                    <a:lstStyle/>
                    <a:p>
                      <a:r>
                        <a:rPr sz="1200" b="0" i="0">
                          <a:solidFill>
                            <a:srgbClr val="222A3F"/>
                          </a:solidFill>
                          <a:latin typeface="Calibri"/>
                        </a:rPr>
                        <a:t>—</a:t>
                      </a:r>
                    </a:p>
                  </a:txBody>
                  <a:tcPr marL="54864" marR="54864" marT="18288" marB="18288" anchor="ctr">
                    <a:solidFill>
                      <a:srgbClr val="FFFFFF"/>
                    </a:solidFill>
                  </a:tcPr>
                </a:tc>
                <a:tc>
                  <a:txBody>
                    <a:bodyPr/>
                    <a:lstStyle/>
                    <a:p>
                      <a:r>
                        <a:rPr sz="1200" b="0" i="0">
                          <a:solidFill>
                            <a:srgbClr val="222A3F"/>
                          </a:solidFill>
                          <a:latin typeface="Calibri"/>
                        </a:rPr>
                        <a:t>0.955</a:t>
                      </a:r>
                    </a:p>
                  </a:txBody>
                  <a:tcPr marL="54864" marR="54864" marT="18288" marB="18288" anchor="ctr">
                    <a:solidFill>
                      <a:srgbClr val="FFFFFF"/>
                    </a:solidFill>
                  </a:tcPr>
                </a:tc>
                <a:tc>
                  <a:txBody>
                    <a:bodyPr/>
                    <a:lstStyle/>
                    <a:p>
                      <a:r>
                        <a:rPr sz="1200" b="0" i="0">
                          <a:solidFill>
                            <a:srgbClr val="222A3F"/>
                          </a:solidFill>
                          <a:latin typeface="Calibri"/>
                        </a:rPr>
                        <a:t>0.433</a:t>
                      </a:r>
                    </a:p>
                  </a:txBody>
                  <a:tcPr marL="54864" marR="54864" marT="18288" marB="18288" anchor="ctr">
                    <a:solidFill>
                      <a:srgbClr val="FFFFFF"/>
                    </a:solidFill>
                  </a:tcPr>
                </a:tc>
                <a:tc>
                  <a:txBody>
                    <a:bodyPr/>
                    <a:lstStyle/>
                    <a:p>
                      <a:r>
                        <a:rPr sz="1200" b="0" i="0">
                          <a:solidFill>
                            <a:srgbClr val="222A3F"/>
                          </a:solidFill>
                          <a:latin typeface="Calibri"/>
                        </a:rPr>
                        <a:t>8.5×</a:t>
                      </a:r>
                    </a:p>
                  </a:txBody>
                  <a:tcPr marL="54864" marR="54864" marT="18288" marB="18288"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11480" y="4800600"/>
            <a:ext cx="8321040" cy="1463040"/>
          </a:xfrm>
          <a:prstGeom prst="rect">
            <a:avLst/>
          </a:prstGeom>
          <a:noFill/>
        </p:spPr>
        <p:txBody>
          <a:bodyPr wrap="square" lIns="0" tIns="0" rIns="0" bIns="0" anchor="t">
            <a:spAutoFit/>
          </a:bodyPr>
          <a:lstStyle/>
          <a:p>
            <a:pPr>
              <a:spcAft>
                <a:spcPts val="900"/>
              </a:spcAft>
            </a:pPr>
            <a:r>
              <a:rPr sz="1300" b="1" i="0">
                <a:solidFill>
                  <a:srgbClr val="002060"/>
                </a:solidFill>
                <a:latin typeface="Calibri"/>
              </a:rPr>
              <a:t>–  </a:t>
            </a:r>
            <a:r>
              <a:rPr sz="1500" b="1" i="0">
                <a:solidFill>
                  <a:srgbClr val="4400A9"/>
                </a:solidFill>
                <a:latin typeface="Calibri"/>
              </a:rPr>
              <a:t>0.532 </a:t>
            </a:r>
            <a:r>
              <a:rPr sz="1300" b="0" i="0">
                <a:solidFill>
                  <a:srgbClr val="222A3F"/>
                </a:solidFill>
                <a:latin typeface="Calibri"/>
              </a:rPr>
              <a:t>EBM AUPRC — 10.4× the scored base rate (5.1%, 11/215); highest of any single model.</a:t>
            </a:r>
          </a:p>
          <a:p>
            <a:pPr>
              <a:spcAft>
                <a:spcPts val="900"/>
              </a:spcAft>
            </a:pPr>
            <a:r>
              <a:rPr sz="1300" b="1" i="0">
                <a:solidFill>
                  <a:srgbClr val="002060"/>
                </a:solidFill>
                <a:latin typeface="Calibri"/>
              </a:rPr>
              <a:t>–  </a:t>
            </a:r>
            <a:r>
              <a:rPr sz="1500" b="1" i="0">
                <a:solidFill>
                  <a:srgbClr val="5A6B85"/>
                </a:solidFill>
                <a:latin typeface="Calibri"/>
              </a:rPr>
              <a:t>p = 0.097 </a:t>
            </a:r>
            <a:r>
              <a:rPr sz="1300" b="0" i="0">
                <a:solidFill>
                  <a:srgbClr val="222A3F"/>
                </a:solidFill>
                <a:latin typeface="Calibri"/>
              </a:rPr>
              <a:t>EBM vs RF DeLong — not statistically separable within one episode (11 positive observations in the evaluated 2007 fold).</a:t>
            </a:r>
          </a:p>
          <a:p>
            <a:pPr>
              <a:spcAft>
                <a:spcPts val="900"/>
              </a:spcAft>
            </a:pPr>
            <a:r>
              <a:rPr sz="1300" b="1" i="0">
                <a:solidFill>
                  <a:srgbClr val="002060"/>
                </a:solidFill>
                <a:latin typeface="Calibri"/>
              </a:rPr>
              <a:t>–  </a:t>
            </a:r>
            <a:r>
              <a:rPr sz="1300" b="1" i="0">
                <a:solidFill>
                  <a:srgbClr val="222A3F"/>
                </a:solidFill>
                <a:latin typeface="Calibri"/>
              </a:rPr>
              <a:t>Ensemble: </a:t>
            </a:r>
            <a:r>
              <a:rPr sz="1300" b="0" i="0">
                <a:solidFill>
                  <a:srgbClr val="222A3F"/>
                </a:solidFill>
                <a:latin typeface="Calibri"/>
              </a:rPr>
              <a:t>posts the lowest Brier of any configuration (0.056) but does not beat the EBM on AUROC or AUPRC — a probability-accuracy gain (Brier), not a discrimination gain.</a:t>
            </a:r>
          </a:p>
          <a:p>
            <a:pPr>
              <a:spcAft>
                <a:spcPts val="600"/>
              </a:spcAft>
            </a:pPr>
            <a:r>
              <a:rPr sz="1000" b="1" i="1">
                <a:solidFill>
                  <a:srgbClr val="595959"/>
                </a:solidFill>
                <a:latin typeface="Calibri"/>
              </a:rPr>
              <a:t xml:space="preserve">Single fold — country ranking only, not prospective performance. </a:t>
            </a:r>
            <a:r>
              <a:rPr sz="1000" b="0" i="1">
                <a:solidFill>
                  <a:srgbClr val="595959"/>
                </a:solidFill>
                <a:latin typeface="Calibri"/>
              </a:rPr>
              <a:t>All four rows are computed on the same scored sample: 215 observations, 11 positives, 5.1% base rate (Table 4.6). Lift is AUPRC over that scored prevalence.</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5</a:t>
            </a:r>
          </a:p>
        </p:txBody>
      </p:sp>
    </p:spTree>
    <p:extLst>
      <p:ext uri="{BB962C8B-B14F-4D97-AF65-F5344CB8AC3E}">
        <p14:creationId xmlns:p14="http://schemas.microsoft.com/office/powerpoint/2010/main" val="867959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7DDA-AE44-C0AB-22D3-0C1952427E7D}"/>
            </a:ext>
          </a:extLst>
        </p:cNvPr>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ROC and Precision–Recall Curves (Figure 4.1)</a:t>
            </a:r>
          </a:p>
        </p:txBody>
      </p:sp>
      <p:pic>
        <p:nvPicPr>
          <p:cNvPr id="4" name="Picture 3" descr="fig41.png"/>
          <p:cNvPicPr>
            <a:picLocks noChangeAspect="1"/>
          </p:cNvPicPr>
          <p:nvPr/>
        </p:nvPicPr>
        <p:blipFill>
          <a:blip r:embed="rId3"/>
          <a:stretch>
            <a:fillRect/>
          </a:stretch>
        </p:blipFill>
        <p:spPr>
          <a:xfrm>
            <a:off x="411480" y="2514600"/>
            <a:ext cx="8321040" cy="3560386"/>
          </a:xfrm>
          <a:prstGeom prst="rect">
            <a:avLst/>
          </a:prstGeom>
        </p:spPr>
      </p:pic>
      <p:sp>
        <p:nvSpPr>
          <p:cNvPr id="5" name="TextBox 4"/>
          <p:cNvSpPr txBox="1"/>
          <p:nvPr/>
        </p:nvSpPr>
        <p:spPr>
          <a:xfrm>
            <a:off x="411480" y="6166426"/>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4.1 — Solid: Stage 1 — 467 scored observations, 28 positives, 1993–2018; broader training window but GFC-dominated scored evaluation. Dashed: Stage 2 — 215 scored, 11 positives; single-episode case study. The contrast is itself part of the argument: the broader window is more informative than the single-episode case study; strict temporal validation is the genuinely prospective test.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6</a:t>
            </a:r>
          </a:p>
        </p:txBody>
      </p:sp>
    </p:spTree>
    <p:extLst>
      <p:ext uri="{BB962C8B-B14F-4D97-AF65-F5344CB8AC3E}">
        <p14:creationId xmlns:p14="http://schemas.microsoft.com/office/powerpoint/2010/main" val="2789551039"/>
      </p:ext>
    </p:extLst>
  </p:cSld>
  <p:clrMapOvr>
    <a:masterClrMapping/>
  </p:clrMapOvr>
  <mc:AlternateContent xmlns:mc="http://schemas.openxmlformats.org/markup-compatibility/2006" xmlns:p14="http://schemas.microsoft.com/office/powerpoint/2010/main">
    <mc:Choice Requires="p14">
      <p:transition spd="slow" p14:dur="2000" advTm="95759"/>
    </mc:Choice>
    <mc:Fallback xmlns="">
      <p:transition spd="slow" advTm="9575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The 2007 Country Ranking (Figure 4.11)</a:t>
            </a:r>
          </a:p>
        </p:txBody>
      </p:sp>
      <p:pic>
        <p:nvPicPr>
          <p:cNvPr id="4" name="Picture 3" descr="fig411.png"/>
          <p:cNvPicPr>
            <a:picLocks noChangeAspect="1"/>
          </p:cNvPicPr>
          <p:nvPr/>
        </p:nvPicPr>
        <p:blipFill>
          <a:blip r:embed="rId3"/>
          <a:stretch>
            <a:fillRect/>
          </a:stretch>
        </p:blipFill>
        <p:spPr>
          <a:xfrm>
            <a:off x="822960" y="2468880"/>
            <a:ext cx="7498079" cy="2630084"/>
          </a:xfrm>
          <a:prstGeom prst="rect">
            <a:avLst/>
          </a:prstGeom>
        </p:spPr>
      </p:pic>
      <p:sp>
        <p:nvSpPr>
          <p:cNvPr id="5" name="TextBox 4"/>
          <p:cNvSpPr txBox="1"/>
          <p:nvPr/>
        </p:nvSpPr>
        <p:spPr>
          <a:xfrm>
            <a:off x="822960" y="5153828"/>
            <a:ext cx="7498079"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4.11 — E1-EBM ranking, coloured by qualitative crisis type (★ = positive under the JST two-year target).</a:t>
            </a:r>
          </a:p>
        </p:txBody>
      </p:sp>
      <p:sp>
        <p:nvSpPr>
          <p:cNvPr id="6" name="TextBox 5"/>
          <p:cNvSpPr txBox="1"/>
          <p:nvPr/>
        </p:nvSpPr>
        <p:spPr>
          <a:xfrm>
            <a:off x="411480" y="5556164"/>
            <a:ext cx="8321040" cy="1463040"/>
          </a:xfrm>
          <a:prstGeom prst="rect">
            <a:avLst/>
          </a:prstGeom>
          <a:noFill/>
        </p:spPr>
        <p:txBody>
          <a:bodyPr wrap="square" lIns="0" tIns="0" rIns="0" bIns="0" anchor="t">
            <a:spAutoFit/>
          </a:bodyPr>
          <a:lstStyle/>
          <a:p>
            <a:pPr>
              <a:spcAft>
                <a:spcPts val="700"/>
              </a:spcAft>
            </a:pPr>
            <a:r>
              <a:rPr sz="1200" b="1" i="0">
                <a:solidFill>
                  <a:srgbClr val="002060"/>
                </a:solidFill>
                <a:latin typeface="Calibri"/>
              </a:rPr>
              <a:t>–  </a:t>
            </a:r>
            <a:r>
              <a:rPr sz="1200" b="1" i="0">
                <a:solidFill>
                  <a:srgbClr val="222A3F"/>
                </a:solidFill>
                <a:latin typeface="Calibri"/>
              </a:rPr>
              <a:t>Fundamental 0.695 </a:t>
            </a:r>
            <a:r>
              <a:rPr sz="1200" b="0" i="0">
                <a:solidFill>
                  <a:srgbClr val="222A3F"/>
                </a:solidFill>
                <a:latin typeface="Calibri"/>
              </a:rPr>
              <a:t>&gt; Contagion 0.395 &gt; No-crisis 0.325 (exploratory, post-hoc) — the ranking tracks domestic credit-cycle precursors, on which the model was trained.</a:t>
            </a:r>
          </a:p>
          <a:p>
            <a:pPr>
              <a:spcAft>
                <a:spcPts val="700"/>
              </a:spcAft>
            </a:pPr>
            <a:r>
              <a:rPr sz="1200" b="1" i="0">
                <a:solidFill>
                  <a:srgbClr val="002060"/>
                </a:solidFill>
                <a:latin typeface="Calibri"/>
              </a:rPr>
              <a:t>–  </a:t>
            </a:r>
            <a:r>
              <a:rPr sz="1200" b="1" i="0">
                <a:solidFill>
                  <a:srgbClr val="2E7D45"/>
                </a:solidFill>
                <a:latin typeface="Calibri"/>
              </a:rPr>
              <a:t>Spain flagged </a:t>
            </a:r>
            <a:r>
              <a:rPr sz="1200" b="0" i="0">
                <a:solidFill>
                  <a:srgbClr val="222A3F"/>
                </a:solidFill>
                <a:latin typeface="Calibri"/>
              </a:rPr>
              <a:t>on credit growth of 19.8% p.a. (E1-EBM 0.810); </a:t>
            </a:r>
            <a:r>
              <a:rPr sz="1200" b="1" i="0">
                <a:solidFill>
                  <a:srgbClr val="C00000"/>
                </a:solidFill>
                <a:latin typeface="Calibri"/>
              </a:rPr>
              <a:t>UK low at 0.171 </a:t>
            </a:r>
            <a:r>
              <a:rPr sz="1200" b="0" i="0">
                <a:solidFill>
                  <a:srgbClr val="222A3F"/>
                </a:solidFill>
                <a:latin typeface="Calibri"/>
              </a:rPr>
              <a:t>(rank 15) — not a false negative (target_h2 = 0), but a qualitative scope limit: funding-channel fragility lies outside the macro feature set (§5.4).</a:t>
            </a:r>
          </a:p>
        </p:txBody>
      </p:sp>
      <p:sp>
        <p:nvSpPr>
          <p:cNvPr id="7" name="TextBox 6"/>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7</a:t>
            </a:r>
          </a:p>
        </p:txBody>
      </p:sp>
    </p:spTree>
    <p:extLst>
      <p:ext uri="{BB962C8B-B14F-4D97-AF65-F5344CB8AC3E}">
        <p14:creationId xmlns:p14="http://schemas.microsoft.com/office/powerpoint/2010/main" val="248889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Sentiment (H1)</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Does Sentiment Help? Matched Pairwise Decomposition (§4.2.1)</a:t>
            </a:r>
          </a:p>
        </p:txBody>
      </p:sp>
      <p:graphicFrame>
        <p:nvGraphicFramePr>
          <p:cNvPr id="4" name="Chart 3"/>
          <p:cNvGraphicFramePr>
            <a:graphicFrameLocks noGrp="1"/>
          </p:cNvGraphicFramePr>
          <p:nvPr/>
        </p:nvGraphicFramePr>
        <p:xfrm>
          <a:off x="640080" y="2468880"/>
          <a:ext cx="78638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411480" y="5943600"/>
            <a:ext cx="832104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The published M3-vs-M2 comparison changes algorithm and features at once; the added cells partially separate algorithm-class from feature-set differences, but do not form a fully orthogonal factorial design.</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8</a:t>
            </a:r>
          </a:p>
        </p:txBody>
      </p:sp>
    </p:spTree>
    <p:extLst>
      <p:ext uri="{BB962C8B-B14F-4D97-AF65-F5344CB8AC3E}">
        <p14:creationId xmlns:p14="http://schemas.microsoft.com/office/powerpoint/2010/main" val="3293249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Sentiment (H1)</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Isolated Effects: More Consistent with Algorithm Class than Sentiment</a:t>
            </a:r>
          </a:p>
        </p:txBody>
      </p:sp>
      <p:sp>
        <p:nvSpPr>
          <p:cNvPr id="4" name="TextBox 3"/>
          <p:cNvSpPr txBox="1"/>
          <p:nvPr/>
        </p:nvSpPr>
        <p:spPr>
          <a:xfrm>
            <a:off x="411480" y="2606040"/>
            <a:ext cx="8321040" cy="2377440"/>
          </a:xfrm>
          <a:prstGeom prst="rect">
            <a:avLst/>
          </a:prstGeom>
          <a:noFill/>
        </p:spPr>
        <p:txBody>
          <a:bodyPr wrap="square" lIns="0" tIns="0" rIns="0" bIns="0" anchor="t">
            <a:spAutoFit/>
          </a:bodyPr>
          <a:lstStyle/>
          <a:p>
            <a:pPr>
              <a:spcAft>
                <a:spcPts val="1400"/>
              </a:spcAft>
            </a:pPr>
            <a:r>
              <a:rPr sz="1400" b="1" i="0">
                <a:solidFill>
                  <a:srgbClr val="002060"/>
                </a:solidFill>
                <a:latin typeface="Calibri"/>
              </a:rPr>
              <a:t>–  </a:t>
            </a:r>
            <a:r>
              <a:rPr sz="1700" b="1" i="0">
                <a:solidFill>
                  <a:srgbClr val="2E7D45"/>
                </a:solidFill>
                <a:latin typeface="Calibri"/>
              </a:rPr>
              <a:t>+0.043 </a:t>
            </a:r>
            <a:r>
              <a:rPr sz="1400" b="0" i="0">
                <a:solidFill>
                  <a:srgbClr val="222A3F"/>
                </a:solidFill>
                <a:latin typeface="Calibri"/>
              </a:rPr>
              <a:t>algorithm effect — EBM vs XGBoost, feature set fixed at 61 (directional; no independent CI).</a:t>
            </a:r>
          </a:p>
          <a:p>
            <a:pPr>
              <a:spcAft>
                <a:spcPts val="1400"/>
              </a:spcAft>
            </a:pPr>
            <a:r>
              <a:rPr sz="1400" b="1" i="0">
                <a:solidFill>
                  <a:srgbClr val="002060"/>
                </a:solidFill>
                <a:latin typeface="Calibri"/>
              </a:rPr>
              <a:t>–  </a:t>
            </a:r>
            <a:r>
              <a:rPr sz="1700" b="1" i="0">
                <a:solidFill>
                  <a:srgbClr val="C00000"/>
                </a:solidFill>
                <a:latin typeface="Calibri"/>
              </a:rPr>
              <a:t>−0.078 </a:t>
            </a:r>
            <a:r>
              <a:rPr sz="1400" b="0" i="0">
                <a:solidFill>
                  <a:srgbClr val="222A3F"/>
                </a:solidFill>
                <a:latin typeface="Calibri"/>
              </a:rPr>
              <a:t>sentiment effect — EBM, adding sentiment. Bootstrap 95% CI [−0.292, +0.187] spans zero: statistically insignificant, directional — and negative.</a:t>
            </a:r>
          </a:p>
          <a:p>
            <a:pPr>
              <a:spcAft>
                <a:spcPts val="1400"/>
              </a:spcAft>
            </a:pPr>
            <a:r>
              <a:rPr sz="1400" b="1" i="0">
                <a:solidFill>
                  <a:srgbClr val="002060"/>
                </a:solidFill>
                <a:latin typeface="Calibri"/>
              </a:rPr>
              <a:t>–  </a:t>
            </a:r>
            <a:r>
              <a:rPr sz="1700" b="1" i="0">
                <a:solidFill>
                  <a:srgbClr val="002060"/>
                </a:solidFill>
                <a:latin typeface="Calibri"/>
              </a:rPr>
              <a:t>0 / 156 </a:t>
            </a:r>
            <a:r>
              <a:rPr sz="1400" b="0" i="0">
                <a:solidFill>
                  <a:srgbClr val="222A3F"/>
                </a:solidFill>
                <a:latin typeface="Calibri"/>
              </a:rPr>
              <a:t>sentiment Granger tests surviving Benjamini–Hochberg or Bonferroni correction (§4.9.4) — corroboration independent of any model.</a:t>
            </a:r>
          </a:p>
        </p:txBody>
      </p:sp>
      <p:sp>
        <p:nvSpPr>
          <p:cNvPr id="5" name="Rounded Rectangle 4"/>
          <p:cNvSpPr/>
          <p:nvPr/>
        </p:nvSpPr>
        <p:spPr>
          <a:xfrm>
            <a:off x="411480" y="5029200"/>
            <a:ext cx="8321040" cy="1005840"/>
          </a:xfrm>
          <a:prstGeom prst="roundRect">
            <a:avLst/>
          </a:prstGeom>
          <a:solidFill>
            <a:srgbClr val="EDE7F6"/>
          </a:solidFill>
          <a:ln w="9525">
            <a:solidFill>
              <a:srgbClr val="4400A9"/>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64592" rtlCol="0" anchor="ctr"/>
          <a:lstStyle/>
          <a:p>
            <a:pPr algn="ctr">
              <a:spcAft>
                <a:spcPts val="600"/>
              </a:spcAft>
            </a:pPr>
            <a:r>
              <a:rPr sz="1400" b="1" i="0" dirty="0">
                <a:solidFill>
                  <a:srgbClr val="002060"/>
                </a:solidFill>
                <a:latin typeface="Calibri"/>
              </a:rPr>
              <a:t>H1 verdict: not confirmed. </a:t>
            </a:r>
            <a:r>
              <a:rPr sz="1300" b="0" i="0" dirty="0">
                <a:solidFill>
                  <a:srgbClr val="222A3F"/>
                </a:solidFill>
                <a:latin typeface="Calibri"/>
              </a:rPr>
              <a:t>M3’s raw AUPRC edge (0.411 vs 0.343) is directionally observed but statistically unconfirmed (bootstrap 95% CI [−0.130, +0.312] spans zero); the apparent gain over RF is more consistent with </a:t>
            </a:r>
            <a:r>
              <a:rPr lang="en-GB" sz="1300" b="0" i="0" dirty="0">
                <a:solidFill>
                  <a:srgbClr val="222A3F"/>
                </a:solidFill>
                <a:latin typeface="Calibri"/>
              </a:rPr>
              <a:t>a change in </a:t>
            </a:r>
            <a:r>
              <a:rPr sz="1300" b="0" i="0" dirty="0">
                <a:solidFill>
                  <a:srgbClr val="222A3F"/>
                </a:solidFill>
                <a:latin typeface="Calibri"/>
              </a:rPr>
              <a:t>algorithm class</a:t>
            </a:r>
            <a:r>
              <a:rPr lang="en-GB" sz="1300" b="0" i="0" dirty="0">
                <a:solidFill>
                  <a:srgbClr val="222A3F"/>
                </a:solidFill>
                <a:latin typeface="Calibri"/>
              </a:rPr>
              <a:t> than an incremental effect from </a:t>
            </a:r>
            <a:r>
              <a:rPr lang="en-GB" sz="1300" b="0" i="0">
                <a:solidFill>
                  <a:srgbClr val="222A3F"/>
                </a:solidFill>
                <a:latin typeface="Calibri"/>
              </a:rPr>
              <a:t>sentiment data</a:t>
            </a:r>
            <a:r>
              <a:rPr sz="1300" b="0" i="0">
                <a:solidFill>
                  <a:srgbClr val="222A3F"/>
                </a:solidFill>
                <a:latin typeface="Calibri"/>
              </a:rPr>
              <a:t>; the isolated sentiment contribution is directionally negative.</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9</a:t>
            </a:r>
          </a:p>
        </p:txBody>
      </p:sp>
    </p:spTree>
    <p:extLst>
      <p:ext uri="{BB962C8B-B14F-4D97-AF65-F5344CB8AC3E}">
        <p14:creationId xmlns:p14="http://schemas.microsoft.com/office/powerpoint/2010/main" val="3923424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Mechanism &amp; Training-Window Instability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Shape Functions: the Same Value Flips Sign (Figure 4.7)</a:t>
            </a:r>
          </a:p>
        </p:txBody>
      </p:sp>
      <p:pic>
        <p:nvPicPr>
          <p:cNvPr id="4" name="Picture 3" descr="fig47_termspread.png"/>
          <p:cNvPicPr>
            <a:picLocks noChangeAspect="1"/>
          </p:cNvPicPr>
          <p:nvPr/>
        </p:nvPicPr>
        <p:blipFill>
          <a:blip r:embed="rId3"/>
          <a:stretch>
            <a:fillRect/>
          </a:stretch>
        </p:blipFill>
        <p:spPr>
          <a:xfrm>
            <a:off x="685800" y="2423160"/>
            <a:ext cx="7772400" cy="2264536"/>
          </a:xfrm>
          <a:prstGeom prst="rect">
            <a:avLst/>
          </a:prstGeom>
        </p:spPr>
      </p:pic>
      <p:sp>
        <p:nvSpPr>
          <p:cNvPr id="5" name="TextBox 4"/>
          <p:cNvSpPr txBox="1"/>
          <p:nvPr/>
        </p:nvSpPr>
        <p:spPr>
          <a:xfrm>
            <a:off x="411480" y="4797424"/>
            <a:ext cx="8321040" cy="2011680"/>
          </a:xfrm>
          <a:prstGeom prst="rect">
            <a:avLst/>
          </a:prstGeom>
          <a:noFill/>
        </p:spPr>
        <p:txBody>
          <a:bodyPr wrap="square" lIns="0" tIns="0" rIns="0" bIns="0" anchor="t">
            <a:spAutoFit/>
          </a:bodyPr>
          <a:lstStyle/>
          <a:p>
            <a:pPr>
              <a:spcAft>
                <a:spcPts val="600"/>
              </a:spcAft>
            </a:pPr>
            <a:r>
              <a:rPr sz="1200" b="1" i="0">
                <a:solidFill>
                  <a:srgbClr val="002060"/>
                </a:solidFill>
                <a:latin typeface="Calibri"/>
              </a:rPr>
              <a:t>–  Divergent fits: </a:t>
            </a:r>
            <a:r>
              <a:rPr sz="1200" b="0" i="0">
                <a:solidFill>
                  <a:srgbClr val="222A3F"/>
                </a:solidFill>
                <a:latin typeface="Calibri"/>
              </a:rPr>
              <a:t>risk mappings learned on the early GFC-run-up window (blue, 2003–2006) differ from those learned on the GFC-inclusive window (red, 2003–2010) across all examined lags, most clearly in the lag-3 term-spread function.</a:t>
            </a:r>
          </a:p>
          <a:p>
            <a:pPr>
              <a:spcAft>
                <a:spcPts val="600"/>
              </a:spcAft>
            </a:pPr>
            <a:r>
              <a:rPr sz="1200" b="1" i="0">
                <a:solidFill>
                  <a:srgbClr val="002060"/>
                </a:solidFill>
                <a:latin typeface="Calibri"/>
              </a:rPr>
              <a:t>–  Term-spread sign inversion: </a:t>
            </a:r>
            <a:r>
              <a:rPr sz="1200" b="0" i="0">
                <a:solidFill>
                  <a:srgbClr val="222A3F"/>
                </a:solidFill>
                <a:latin typeface="Calibri"/>
              </a:rPr>
              <a:t>the same feature value is risk-reducing in one training window and risk-increasing in the other — a sign inversion no single static model can capture.</a:t>
            </a:r>
          </a:p>
          <a:p>
            <a:pPr>
              <a:spcAft>
                <a:spcPts val="600"/>
              </a:spcAft>
            </a:pPr>
            <a:r>
              <a:rPr sz="1200" b="1" i="0">
                <a:solidFill>
                  <a:srgbClr val="002060"/>
                </a:solidFill>
                <a:latin typeface="Calibri"/>
              </a:rPr>
              <a:t>–  Direct evidence: </a:t>
            </a:r>
            <a:r>
              <a:rPr sz="1200" b="0" i="0">
                <a:solidFill>
                  <a:srgbClr val="222A3F"/>
                </a:solidFill>
                <a:latin typeface="Calibri"/>
              </a:rPr>
              <a:t>shape functions ARE the model, so the instability is a property of the fitted model itself — not an artefact of a post-hoc explanation tool like SHAP. The two windows are nested, so this is training-window instability; the disjoint cross-regime test is Appendix A (NB11: pre-GFC 1989–2002 vs GFC-inclusive).</a:t>
            </a:r>
          </a:p>
          <a:p>
            <a:pPr>
              <a:spcAft>
                <a:spcPts val="600"/>
              </a:spcAft>
            </a:pPr>
            <a:r>
              <a:rPr sz="1200" b="1" i="0">
                <a:solidFill>
                  <a:srgbClr val="002060"/>
                </a:solidFill>
                <a:latin typeface="Calibri"/>
              </a:rPr>
              <a:t>–  </a:t>
            </a:r>
            <a:r>
              <a:rPr sz="1200" b="1" i="0">
                <a:solidFill>
                  <a:srgbClr val="C00000"/>
                </a:solidFill>
                <a:latin typeface="Calibri"/>
              </a:rPr>
              <a:t>Separate H2 result — H2 not supported: </a:t>
            </a:r>
            <a:r>
              <a:rPr sz="1200" b="0" i="0">
                <a:solidFill>
                  <a:srgbClr val="222A3F"/>
                </a:solidFill>
                <a:latin typeface="Calibri"/>
              </a:rPr>
              <a:t>no sentiment feature in the top-5 by SHAP or EBM native importance (five appear in M3’s SHAP top-20); importance is led by term spread (term_spread_lag3 = 1.717) and credit.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10</a:t>
            </a:r>
          </a:p>
        </p:txBody>
      </p:sp>
    </p:spTree>
    <p:extLst>
      <p:ext uri="{BB962C8B-B14F-4D97-AF65-F5344CB8AC3E}">
        <p14:creationId xmlns:p14="http://schemas.microsoft.com/office/powerpoint/2010/main" val="387394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Mechanism &amp; Training-Window Instability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Full Shape-Function Comparison, All Lags (Figure 4.7)</a:t>
            </a:r>
          </a:p>
        </p:txBody>
      </p:sp>
      <p:pic>
        <p:nvPicPr>
          <p:cNvPr id="4" name="Picture 3" descr="fig47_full.png"/>
          <p:cNvPicPr>
            <a:picLocks noChangeAspect="1"/>
          </p:cNvPicPr>
          <p:nvPr/>
        </p:nvPicPr>
        <p:blipFill>
          <a:blip r:embed="rId3"/>
          <a:stretch>
            <a:fillRect/>
          </a:stretch>
        </p:blipFill>
        <p:spPr>
          <a:xfrm>
            <a:off x="1143000" y="2468880"/>
            <a:ext cx="6858000" cy="3771388"/>
          </a:xfrm>
          <a:prstGeom prst="rect">
            <a:avLst/>
          </a:prstGeom>
        </p:spPr>
      </p:pic>
      <p:sp>
        <p:nvSpPr>
          <p:cNvPr id="5" name="TextBox 4"/>
          <p:cNvSpPr txBox="1"/>
          <p:nvPr/>
        </p:nvSpPr>
        <p:spPr>
          <a:xfrm>
            <a:off x="685800" y="6313420"/>
            <a:ext cx="777240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4.7 — top row: term spread, lags 1–3; bottom row: credit (total loans), lags 1–3. Training-window instability in the feature–risk relationships supports the H3 refinement.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11</a:t>
            </a:r>
          </a:p>
        </p:txBody>
      </p:sp>
    </p:spTree>
    <p:extLst>
      <p:ext uri="{BB962C8B-B14F-4D97-AF65-F5344CB8AC3E}">
        <p14:creationId xmlns:p14="http://schemas.microsoft.com/office/powerpoint/2010/main" val="783650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Strict Prospective Validation (H3 refined)</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Strict Temporal Splits: More of the Same Data Is Not the Answer (Table 4.4)</a:t>
            </a:r>
          </a:p>
        </p:txBody>
      </p:sp>
      <p:graphicFrame>
        <p:nvGraphicFramePr>
          <p:cNvPr id="4" name="Table 3"/>
          <p:cNvGraphicFramePr>
            <a:graphicFrameLocks noGrp="1"/>
          </p:cNvGraphicFramePr>
          <p:nvPr/>
        </p:nvGraphicFramePr>
        <p:xfrm>
          <a:off x="411480" y="2560320"/>
          <a:ext cx="8321040" cy="1536192"/>
        </p:xfrm>
        <a:graphic>
          <a:graphicData uri="http://schemas.openxmlformats.org/drawingml/2006/table">
            <a:tbl>
              <a:tblPr firstRow="1" bandRow="1">
                <a:tableStyleId>{5C22544A-7EE6-4342-B048-85BDC9FD1C3A}</a:tableStyleId>
              </a:tblPr>
              <a:tblGrid>
                <a:gridCol w="1571752">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1063244">
                  <a:extLst>
                    <a:ext uri="{9D8B030D-6E8A-4147-A177-3AD203B41FA5}">
                      <a16:colId xmlns:a16="http://schemas.microsoft.com/office/drawing/2014/main" val="20002"/>
                    </a:ext>
                  </a:extLst>
                </a:gridCol>
                <a:gridCol w="878332">
                  <a:extLst>
                    <a:ext uri="{9D8B030D-6E8A-4147-A177-3AD203B41FA5}">
                      <a16:colId xmlns:a16="http://schemas.microsoft.com/office/drawing/2014/main" val="20003"/>
                    </a:ext>
                  </a:extLst>
                </a:gridCol>
                <a:gridCol w="1155700">
                  <a:extLst>
                    <a:ext uri="{9D8B030D-6E8A-4147-A177-3AD203B41FA5}">
                      <a16:colId xmlns:a16="http://schemas.microsoft.com/office/drawing/2014/main" val="20004"/>
                    </a:ext>
                  </a:extLst>
                </a:gridCol>
                <a:gridCol w="1201928">
                  <a:extLst>
                    <a:ext uri="{9D8B030D-6E8A-4147-A177-3AD203B41FA5}">
                      <a16:colId xmlns:a16="http://schemas.microsoft.com/office/drawing/2014/main" val="20005"/>
                    </a:ext>
                  </a:extLst>
                </a:gridCol>
                <a:gridCol w="1294384">
                  <a:extLst>
                    <a:ext uri="{9D8B030D-6E8A-4147-A177-3AD203B41FA5}">
                      <a16:colId xmlns:a16="http://schemas.microsoft.com/office/drawing/2014/main" val="20006"/>
                    </a:ext>
                  </a:extLst>
                </a:gridCol>
              </a:tblGrid>
              <a:tr h="384048">
                <a:tc>
                  <a:txBody>
                    <a:bodyPr/>
                    <a:lstStyle/>
                    <a:p>
                      <a:r>
                        <a:rPr sz="1100" b="1" i="0">
                          <a:solidFill>
                            <a:srgbClr val="FFFFFF"/>
                          </a:solidFill>
                          <a:latin typeface="Calibri"/>
                        </a:rPr>
                        <a:t>Split</a:t>
                      </a:r>
                    </a:p>
                  </a:txBody>
                  <a:tcPr marL="54864" marR="54864" marT="18288" marB="18288" anchor="ctr">
                    <a:solidFill>
                      <a:srgbClr val="002060"/>
                    </a:solidFill>
                  </a:tcPr>
                </a:tc>
                <a:tc>
                  <a:txBody>
                    <a:bodyPr/>
                    <a:lstStyle/>
                    <a:p>
                      <a:r>
                        <a:rPr sz="1100" b="1" i="0">
                          <a:solidFill>
                            <a:srgbClr val="FFFFFF"/>
                          </a:solidFill>
                          <a:latin typeface="Calibri"/>
                        </a:rPr>
                        <a:t>Train</a:t>
                      </a:r>
                    </a:p>
                  </a:txBody>
                  <a:tcPr marL="54864" marR="54864" marT="18288" marB="18288" anchor="ctr">
                    <a:solidFill>
                      <a:srgbClr val="002060"/>
                    </a:solidFill>
                  </a:tcPr>
                </a:tc>
                <a:tc>
                  <a:txBody>
                    <a:bodyPr/>
                    <a:lstStyle/>
                    <a:p>
                      <a:r>
                        <a:rPr sz="1100" b="1" i="0">
                          <a:solidFill>
                            <a:srgbClr val="FFFFFF"/>
                          </a:solidFill>
                          <a:latin typeface="Calibri"/>
                        </a:rPr>
                        <a:t>Test</a:t>
                      </a:r>
                    </a:p>
                  </a:txBody>
                  <a:tcPr marL="54864" marR="54864" marT="18288" marB="18288" anchor="ctr">
                    <a:solidFill>
                      <a:srgbClr val="002060"/>
                    </a:solidFill>
                  </a:tcPr>
                </a:tc>
                <a:tc>
                  <a:txBody>
                    <a:bodyPr/>
                    <a:lstStyle/>
                    <a:p>
                      <a:r>
                        <a:rPr sz="1100" b="1" i="0">
                          <a:solidFill>
                            <a:srgbClr val="FFFFFF"/>
                          </a:solidFill>
                          <a:latin typeface="Calibri"/>
                        </a:rPr>
                        <a:t>Train / test onsets</a:t>
                      </a:r>
                    </a:p>
                  </a:txBody>
                  <a:tcPr marL="54864" marR="54864" marT="18288" marB="18288" anchor="ctr">
                    <a:solidFill>
                      <a:srgbClr val="002060"/>
                    </a:solidFill>
                  </a:tcPr>
                </a:tc>
                <a:tc>
                  <a:txBody>
                    <a:bodyPr/>
                    <a:lstStyle/>
                    <a:p>
                      <a:r>
                        <a:rPr sz="1100" b="1" i="0">
                          <a:solidFill>
                            <a:srgbClr val="FFFFFF"/>
                          </a:solidFill>
                          <a:latin typeface="Calibri"/>
                        </a:rPr>
                        <a:t>RF AUROC</a:t>
                      </a:r>
                    </a:p>
                  </a:txBody>
                  <a:tcPr marL="54864" marR="54864" marT="18288" marB="18288" anchor="ctr">
                    <a:solidFill>
                      <a:srgbClr val="002060"/>
                    </a:solidFill>
                  </a:tcPr>
                </a:tc>
                <a:tc>
                  <a:txBody>
                    <a:bodyPr/>
                    <a:lstStyle/>
                    <a:p>
                      <a:r>
                        <a:rPr sz="1100" b="1" i="0">
                          <a:solidFill>
                            <a:srgbClr val="FFFFFF"/>
                          </a:solidFill>
                          <a:latin typeface="Calibri"/>
                        </a:rPr>
                        <a:t>EBM AUROC</a:t>
                      </a:r>
                    </a:p>
                  </a:txBody>
                  <a:tcPr marL="54864" marR="54864" marT="18288" marB="18288" anchor="ctr">
                    <a:solidFill>
                      <a:srgbClr val="002060"/>
                    </a:solidFill>
                  </a:tcPr>
                </a:tc>
                <a:tc>
                  <a:txBody>
                    <a:bodyPr/>
                    <a:lstStyle/>
                    <a:p>
                      <a:r>
                        <a:rPr sz="1100" b="1" i="0">
                          <a:solidFill>
                            <a:srgbClr val="FFFFFF"/>
                          </a:solidFill>
                          <a:latin typeface="Calibri"/>
                        </a:rPr>
                        <a:t>0.75 bench</a:t>
                      </a:r>
                    </a:p>
                  </a:txBody>
                  <a:tcPr marL="54864" marR="54864" marT="18288" marB="18288" anchor="ctr">
                    <a:solidFill>
                      <a:srgbClr val="002060"/>
                    </a:solidFill>
                  </a:tcPr>
                </a:tc>
                <a:extLst>
                  <a:ext uri="{0D108BD9-81ED-4DB2-BD59-A6C34878D82A}">
                    <a16:rowId xmlns:a16="http://schemas.microsoft.com/office/drawing/2014/main" val="10000"/>
                  </a:ext>
                </a:extLst>
              </a:tr>
              <a:tr h="384048">
                <a:tc>
                  <a:txBody>
                    <a:bodyPr/>
                    <a:lstStyle/>
                    <a:p>
                      <a:r>
                        <a:rPr sz="1100" b="0" i="0">
                          <a:solidFill>
                            <a:srgbClr val="222A3F"/>
                          </a:solidFill>
                          <a:latin typeface="Calibri"/>
                        </a:rPr>
                        <a:t>A: Pre-Nordic</a:t>
                      </a:r>
                    </a:p>
                  </a:txBody>
                  <a:tcPr marL="54864" marR="54864" marT="18288" marB="18288" anchor="ctr">
                    <a:solidFill>
                      <a:srgbClr val="FFFFFF"/>
                    </a:solidFill>
                  </a:tcPr>
                </a:tc>
                <a:tc>
                  <a:txBody>
                    <a:bodyPr/>
                    <a:lstStyle/>
                    <a:p>
                      <a:r>
                        <a:rPr sz="1100" b="0" i="0">
                          <a:solidFill>
                            <a:srgbClr val="222A3F"/>
                          </a:solidFill>
                          <a:latin typeface="Calibri"/>
                        </a:rPr>
                        <a:t>1989–90</a:t>
                      </a:r>
                    </a:p>
                  </a:txBody>
                  <a:tcPr marL="54864" marR="54864" marT="18288" marB="18288" anchor="ctr">
                    <a:solidFill>
                      <a:srgbClr val="FFFFFF"/>
                    </a:solidFill>
                  </a:tcPr>
                </a:tc>
                <a:tc>
                  <a:txBody>
                    <a:bodyPr/>
                    <a:lstStyle/>
                    <a:p>
                      <a:r>
                        <a:rPr sz="1100" b="0" i="0">
                          <a:solidFill>
                            <a:srgbClr val="222A3F"/>
                          </a:solidFill>
                          <a:latin typeface="Calibri"/>
                        </a:rPr>
                        <a:t>1991–97</a:t>
                      </a:r>
                    </a:p>
                  </a:txBody>
                  <a:tcPr marL="54864" marR="54864" marT="18288" marB="18288" anchor="ctr">
                    <a:solidFill>
                      <a:srgbClr val="FFFFFF"/>
                    </a:solidFill>
                  </a:tcPr>
                </a:tc>
                <a:tc>
                  <a:txBody>
                    <a:bodyPr/>
                    <a:lstStyle/>
                    <a:p>
                      <a:r>
                        <a:rPr sz="1100" b="0" i="0">
                          <a:solidFill>
                            <a:srgbClr val="222A3F"/>
                          </a:solidFill>
                          <a:latin typeface="Calibri"/>
                        </a:rPr>
                        <a:t>5 / 1</a:t>
                      </a:r>
                    </a:p>
                  </a:txBody>
                  <a:tcPr marL="54864" marR="54864" marT="18288" marB="18288" anchor="ctr">
                    <a:solidFill>
                      <a:srgbClr val="FFFFFF"/>
                    </a:solidFill>
                  </a:tcPr>
                </a:tc>
                <a:tc>
                  <a:txBody>
                    <a:bodyPr/>
                    <a:lstStyle/>
                    <a:p>
                      <a:r>
                        <a:rPr sz="1100" b="0" i="0">
                          <a:solidFill>
                            <a:srgbClr val="222A3F"/>
                          </a:solidFill>
                          <a:latin typeface="Calibri"/>
                        </a:rPr>
                        <a:t>0.572 ✗</a:t>
                      </a:r>
                    </a:p>
                  </a:txBody>
                  <a:tcPr marL="54864" marR="54864" marT="18288" marB="18288" anchor="ctr">
                    <a:solidFill>
                      <a:srgbClr val="FFFFFF"/>
                    </a:solidFill>
                  </a:tcPr>
                </a:tc>
                <a:tc>
                  <a:txBody>
                    <a:bodyPr/>
                    <a:lstStyle/>
                    <a:p>
                      <a:r>
                        <a:rPr sz="1100" b="1" i="0">
                          <a:solidFill>
                            <a:srgbClr val="2E7D45"/>
                          </a:solidFill>
                          <a:latin typeface="Calibri"/>
                        </a:rPr>
                        <a:t>0.752 ✓*</a:t>
                      </a:r>
                    </a:p>
                  </a:txBody>
                  <a:tcPr marL="54864" marR="54864" marT="18288" marB="18288" anchor="ctr">
                    <a:solidFill>
                      <a:srgbClr val="FFFFFF"/>
                    </a:solidFill>
                  </a:tcPr>
                </a:tc>
                <a:tc>
                  <a:txBody>
                    <a:bodyPr/>
                    <a:lstStyle/>
                    <a:p>
                      <a:r>
                        <a:rPr sz="1100" b="0" i="0">
                          <a:solidFill>
                            <a:srgbClr val="222A3F"/>
                          </a:solidFill>
                          <a:latin typeface="Calibri"/>
                        </a:rPr>
                        <a:t>EBM only*</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100" b="1" i="0">
                          <a:solidFill>
                            <a:srgbClr val="222A3F"/>
                          </a:solidFill>
                          <a:latin typeface="Calibri"/>
                        </a:rPr>
                        <a:t>B: Pre-GFC extended</a:t>
                      </a:r>
                    </a:p>
                  </a:txBody>
                  <a:tcPr marL="54864" marR="54864" marT="18288" marB="18288" anchor="ctr">
                    <a:solidFill>
                      <a:srgbClr val="FFFFFF"/>
                    </a:solidFill>
                  </a:tcPr>
                </a:tc>
                <a:tc>
                  <a:txBody>
                    <a:bodyPr/>
                    <a:lstStyle/>
                    <a:p>
                      <a:r>
                        <a:rPr sz="1100" b="0" i="0">
                          <a:solidFill>
                            <a:srgbClr val="222A3F"/>
                          </a:solidFill>
                          <a:latin typeface="Calibri"/>
                        </a:rPr>
                        <a:t>1989–2002</a:t>
                      </a:r>
                    </a:p>
                  </a:txBody>
                  <a:tcPr marL="54864" marR="54864" marT="18288" marB="18288" anchor="ctr">
                    <a:solidFill>
                      <a:srgbClr val="FFFFFF"/>
                    </a:solidFill>
                  </a:tcPr>
                </a:tc>
                <a:tc>
                  <a:txBody>
                    <a:bodyPr/>
                    <a:lstStyle/>
                    <a:p>
                      <a:r>
                        <a:rPr sz="1100" b="0" i="0">
                          <a:solidFill>
                            <a:srgbClr val="222A3F"/>
                          </a:solidFill>
                          <a:latin typeface="Calibri"/>
                        </a:rPr>
                        <a:t>2003–11</a:t>
                      </a:r>
                    </a:p>
                  </a:txBody>
                  <a:tcPr marL="54864" marR="54864" marT="18288" marB="18288" anchor="ctr">
                    <a:solidFill>
                      <a:srgbClr val="FFFFFF"/>
                    </a:solidFill>
                  </a:tcPr>
                </a:tc>
                <a:tc>
                  <a:txBody>
                    <a:bodyPr/>
                    <a:lstStyle/>
                    <a:p>
                      <a:r>
                        <a:rPr sz="1100" b="0" i="0">
                          <a:solidFill>
                            <a:srgbClr val="222A3F"/>
                          </a:solidFill>
                          <a:latin typeface="Calibri"/>
                        </a:rPr>
                        <a:t>6 / 13</a:t>
                      </a:r>
                    </a:p>
                  </a:txBody>
                  <a:tcPr marL="54864" marR="54864" marT="18288" marB="18288" anchor="ctr">
                    <a:solidFill>
                      <a:srgbClr val="FFFFFF"/>
                    </a:solidFill>
                  </a:tcPr>
                </a:tc>
                <a:tc>
                  <a:txBody>
                    <a:bodyPr/>
                    <a:lstStyle/>
                    <a:p>
                      <a:r>
                        <a:rPr sz="1100" b="1" i="0">
                          <a:solidFill>
                            <a:srgbClr val="C00000"/>
                          </a:solidFill>
                          <a:latin typeface="Calibri"/>
                        </a:rPr>
                        <a:t>0.481 ✗</a:t>
                      </a:r>
                    </a:p>
                  </a:txBody>
                  <a:tcPr marL="54864" marR="54864" marT="18288" marB="18288" anchor="ctr">
                    <a:solidFill>
                      <a:srgbClr val="FFFFFF"/>
                    </a:solidFill>
                  </a:tcPr>
                </a:tc>
                <a:tc>
                  <a:txBody>
                    <a:bodyPr/>
                    <a:lstStyle/>
                    <a:p>
                      <a:r>
                        <a:rPr sz="1100" b="1" i="0">
                          <a:solidFill>
                            <a:srgbClr val="C00000"/>
                          </a:solidFill>
                          <a:latin typeface="Calibri"/>
                        </a:rPr>
                        <a:t>0.333 ✗</a:t>
                      </a:r>
                    </a:p>
                  </a:txBody>
                  <a:tcPr marL="54864" marR="54864" marT="18288" marB="18288" anchor="ctr">
                    <a:solidFill>
                      <a:srgbClr val="FFFFFF"/>
                    </a:solidFill>
                  </a:tcPr>
                </a:tc>
                <a:tc>
                  <a:txBody>
                    <a:bodyPr/>
                    <a:lstStyle/>
                    <a:p>
                      <a:r>
                        <a:rPr sz="1100" b="1" i="0">
                          <a:solidFill>
                            <a:srgbClr val="222A3F"/>
                          </a:solidFill>
                          <a:latin typeface="Calibri"/>
                        </a:rPr>
                        <a:t>Both fail</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r>
                        <a:rPr sz="1100" b="0" i="0">
                          <a:solidFill>
                            <a:srgbClr val="222A3F"/>
                          </a:solidFill>
                          <a:latin typeface="Calibri"/>
                        </a:rPr>
                        <a:t>C: Pre-GFC short</a:t>
                      </a:r>
                    </a:p>
                  </a:txBody>
                  <a:tcPr marL="54864" marR="54864" marT="18288" marB="18288" anchor="ctr">
                    <a:solidFill>
                      <a:srgbClr val="FFFFFF"/>
                    </a:solidFill>
                  </a:tcPr>
                </a:tc>
                <a:tc>
                  <a:txBody>
                    <a:bodyPr/>
                    <a:lstStyle/>
                    <a:p>
                      <a:r>
                        <a:rPr sz="1100" b="0" i="0">
                          <a:solidFill>
                            <a:srgbClr val="222A3F"/>
                          </a:solidFill>
                          <a:latin typeface="Calibri"/>
                        </a:rPr>
                        <a:t>2003–05</a:t>
                      </a:r>
                    </a:p>
                  </a:txBody>
                  <a:tcPr marL="54864" marR="54864" marT="18288" marB="18288" anchor="ctr">
                    <a:solidFill>
                      <a:srgbClr val="FFFFFF"/>
                    </a:solidFill>
                  </a:tcPr>
                </a:tc>
                <a:tc>
                  <a:txBody>
                    <a:bodyPr/>
                    <a:lstStyle/>
                    <a:p>
                      <a:r>
                        <a:rPr sz="1100" b="0" i="0">
                          <a:solidFill>
                            <a:srgbClr val="222A3F"/>
                          </a:solidFill>
                          <a:latin typeface="Calibri"/>
                        </a:rPr>
                        <a:t>2006–09</a:t>
                      </a:r>
                    </a:p>
                  </a:txBody>
                  <a:tcPr marL="54864" marR="54864" marT="18288" marB="18288" anchor="ctr">
                    <a:solidFill>
                      <a:srgbClr val="FFFFFF"/>
                    </a:solidFill>
                  </a:tcPr>
                </a:tc>
                <a:tc>
                  <a:txBody>
                    <a:bodyPr/>
                    <a:lstStyle/>
                    <a:p>
                      <a:r>
                        <a:rPr sz="1100" b="0" i="0">
                          <a:solidFill>
                            <a:srgbClr val="222A3F"/>
                          </a:solidFill>
                          <a:latin typeface="Calibri"/>
                        </a:rPr>
                        <a:t>0 / —</a:t>
                      </a:r>
                    </a:p>
                  </a:txBody>
                  <a:tcPr marL="54864" marR="54864" marT="18288" marB="18288" anchor="ctr">
                    <a:solidFill>
                      <a:srgbClr val="FFFFFF"/>
                    </a:solidFill>
                  </a:tcPr>
                </a:tc>
                <a:tc>
                  <a:txBody>
                    <a:bodyPr/>
                    <a:lstStyle/>
                    <a:p>
                      <a:r>
                        <a:rPr sz="1100" b="0" i="1">
                          <a:solidFill>
                            <a:srgbClr val="222A3F"/>
                          </a:solidFill>
                          <a:latin typeface="Calibri"/>
                        </a:rPr>
                        <a:t>—</a:t>
                      </a:r>
                    </a:p>
                  </a:txBody>
                  <a:tcPr marL="54864" marR="54864" marT="18288" marB="18288" anchor="ctr">
                    <a:solidFill>
                      <a:srgbClr val="FFFFFF"/>
                    </a:solidFill>
                  </a:tcPr>
                </a:tc>
                <a:tc>
                  <a:txBody>
                    <a:bodyPr/>
                    <a:lstStyle/>
                    <a:p>
                      <a:r>
                        <a:rPr sz="1100" b="0" i="1">
                          <a:solidFill>
                            <a:srgbClr val="222A3F"/>
                          </a:solidFill>
                          <a:latin typeface="Calibri"/>
                        </a:rPr>
                        <a:t>—</a:t>
                      </a:r>
                    </a:p>
                  </a:txBody>
                  <a:tcPr marL="54864" marR="54864" marT="18288" marB="18288" anchor="ctr">
                    <a:solidFill>
                      <a:srgbClr val="FFFFFF"/>
                    </a:solidFill>
                  </a:tcPr>
                </a:tc>
                <a:tc>
                  <a:txBody>
                    <a:bodyPr/>
                    <a:lstStyle/>
                    <a:p>
                      <a:r>
                        <a:rPr sz="1100" b="0" i="1">
                          <a:solidFill>
                            <a:srgbClr val="222A3F"/>
                          </a:solidFill>
                          <a:latin typeface="Calibri"/>
                        </a:rPr>
                        <a:t>skipped: 0 train pos.</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11480" y="4434840"/>
            <a:ext cx="8321040" cy="1828800"/>
          </a:xfrm>
          <a:prstGeom prst="rect">
            <a:avLst/>
          </a:prstGeom>
          <a:noFill/>
        </p:spPr>
        <p:txBody>
          <a:bodyPr wrap="square" lIns="0" tIns="0" rIns="0" bIns="0" anchor="t">
            <a:spAutoFit/>
          </a:bodyPr>
          <a:lstStyle/>
          <a:p>
            <a:pPr>
              <a:spcAft>
                <a:spcPts val="800"/>
              </a:spcAft>
            </a:pPr>
            <a:r>
              <a:rPr sz="1250" b="1" i="0">
                <a:solidFill>
                  <a:srgbClr val="002060"/>
                </a:solidFill>
                <a:latin typeface="Calibri"/>
              </a:rPr>
              <a:t>–  Key finding (§6.2.1): </a:t>
            </a:r>
            <a:r>
              <a:rPr sz="1250" b="0" i="0">
                <a:solidFill>
                  <a:srgbClr val="222A3F"/>
                </a:solidFill>
                <a:latin typeface="Calibri"/>
              </a:rPr>
              <a:t>prospective failure is not an artefact of insufficient training data — M2 trained on the full pre-GFC history (1989–2002, Nordic cluster and Japan 1997 included) still scores 0.481, below random.</a:t>
            </a:r>
          </a:p>
          <a:p>
            <a:pPr>
              <a:spcAft>
                <a:spcPts val="800"/>
              </a:spcAft>
            </a:pPr>
            <a:r>
              <a:rPr sz="1250" b="1" i="0">
                <a:solidFill>
                  <a:srgbClr val="002060"/>
                </a:solidFill>
                <a:latin typeface="Calibri"/>
              </a:rPr>
              <a:t>–  </a:t>
            </a:r>
            <a:r>
              <a:rPr sz="1500" b="1" i="0">
                <a:solidFill>
                  <a:srgbClr val="C00000"/>
                </a:solidFill>
                <a:latin typeface="Calibri"/>
              </a:rPr>
              <a:t>0.333 </a:t>
            </a:r>
            <a:r>
              <a:rPr sz="1250" b="0" i="0">
                <a:solidFill>
                  <a:srgbClr val="222A3F"/>
                </a:solidFill>
                <a:latin typeface="Calibri"/>
              </a:rPr>
              <a:t>EBM Split B — the more flexible fit falls furthest: directionally consistent with regime-specific overfitting (one thin split; stated as directional).</a:t>
            </a:r>
          </a:p>
          <a:p>
            <a:pPr>
              <a:spcAft>
                <a:spcPts val="800"/>
              </a:spcAft>
            </a:pPr>
            <a:r>
              <a:rPr sz="1250" b="1" i="0">
                <a:solidFill>
                  <a:srgbClr val="002060"/>
                </a:solidFill>
                <a:latin typeface="Calibri"/>
              </a:rPr>
              <a:t>–  In plain terms: </a:t>
            </a:r>
            <a:r>
              <a:rPr sz="1250" b="0" i="0">
                <a:solidFill>
                  <a:srgbClr val="222A3F"/>
                </a:solidFill>
                <a:latin typeface="Calibri"/>
              </a:rPr>
              <a:t>the collapse is consistent with a shift in the underlying feature–risk relationships, rather than insufficient training history alone.</a:t>
            </a:r>
          </a:p>
          <a:p>
            <a:pPr>
              <a:spcAft>
                <a:spcPts val="600"/>
              </a:spcAft>
            </a:pPr>
            <a:r>
              <a:rPr sz="1000" b="0" i="1">
                <a:solidFill>
                  <a:srgbClr val="595959"/>
                </a:solidFill>
                <a:latin typeface="Calibri"/>
              </a:rPr>
              <a:t>*Split A rests on a single test positive — reported for completeness, not a distributional estimate (Table 4.4). Split B is the only split with enough test cases to be informative, and its six training positives keep the EBM–RF gap directional.</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12</a:t>
            </a:r>
          </a:p>
        </p:txBody>
      </p:sp>
    </p:spTree>
    <p:extLst>
      <p:ext uri="{BB962C8B-B14F-4D97-AF65-F5344CB8AC3E}">
        <p14:creationId xmlns:p14="http://schemas.microsoft.com/office/powerpoint/2010/main" val="4204085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Strict Prospective Validation (H3 refined)</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Why It Fails: Structural Break Evidence</a:t>
            </a:r>
          </a:p>
        </p:txBody>
      </p:sp>
      <p:sp>
        <p:nvSpPr>
          <p:cNvPr id="4" name="TextBox 3"/>
          <p:cNvSpPr txBox="1"/>
          <p:nvPr/>
        </p:nvSpPr>
        <p:spPr>
          <a:xfrm>
            <a:off x="411480" y="2606040"/>
            <a:ext cx="8321040" cy="2194560"/>
          </a:xfrm>
          <a:prstGeom prst="rect">
            <a:avLst/>
          </a:prstGeom>
          <a:noFill/>
        </p:spPr>
        <p:txBody>
          <a:bodyPr wrap="square" lIns="0" tIns="0" rIns="0" bIns="0" anchor="t">
            <a:spAutoFit/>
          </a:bodyPr>
          <a:lstStyle/>
          <a:p>
            <a:pPr>
              <a:spcAft>
                <a:spcPts val="1200"/>
              </a:spcAft>
            </a:pPr>
            <a:r>
              <a:rPr sz="1400" b="1" i="0">
                <a:solidFill>
                  <a:srgbClr val="002060"/>
                </a:solidFill>
                <a:latin typeface="Calibri"/>
              </a:rPr>
              <a:t>–  </a:t>
            </a:r>
            <a:r>
              <a:rPr sz="1600" b="1" i="0">
                <a:solidFill>
                  <a:srgbClr val="002060"/>
                </a:solidFill>
                <a:latin typeface="Calibri"/>
              </a:rPr>
              <a:t>p = 0.0066 </a:t>
            </a:r>
            <a:r>
              <a:rPr sz="1400" b="0" i="0">
                <a:solidFill>
                  <a:srgbClr val="222A3F"/>
                </a:solidFill>
                <a:latin typeface="Calibri"/>
              </a:rPr>
              <a:t>Chow-type likelihood-ratio structural break in credit growth at 2007 — genuine coefficient sign reversals (§4.9.7).</a:t>
            </a:r>
          </a:p>
          <a:p>
            <a:pPr>
              <a:spcAft>
                <a:spcPts val="1200"/>
              </a:spcAft>
            </a:pPr>
            <a:r>
              <a:rPr sz="1400" b="1" i="0">
                <a:solidFill>
                  <a:srgbClr val="002060"/>
                </a:solidFill>
                <a:latin typeface="Calibri"/>
              </a:rPr>
              <a:t>–  </a:t>
            </a:r>
            <a:r>
              <a:rPr sz="1400" b="1" i="0">
                <a:solidFill>
                  <a:srgbClr val="222A3F"/>
                </a:solidFill>
                <a:latin typeface="Calibri"/>
              </a:rPr>
              <a:t>Supporting instability (not a break test): </a:t>
            </a:r>
            <a:r>
              <a:rPr sz="1400" b="0" i="0">
                <a:solidFill>
                  <a:srgbClr val="222A3F"/>
                </a:solidFill>
                <a:latin typeface="Calibri"/>
              </a:rPr>
              <a:t>term-spread β differs in sign across lag horizons (lag-1 −0.646, lag-3 +0.630, both p &lt; 0.01) — a distributed-lag sign difference independent of any ML model, not direct evidence of regime change (§4.9.5).</a:t>
            </a:r>
          </a:p>
          <a:p>
            <a:pPr>
              <a:spcAft>
                <a:spcPts val="1200"/>
              </a:spcAft>
            </a:pPr>
            <a:r>
              <a:rPr sz="1400" b="1" i="0">
                <a:solidFill>
                  <a:srgbClr val="002060"/>
                </a:solidFill>
                <a:latin typeface="Calibri"/>
              </a:rPr>
              <a:t>–  </a:t>
            </a:r>
            <a:r>
              <a:rPr sz="1400" b="1" i="0">
                <a:solidFill>
                  <a:srgbClr val="222A3F"/>
                </a:solidFill>
                <a:latin typeface="Calibri"/>
              </a:rPr>
              <a:t>Term spread @2007: </a:t>
            </a:r>
            <a:r>
              <a:rPr sz="1400" b="0" i="0">
                <a:solidFill>
                  <a:srgbClr val="222A3F"/>
                </a:solidFill>
                <a:latin typeface="Calibri"/>
              </a:rPr>
              <a:t>LR = 4.209, p = 0.379 — directionally suggestive, underpowered.</a:t>
            </a:r>
          </a:p>
          <a:p>
            <a:pPr>
              <a:spcAft>
                <a:spcPts val="1200"/>
              </a:spcAft>
            </a:pPr>
            <a:r>
              <a:rPr sz="1400" b="1" i="0">
                <a:solidFill>
                  <a:srgbClr val="002060"/>
                </a:solidFill>
                <a:latin typeface="Calibri"/>
              </a:rPr>
              <a:t>–  </a:t>
            </a:r>
            <a:r>
              <a:rPr sz="1400" b="1" i="0">
                <a:solidFill>
                  <a:srgbClr val="222A3F"/>
                </a:solidFill>
                <a:latin typeface="Calibri"/>
              </a:rPr>
              <a:t>0 scored observations 2019–20: </a:t>
            </a:r>
            <a:r>
              <a:rPr sz="1400" b="0" i="0">
                <a:solidFill>
                  <a:srgbClr val="222A3F"/>
                </a:solidFill>
                <a:latin typeface="Calibri"/>
              </a:rPr>
              <a:t>reported performance is unaffected by COVID-period observations; the collapse is GFC-specific, not pandemic noise.</a:t>
            </a:r>
          </a:p>
        </p:txBody>
      </p:sp>
      <p:sp>
        <p:nvSpPr>
          <p:cNvPr id="5" name="Rounded Rectangle 4"/>
          <p:cNvSpPr/>
          <p:nvPr/>
        </p:nvSpPr>
        <p:spPr>
          <a:xfrm>
            <a:off x="411480" y="4892040"/>
            <a:ext cx="8321040" cy="1234440"/>
          </a:xfrm>
          <a:prstGeom prst="roundRect">
            <a:avLst/>
          </a:prstGeom>
          <a:solidFill>
            <a:srgbClr val="EDE7F6"/>
          </a:solidFill>
          <a:ln w="9525">
            <a:solidFill>
              <a:srgbClr val="4400A9"/>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64592" rtlCol="0" anchor="ctr"/>
          <a:lstStyle/>
          <a:p>
            <a:pPr algn="ctr">
              <a:spcAft>
                <a:spcPts val="600"/>
              </a:spcAft>
            </a:pPr>
            <a:r>
              <a:rPr sz="1400" b="1" i="0">
                <a:solidFill>
                  <a:srgbClr val="002060"/>
                </a:solidFill>
                <a:latin typeface="Calibri"/>
              </a:rPr>
              <a:t>H3 verdict — original (pre-specified): </a:t>
            </a:r>
            <a:r>
              <a:rPr sz="1300" b="0" i="0">
                <a:solidFill>
                  <a:srgbClr val="222A3F"/>
                </a:solidFill>
                <a:latin typeface="Calibri"/>
              </a:rPr>
              <a:t>partially supported, not monotonic — the linear-to-black-box step shows a trade-off, but the EBM shows interpretability and strong in-regime estimates can coexist. Exploratory extension: the EBM's larger Split B collapse is directionally consistent with flexibility-related overfitting, but is not confirmatory. Evidence is most consistent with structural non-stationarity, though sparse samples and model variance cannot be excluded.</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13</a:t>
            </a:r>
          </a:p>
        </p:txBody>
      </p:sp>
    </p:spTree>
    <p:extLst>
      <p:ext uri="{BB962C8B-B14F-4D97-AF65-F5344CB8AC3E}">
        <p14:creationId xmlns:p14="http://schemas.microsoft.com/office/powerpoint/2010/main" val="3437179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Robustness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Multiple-Testing Correction and Robustness Checks</a:t>
            </a:r>
          </a:p>
        </p:txBody>
      </p:sp>
      <p:sp>
        <p:nvSpPr>
          <p:cNvPr id="4" name="TextBox 3"/>
          <p:cNvSpPr txBox="1"/>
          <p:nvPr/>
        </p:nvSpPr>
        <p:spPr>
          <a:xfrm>
            <a:off x="411480" y="2651760"/>
            <a:ext cx="8321040" cy="3291840"/>
          </a:xfrm>
          <a:prstGeom prst="rect">
            <a:avLst/>
          </a:prstGeom>
          <a:noFill/>
        </p:spPr>
        <p:txBody>
          <a:bodyPr wrap="square" lIns="0" tIns="0" rIns="0" bIns="0" anchor="t">
            <a:spAutoFit/>
          </a:bodyPr>
          <a:lstStyle/>
          <a:p>
            <a:pPr>
              <a:spcAft>
                <a:spcPts val="1600"/>
              </a:spcAft>
            </a:pPr>
            <a:r>
              <a:rPr sz="1400" b="1" i="0">
                <a:solidFill>
                  <a:srgbClr val="002060"/>
                </a:solidFill>
                <a:latin typeface="Calibri"/>
              </a:rPr>
              <a:t>–  </a:t>
            </a:r>
            <a:r>
              <a:rPr sz="1800" b="1" i="0">
                <a:solidFill>
                  <a:srgbClr val="002060"/>
                </a:solidFill>
                <a:latin typeface="Calibri"/>
              </a:rPr>
              <a:t>1 / 84 </a:t>
            </a:r>
            <a:r>
              <a:rPr sz="1400" b="0" i="0">
                <a:solidFill>
                  <a:srgbClr val="222A3F"/>
                </a:solidFill>
                <a:latin typeface="Calibri"/>
              </a:rPr>
              <a:t>macro Granger tests survive Bonferroni &amp; Benjamini–Hochberg: USA credit growth lag-3 (p = 0.000015) is the sole survivor (§4.9.1); none of the five term_spread_lag3 country results survives. Everything else is treated as suggestive at most.</a:t>
            </a:r>
          </a:p>
          <a:p>
            <a:pPr>
              <a:spcAft>
                <a:spcPts val="1600"/>
              </a:spcAft>
            </a:pPr>
            <a:r>
              <a:rPr sz="1400" b="1" i="0">
                <a:solidFill>
                  <a:srgbClr val="002060"/>
                </a:solidFill>
                <a:latin typeface="Calibri"/>
              </a:rPr>
              <a:t>–  </a:t>
            </a:r>
            <a:r>
              <a:rPr sz="1800" b="1" i="0">
                <a:solidFill>
                  <a:srgbClr val="2E7D45"/>
                </a:solidFill>
                <a:latin typeface="Calibri"/>
              </a:rPr>
              <a:t>Median 0.967 </a:t>
            </a:r>
            <a:r>
              <a:rPr sz="1400" b="0" i="0">
                <a:solidFill>
                  <a:srgbClr val="222A3F"/>
                </a:solidFill>
                <a:latin typeface="Calibri"/>
              </a:rPr>
              <a:t>LOCO EBM AUROC across 15 held-out countries (mean 0.893) — the expanding-window ranking is not driven by any single country — but this is cross-country generalisation within the historical sample, not the cross-regime robustness that strict temporal validation still fails; the median is the honest summary because 11 of 15 countries carry a single crisis onset.</a:t>
            </a:r>
          </a:p>
          <a:p>
            <a:pPr>
              <a:spcAft>
                <a:spcPts val="1600"/>
              </a:spcAft>
            </a:pPr>
            <a:r>
              <a:rPr sz="1400" b="1" i="0">
                <a:solidFill>
                  <a:srgbClr val="002060"/>
                </a:solidFill>
                <a:latin typeface="Calibri"/>
              </a:rPr>
              <a:t>–  </a:t>
            </a:r>
            <a:r>
              <a:rPr sz="1800" b="1" i="0">
                <a:solidFill>
                  <a:srgbClr val="4400A9"/>
                </a:solidFill>
                <a:latin typeface="Calibri"/>
              </a:rPr>
              <a:t>Range 0.0071 </a:t>
            </a:r>
            <a:r>
              <a:rPr sz="1400" b="0" i="0">
                <a:solidFill>
                  <a:srgbClr val="222A3F"/>
                </a:solidFill>
                <a:latin typeface="Calibri"/>
              </a:rPr>
              <a:t>EBM AUROC across 5 hyperparameter configurations — the headline EBM result is stable across the five tested configurations (Appendix B.2).</a:t>
            </a:r>
          </a:p>
        </p:txBody>
      </p:sp>
      <p:sp>
        <p:nvSpPr>
          <p:cNvPr id="5" name="TextBox 4"/>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14</a:t>
            </a:r>
          </a:p>
        </p:txBody>
      </p:sp>
    </p:spTree>
    <p:extLst>
      <p:ext uri="{BB962C8B-B14F-4D97-AF65-F5344CB8AC3E}">
        <p14:creationId xmlns:p14="http://schemas.microsoft.com/office/powerpoint/2010/main" val="406663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Robustness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Cross-Country Generalisation: LOCO (Figure 4.3)</a:t>
            </a:r>
          </a:p>
        </p:txBody>
      </p:sp>
      <p:pic>
        <p:nvPicPr>
          <p:cNvPr id="4" name="Picture 3" descr="fig43.png"/>
          <p:cNvPicPr>
            <a:picLocks noChangeAspect="1"/>
          </p:cNvPicPr>
          <p:nvPr/>
        </p:nvPicPr>
        <p:blipFill>
          <a:blip r:embed="rId3"/>
          <a:stretch>
            <a:fillRect/>
          </a:stretch>
        </p:blipFill>
        <p:spPr>
          <a:xfrm>
            <a:off x="411480" y="2514600"/>
            <a:ext cx="8321040" cy="2934723"/>
          </a:xfrm>
          <a:prstGeom prst="rect">
            <a:avLst/>
          </a:prstGeom>
        </p:spPr>
      </p:pic>
      <p:sp>
        <p:nvSpPr>
          <p:cNvPr id="5" name="TextBox 4"/>
          <p:cNvSpPr txBox="1"/>
          <p:nvPr/>
        </p:nvSpPr>
        <p:spPr>
          <a:xfrm>
            <a:off x="411480" y="5559051"/>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4.3 — Leave-one-country-out AUROC, RF (green) vs EBM (orange). EBM leads where events are informative: NLD 0.903 vs 0.742, DEU 0.968 vs 0.548, PRT 0.862 vs 0.655. Both near-random in JPN; AUS/CAN/NOR excluded (no hold-out events). Bars at 1.0 (BEL, DNK, ESP, FIN) are trivial single-event rankings — 11 of 15 countries carry a single hold-out onset, hence the median (0.967) as the honest summary.</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16</a:t>
            </a:r>
          </a:p>
        </p:txBody>
      </p:sp>
    </p:spTree>
    <p:extLst>
      <p:ext uri="{BB962C8B-B14F-4D97-AF65-F5344CB8AC3E}">
        <p14:creationId xmlns:p14="http://schemas.microsoft.com/office/powerpoint/2010/main" val="1765268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200" b="1">
                <a:solidFill>
                  <a:srgbClr val="002060"/>
                </a:solidFill>
                <a:latin typeface="Calibri Light"/>
              </a:rPr>
              <a:t>Structural Non-Stationarity, Rather Than Model Choice, Best Explains EWS Failure</a:t>
            </a:r>
          </a:p>
        </p:txBody>
      </p:sp>
      <p:sp>
        <p:nvSpPr>
          <p:cNvPr id="4" name="TextBox 3"/>
          <p:cNvSpPr txBox="1"/>
          <p:nvPr/>
        </p:nvSpPr>
        <p:spPr>
          <a:xfrm>
            <a:off x="411480" y="2606040"/>
            <a:ext cx="8321040" cy="3108960"/>
          </a:xfrm>
          <a:prstGeom prst="rect">
            <a:avLst/>
          </a:prstGeom>
          <a:noFill/>
        </p:spPr>
        <p:txBody>
          <a:bodyPr wrap="square" lIns="0" tIns="0" rIns="0" bIns="0" anchor="t">
            <a:spAutoFit/>
          </a:bodyPr>
          <a:lstStyle/>
          <a:p>
            <a:pPr>
              <a:spcAft>
                <a:spcPts val="1200"/>
              </a:spcAft>
            </a:pPr>
            <a:r>
              <a:rPr sz="1400" b="1" i="0">
                <a:solidFill>
                  <a:srgbClr val="002060"/>
                </a:solidFill>
                <a:latin typeface="Calibri"/>
              </a:rPr>
              <a:t>–  </a:t>
            </a:r>
            <a:r>
              <a:rPr sz="1400" b="1" i="0">
                <a:solidFill>
                  <a:srgbClr val="222A3F"/>
                </a:solidFill>
                <a:latin typeface="Calibri"/>
              </a:rPr>
              <a:t>No interpretability penalty in-regime: </a:t>
            </a:r>
            <a:r>
              <a:rPr sz="1400" b="0" i="0">
                <a:solidFill>
                  <a:srgbClr val="222A3F"/>
                </a:solidFill>
                <a:latin typeface="Calibri"/>
              </a:rPr>
              <a:t>the EBM beats the black-box RF on identical features (Stage 1 DeLong p &lt; 0.001) and tops M3’s point estimates.</a:t>
            </a:r>
          </a:p>
          <a:p>
            <a:pPr>
              <a:spcAft>
                <a:spcPts val="1200"/>
              </a:spcAft>
            </a:pPr>
            <a:r>
              <a:rPr sz="1400" b="1" i="0">
                <a:solidFill>
                  <a:srgbClr val="002060"/>
                </a:solidFill>
                <a:latin typeface="Calibri"/>
              </a:rPr>
              <a:t>–  </a:t>
            </a:r>
            <a:r>
              <a:rPr sz="1400" b="1" i="0">
                <a:solidFill>
                  <a:srgbClr val="222A3F"/>
                </a:solidFill>
                <a:latin typeface="Calibri"/>
              </a:rPr>
              <a:t>Flexibility, not interpretability, is the likely liability: </a:t>
            </a:r>
            <a:r>
              <a:rPr sz="1400" b="0" i="0">
                <a:solidFill>
                  <a:srgbClr val="222A3F"/>
                </a:solidFill>
                <a:latin typeface="Calibri"/>
              </a:rPr>
              <a:t>under strict temporal validation both models fail; the more flexible fit degrades furthest (0.333 vs 0.481, directional — six training positives).</a:t>
            </a:r>
          </a:p>
          <a:p>
            <a:pPr>
              <a:spcAft>
                <a:spcPts val="1200"/>
              </a:spcAft>
            </a:pPr>
            <a:r>
              <a:rPr sz="1400" b="1" i="0">
                <a:solidFill>
                  <a:srgbClr val="002060"/>
                </a:solidFill>
                <a:latin typeface="Calibri"/>
              </a:rPr>
              <a:t>–  </a:t>
            </a:r>
            <a:r>
              <a:rPr sz="1400" b="1" i="0">
                <a:solidFill>
                  <a:srgbClr val="222A3F"/>
                </a:solidFill>
                <a:latin typeface="Calibri"/>
              </a:rPr>
              <a:t>Sentiment adds no confirmed signal: </a:t>
            </a:r>
            <a:r>
              <a:rPr sz="1400" b="0" i="0">
                <a:solidFill>
                  <a:srgbClr val="222A3F"/>
                </a:solidFill>
                <a:latin typeface="Calibri"/>
              </a:rPr>
              <a:t>the apparent gain is more consistent with an algorithm-class effect than an incremental sentiment effect; 0/156 tests survive correction.</a:t>
            </a:r>
          </a:p>
          <a:p>
            <a:pPr>
              <a:spcAft>
                <a:spcPts val="1200"/>
              </a:spcAft>
            </a:pPr>
            <a:r>
              <a:rPr sz="1400" b="1" i="0">
                <a:solidFill>
                  <a:srgbClr val="002060"/>
                </a:solidFill>
                <a:latin typeface="Calibri"/>
              </a:rPr>
              <a:t>–  </a:t>
            </a:r>
            <a:r>
              <a:rPr sz="1400" b="1" i="0">
                <a:solidFill>
                  <a:srgbClr val="222A3F"/>
                </a:solidFill>
                <a:latin typeface="Calibri"/>
              </a:rPr>
              <a:t>The glass box is the diagnosis: </a:t>
            </a:r>
            <a:r>
              <a:rPr sz="1400" b="0" i="0">
                <a:solidFill>
                  <a:srgbClr val="222A3F"/>
                </a:solidFill>
                <a:latin typeface="Calibri"/>
              </a:rPr>
              <a:t>shape-function sign inversions make instability in the learned feature–risk mapping directly observable — motivating regime-conditional design (Appendix A).</a:t>
            </a:r>
          </a:p>
        </p:txBody>
      </p:sp>
      <p:sp>
        <p:nvSpPr>
          <p:cNvPr id="5" name="TextBox 4"/>
          <p:cNvSpPr txBox="1"/>
          <p:nvPr/>
        </p:nvSpPr>
        <p:spPr>
          <a:xfrm>
            <a:off x="411480" y="5943600"/>
            <a:ext cx="832104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Framing (§5.2): the relationship between macroeconomic indicators and crisis risk is not stable over time — it is non-stationary. Crisis prediction is therefore a problem of modelling under distribution shift.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17</a:t>
            </a:r>
          </a:p>
        </p:txBody>
      </p:sp>
    </p:spTree>
    <p:extLst>
      <p:ext uri="{BB962C8B-B14F-4D97-AF65-F5344CB8AC3E}">
        <p14:creationId xmlns:p14="http://schemas.microsoft.com/office/powerpoint/2010/main" val="864563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Four Recommendations for EWS Design (§5.6)</a:t>
            </a:r>
          </a:p>
        </p:txBody>
      </p:sp>
      <p:sp>
        <p:nvSpPr>
          <p:cNvPr id="4" name="TextBox 3"/>
          <p:cNvSpPr txBox="1"/>
          <p:nvPr/>
        </p:nvSpPr>
        <p:spPr>
          <a:xfrm>
            <a:off x="411480" y="2606040"/>
            <a:ext cx="8321040" cy="3200400"/>
          </a:xfrm>
          <a:prstGeom prst="rect">
            <a:avLst/>
          </a:prstGeom>
          <a:noFill/>
        </p:spPr>
        <p:txBody>
          <a:bodyPr wrap="square" lIns="0" tIns="0" rIns="0" bIns="0" anchor="t">
            <a:spAutoFit/>
          </a:bodyPr>
          <a:lstStyle/>
          <a:p>
            <a:pPr>
              <a:spcAft>
                <a:spcPts val="1000"/>
              </a:spcAft>
            </a:pPr>
            <a:r>
              <a:rPr sz="1500" b="1" i="0">
                <a:solidFill>
                  <a:srgbClr val="4400A9"/>
                </a:solidFill>
                <a:latin typeface="Calibri"/>
              </a:rPr>
              <a:t>1.  </a:t>
            </a:r>
            <a:r>
              <a:rPr sz="1350" b="1" i="0">
                <a:solidFill>
                  <a:srgbClr val="002060"/>
                </a:solidFill>
                <a:latin typeface="Calibri"/>
              </a:rPr>
              <a:t>Mandatory prospective validation — </a:t>
            </a:r>
            <a:r>
              <a:rPr sz="1200" b="0" i="0">
                <a:solidFill>
                  <a:srgbClr val="5A6B85"/>
                </a:solidFill>
                <a:latin typeface="Calibri"/>
              </a:rPr>
              <a:t>prospective validation across crisis regimes must be a required evaluation step — expanding-window metrics alone overstate readiness, as Split B shows.</a:t>
            </a:r>
          </a:p>
          <a:p>
            <a:pPr>
              <a:spcAft>
                <a:spcPts val="1000"/>
              </a:spcAft>
            </a:pPr>
            <a:r>
              <a:rPr sz="1500" b="1" i="0">
                <a:solidFill>
                  <a:srgbClr val="4400A9"/>
                </a:solidFill>
                <a:latin typeface="Calibri"/>
              </a:rPr>
              <a:t>2.  </a:t>
            </a:r>
            <a:r>
              <a:rPr sz="1350" b="1" i="0">
                <a:solidFill>
                  <a:srgbClr val="002060"/>
                </a:solidFill>
                <a:latin typeface="Calibri"/>
              </a:rPr>
              <a:t>Prioritise interpretable models — </a:t>
            </a:r>
            <a:r>
              <a:rPr sz="1200" b="0" i="0">
                <a:solidFill>
                  <a:srgbClr val="5A6B85"/>
                </a:solidFill>
                <a:latin typeface="Calibri"/>
              </a:rPr>
              <a:t>use interpretable non-linear models (EBM) as diagnostic benchmarks and candidate models rather than presumptively superior forecasters: no in-regime cost on identical features, plus diagnostic visibility — but EBM degrades furthest in the one informative strict split.</a:t>
            </a:r>
          </a:p>
          <a:p>
            <a:pPr>
              <a:spcAft>
                <a:spcPts val="1000"/>
              </a:spcAft>
            </a:pPr>
            <a:r>
              <a:rPr sz="1500" b="1" i="0">
                <a:solidFill>
                  <a:srgbClr val="4400A9"/>
                </a:solidFill>
                <a:latin typeface="Calibri"/>
              </a:rPr>
              <a:t>3.  </a:t>
            </a:r>
            <a:r>
              <a:rPr sz="1350" b="1" i="0">
                <a:solidFill>
                  <a:srgbClr val="002060"/>
                </a:solidFill>
                <a:latin typeface="Calibri"/>
              </a:rPr>
              <a:t>Use ensembles for probability accuracy — </a:t>
            </a:r>
            <a:r>
              <a:rPr sz="1200" b="0" i="0">
                <a:solidFill>
                  <a:srgbClr val="5A6B85"/>
                </a:solidFill>
                <a:latin typeface="Calibri"/>
              </a:rPr>
              <a:t>on the common 215-observation sample the ensemble posts the lowest Brier (0.056) but dilutes precision–recall (AUPRC 0.433 vs the EBM's 0.532) — an exploratory probability-accuracy benefit, not demonstrated prospective reliability.</a:t>
            </a:r>
          </a:p>
          <a:p>
            <a:pPr>
              <a:spcAft>
                <a:spcPts val="1000"/>
              </a:spcAft>
            </a:pPr>
            <a:r>
              <a:rPr sz="1500" b="1" i="0">
                <a:solidFill>
                  <a:srgbClr val="4400A9"/>
                </a:solidFill>
                <a:latin typeface="Calibri"/>
              </a:rPr>
              <a:t>4.  </a:t>
            </a:r>
            <a:r>
              <a:rPr sz="1350" b="1" i="0">
                <a:solidFill>
                  <a:srgbClr val="002060"/>
                </a:solidFill>
                <a:latin typeface="Calibri"/>
              </a:rPr>
              <a:t>Require multi-episode validation for sentiment — </a:t>
            </a:r>
            <a:r>
              <a:rPr sz="1200" b="0" i="0">
                <a:solidFill>
                  <a:srgbClr val="5A6B85"/>
                </a:solidFill>
                <a:latin typeface="Calibri"/>
              </a:rPr>
              <a:t>claims about sentiment's predictive power must be validated across structurally distinct crisis episodes before deployment — the apparent gain was more consistent with an algorithm-class effect than an incremental sentiment effect; 0/156 tests survive correction, and the completed topic-sentiment extension adds zero incremental gain.</a:t>
            </a:r>
          </a:p>
        </p:txBody>
      </p:sp>
      <p:sp>
        <p:nvSpPr>
          <p:cNvPr id="5" name="TextBox 4"/>
          <p:cNvSpPr txBox="1"/>
          <p:nvPr/>
        </p:nvSpPr>
        <p:spPr>
          <a:xfrm>
            <a:off x="411480" y="5989320"/>
            <a:ext cx="832104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Supervisory takeaway: read the shape functions, not just the scores — the glass box shows when a prediction should not be trusted.</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18</a:t>
            </a:r>
          </a:p>
        </p:txBody>
      </p:sp>
    </p:spTree>
    <p:extLst>
      <p:ext uri="{BB962C8B-B14F-4D97-AF65-F5344CB8AC3E}">
        <p14:creationId xmlns:p14="http://schemas.microsoft.com/office/powerpoint/2010/main" val="2104237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Limitations and the Path Forward</a:t>
            </a:r>
          </a:p>
        </p:txBody>
      </p:sp>
      <p:sp>
        <p:nvSpPr>
          <p:cNvPr id="4" name="TextBox 3"/>
          <p:cNvSpPr txBox="1"/>
          <p:nvPr/>
        </p:nvSpPr>
        <p:spPr>
          <a:xfrm>
            <a:off x="411480" y="2606040"/>
            <a:ext cx="8321040" cy="2103120"/>
          </a:xfrm>
          <a:prstGeom prst="rect">
            <a:avLst/>
          </a:prstGeom>
          <a:noFill/>
        </p:spPr>
        <p:txBody>
          <a:bodyPr wrap="square" lIns="0" tIns="0" rIns="0" bIns="0" anchor="t">
            <a:spAutoFit/>
          </a:bodyPr>
          <a:lstStyle/>
          <a:p>
            <a:pPr>
              <a:spcAft>
                <a:spcPts val="800"/>
              </a:spcAft>
            </a:pPr>
            <a:r>
              <a:rPr sz="1300" b="1" i="0">
                <a:solidFill>
                  <a:srgbClr val="002060"/>
                </a:solidFill>
                <a:latin typeface="Calibri"/>
              </a:rPr>
              <a:t>–  </a:t>
            </a:r>
            <a:r>
              <a:rPr sz="1300" b="1" i="0">
                <a:solidFill>
                  <a:srgbClr val="222A3F"/>
                </a:solidFill>
                <a:latin typeface="Calibri"/>
              </a:rPr>
              <a:t>Thin crisis samples </a:t>
            </a:r>
            <a:r>
              <a:rPr sz="1300" b="0" i="0">
                <a:solidFill>
                  <a:srgbClr val="222A3F"/>
                </a:solidFill>
                <a:latin typeface="Calibri"/>
              </a:rPr>
              <a:t>— 37 Stage 1 labels = 19 onsets = 3 episodes, and 93% of scored positives are GFC; even the EBM–RF gap survives country- but not year-resampling (§4.2). No result is established across regimes.</a:t>
            </a:r>
          </a:p>
          <a:p>
            <a:pPr>
              <a:spcAft>
                <a:spcPts val="800"/>
              </a:spcAft>
            </a:pPr>
            <a:r>
              <a:rPr sz="1300" b="1" i="0">
                <a:solidFill>
                  <a:srgbClr val="002060"/>
                </a:solidFill>
                <a:latin typeface="Calibri"/>
              </a:rPr>
              <a:t>–  </a:t>
            </a:r>
            <a:r>
              <a:rPr sz="1300" b="1" i="0">
                <a:solidFill>
                  <a:srgbClr val="222A3F"/>
                </a:solidFill>
                <a:latin typeface="Calibri"/>
              </a:rPr>
              <a:t>Single-episode Stage 2 </a:t>
            </a:r>
            <a:r>
              <a:rPr sz="1300" b="0" i="0">
                <a:solidFill>
                  <a:srgbClr val="222A3F"/>
                </a:solidFill>
                <a:latin typeface="Calibri"/>
              </a:rPr>
              <a:t>— framed as an upper bound throughout.</a:t>
            </a:r>
          </a:p>
          <a:p>
            <a:pPr>
              <a:spcAft>
                <a:spcPts val="800"/>
              </a:spcAft>
            </a:pPr>
            <a:r>
              <a:rPr sz="1300" b="1" i="0">
                <a:solidFill>
                  <a:srgbClr val="002060"/>
                </a:solidFill>
                <a:latin typeface="Calibri"/>
              </a:rPr>
              <a:t>–  </a:t>
            </a:r>
            <a:r>
              <a:rPr sz="1300" b="1" i="0">
                <a:solidFill>
                  <a:srgbClr val="222A3F"/>
                </a:solidFill>
                <a:latin typeface="Calibri"/>
              </a:rPr>
              <a:t>English-only FinBERT model </a:t>
            </a:r>
            <a:r>
              <a:rPr sz="1300" b="0" i="0">
                <a:solidFill>
                  <a:srgbClr val="222A3F"/>
                </a:solidFill>
                <a:latin typeface="Calibri"/>
              </a:rPr>
              <a:t>— untagged non-English/translated share in the corpus; an unresolved measurement limitation (§3.2, §5.7).</a:t>
            </a:r>
          </a:p>
          <a:p>
            <a:pPr>
              <a:spcAft>
                <a:spcPts val="800"/>
              </a:spcAft>
            </a:pPr>
            <a:r>
              <a:rPr sz="1300" b="1" i="0">
                <a:solidFill>
                  <a:srgbClr val="002060"/>
                </a:solidFill>
                <a:latin typeface="Calibri"/>
              </a:rPr>
              <a:t>–  </a:t>
            </a:r>
            <a:r>
              <a:rPr sz="1300" b="1" i="0">
                <a:solidFill>
                  <a:srgbClr val="222A3F"/>
                </a:solidFill>
                <a:latin typeface="Calibri"/>
              </a:rPr>
              <a:t>In-sample isotonic calibration </a:t>
            </a:r>
            <a:r>
              <a:rPr sz="1300" b="0" i="0">
                <a:solidFill>
                  <a:srgbClr val="222A3F"/>
                </a:solidFill>
                <a:latin typeface="Calibri"/>
              </a:rPr>
              <a:t>— ECE parity is a fitting artefact; flagged as a methodological caveat (§4.8).</a:t>
            </a:r>
          </a:p>
        </p:txBody>
      </p:sp>
      <p:sp>
        <p:nvSpPr>
          <p:cNvPr id="5" name="TextBox 4"/>
          <p:cNvSpPr txBox="1"/>
          <p:nvPr/>
        </p:nvSpPr>
        <p:spPr>
          <a:xfrm>
            <a:off x="411480" y="4709160"/>
            <a:ext cx="8321040" cy="1554480"/>
          </a:xfrm>
          <a:prstGeom prst="rect">
            <a:avLst/>
          </a:prstGeom>
          <a:noFill/>
        </p:spPr>
        <p:txBody>
          <a:bodyPr wrap="square" lIns="0" tIns="0" rIns="0" bIns="0" anchor="t">
            <a:spAutoFit/>
          </a:bodyPr>
          <a:lstStyle/>
          <a:p>
            <a:pPr>
              <a:spcAft>
                <a:spcPts val="600"/>
              </a:spcAft>
            </a:pPr>
            <a:r>
              <a:rPr sz="1300" b="1" i="0">
                <a:solidFill>
                  <a:srgbClr val="4400A9"/>
                </a:solidFill>
                <a:latin typeface="Calibri"/>
              </a:rPr>
              <a:t>Future work — regime-conditional EWS (Appendix A): </a:t>
            </a:r>
            <a:r>
              <a:rPr sz="1300" b="0" i="0">
                <a:solidFill>
                  <a:srgbClr val="222A3F"/>
                </a:solidFill>
                <a:latin typeface="Calibri"/>
              </a:rPr>
              <a:t>every regime-specific model in the prototype stayed below the 0.75 benchmark (binding constraint: 11–26 positives per regime); what it nonetheless reveals is that the feature hierarchy shifts from term-spread (pooled) to CPI/debt dominance (pre-GFC). Two further extensions (§5.8): add cross-border bank-exposure / financial-network features to model contagion-driven crises (the UK/contagion scope gap revealed by the Spain–UK comparison); and detect regimes from data by clustering shape functions.</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19</a:t>
            </a:r>
          </a:p>
        </p:txBody>
      </p:sp>
    </p:spTree>
    <p:extLst>
      <p:ext uri="{BB962C8B-B14F-4D97-AF65-F5344CB8AC3E}">
        <p14:creationId xmlns:p14="http://schemas.microsoft.com/office/powerpoint/2010/main" val="1670580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Q&amp;A</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800" b="1">
                <a:solidFill>
                  <a:srgbClr val="002060"/>
                </a:solidFill>
                <a:latin typeface="Calibri Light"/>
              </a:rPr>
              <a:t>Thank You — Questions Welcome</a:t>
            </a:r>
          </a:p>
        </p:txBody>
      </p:sp>
      <p:sp>
        <p:nvSpPr>
          <p:cNvPr id="4" name="TextBox 3"/>
          <p:cNvSpPr txBox="1"/>
          <p:nvPr/>
        </p:nvSpPr>
        <p:spPr>
          <a:xfrm>
            <a:off x="685800" y="3017520"/>
            <a:ext cx="7772400" cy="2011680"/>
          </a:xfrm>
          <a:prstGeom prst="rect">
            <a:avLst/>
          </a:prstGeom>
          <a:noFill/>
        </p:spPr>
        <p:txBody>
          <a:bodyPr wrap="square" lIns="0" tIns="0" rIns="0" bIns="0" anchor="t">
            <a:spAutoFit/>
          </a:bodyPr>
          <a:lstStyle/>
          <a:p>
            <a:pPr>
              <a:spcAft>
                <a:spcPts val="1200"/>
              </a:spcAft>
            </a:pPr>
            <a:r>
              <a:rPr sz="1600" b="0" i="1">
                <a:solidFill>
                  <a:srgbClr val="002060"/>
                </a:solidFill>
                <a:latin typeface="Calibri"/>
              </a:rPr>
              <a:t>Read as a model-validation exercise, the central finding is a limit on domain of use: each model is fit for purpose within the regime that trained it, and no choice of algorithm moved that limit.</a:t>
            </a:r>
          </a:p>
          <a:p>
            <a:pPr>
              <a:spcAft>
                <a:spcPts val="600"/>
              </a:spcAft>
            </a:pPr>
            <a:r>
              <a:rPr sz="1300" b="0" i="0">
                <a:solidFill>
                  <a:srgbClr val="5A6B85"/>
                </a:solidFill>
                <a:latin typeface="Calibri"/>
              </a:rPr>
              <a:t>Interpretability’s contribution is to validation rather than accuracy: the EBM’s shape functions show which relationships the model relies on, and the structural-break evidence shows when they stopped holding (§6.4).</a:t>
            </a:r>
          </a:p>
        </p:txBody>
      </p:sp>
      <p:sp>
        <p:nvSpPr>
          <p:cNvPr id="5" name="TextBox 4"/>
          <p:cNvSpPr txBox="1"/>
          <p:nvPr/>
        </p:nvSpPr>
        <p:spPr>
          <a:xfrm>
            <a:off x="685800" y="5852160"/>
            <a:ext cx="777240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Supporting material: Appendix A (regime-conditional prototype) · Appendix B (notebook inventory &amp; robustness).</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20</a:t>
            </a:r>
          </a:p>
        </p:txBody>
      </p:sp>
    </p:spTree>
    <p:extLst>
      <p:ext uri="{BB962C8B-B14F-4D97-AF65-F5344CB8AC3E}">
        <p14:creationId xmlns:p14="http://schemas.microsoft.com/office/powerpoint/2010/main" val="968130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Sources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Sources and Attribution (Backup)</a:t>
            </a:r>
          </a:p>
        </p:txBody>
      </p:sp>
      <p:graphicFrame>
        <p:nvGraphicFramePr>
          <p:cNvPr id="4" name="Table 3"/>
          <p:cNvGraphicFramePr>
            <a:graphicFrameLocks noGrp="1"/>
          </p:cNvGraphicFramePr>
          <p:nvPr/>
        </p:nvGraphicFramePr>
        <p:xfrm>
          <a:off x="411480" y="2468880"/>
          <a:ext cx="8321040" cy="34198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10896">
                <a:tc>
                  <a:txBody>
                    <a:bodyPr/>
                    <a:lstStyle/>
                    <a:p>
                      <a:r>
                        <a:rPr sz="1000" b="1" i="0">
                          <a:solidFill>
                            <a:srgbClr val="FFFFFF"/>
                          </a:solidFill>
                          <a:latin typeface="Calibri"/>
                        </a:rPr>
                        <a:t>Source</a:t>
                      </a:r>
                    </a:p>
                  </a:txBody>
                  <a:tcPr marL="54864" marR="54864" marT="18288" marB="18288" anchor="ctr">
                    <a:solidFill>
                      <a:srgbClr val="002060"/>
                    </a:solidFill>
                  </a:tcPr>
                </a:tc>
                <a:tc>
                  <a:txBody>
                    <a:bodyPr/>
                    <a:lstStyle/>
                    <a:p>
                      <a:r>
                        <a:rPr sz="1000" b="1" i="0">
                          <a:solidFill>
                            <a:srgbClr val="FFFFFF"/>
                          </a:solidFill>
                          <a:latin typeface="Calibri"/>
                        </a:rPr>
                        <a:t>Location</a:t>
                      </a:r>
                    </a:p>
                  </a:txBody>
                  <a:tcPr marL="54864" marR="54864" marT="18288" marB="18288" anchor="ctr">
                    <a:solidFill>
                      <a:srgbClr val="002060"/>
                    </a:solidFill>
                  </a:tcPr>
                </a:tc>
                <a:tc>
                  <a:txBody>
                    <a:bodyPr/>
                    <a:lstStyle/>
                    <a:p>
                      <a:r>
                        <a:rPr sz="1000" b="1" i="0">
                          <a:solidFill>
                            <a:srgbClr val="FFFFFF"/>
                          </a:solidFill>
                          <a:latin typeface="Calibri"/>
                        </a:rPr>
                        <a:t>Content used</a:t>
                      </a:r>
                    </a:p>
                  </a:txBody>
                  <a:tcPr marL="54864" marR="54864" marT="18288" marB="18288" anchor="ctr">
                    <a:solidFill>
                      <a:srgbClr val="002060"/>
                    </a:solidFill>
                  </a:tcPr>
                </a:tc>
                <a:extLst>
                  <a:ext uri="{0D108BD9-81ED-4DB2-BD59-A6C34878D82A}">
                    <a16:rowId xmlns:a16="http://schemas.microsoft.com/office/drawing/2014/main" val="10000"/>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Abstract (p.5)</a:t>
                      </a:r>
                    </a:p>
                  </a:txBody>
                  <a:tcPr marL="54864" marR="54864" marT="18288" marB="18288" anchor="ctr">
                    <a:solidFill>
                      <a:srgbClr val="FFFFFF"/>
                    </a:solidFill>
                  </a:tcPr>
                </a:tc>
                <a:tc>
                  <a:txBody>
                    <a:bodyPr/>
                    <a:lstStyle/>
                    <a:p>
                      <a:r>
                        <a:rPr sz="1000" b="0" i="0">
                          <a:solidFill>
                            <a:srgbClr val="222A3F"/>
                          </a:solidFill>
                          <a:latin typeface="Calibri"/>
                        </a:rPr>
                        <a:t>Core-problem framing; closing thesis</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§1.3 (p.7)</a:t>
                      </a:r>
                    </a:p>
                  </a:txBody>
                  <a:tcPr marL="54864" marR="54864" marT="18288" marB="18288" anchor="ctr">
                    <a:solidFill>
                      <a:srgbClr val="FFFFFF"/>
                    </a:solidFill>
                  </a:tcPr>
                </a:tc>
                <a:tc>
                  <a:txBody>
                    <a:bodyPr/>
                    <a:lstStyle/>
                    <a:p>
                      <a:r>
                        <a:rPr sz="1000" b="0" i="0">
                          <a:solidFill>
                            <a:srgbClr val="222A3F"/>
                          </a:solidFill>
                          <a:latin typeface="Calibri"/>
                        </a:rPr>
                        <a:t>Research aim, question and hypotheses H1–H3</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§3.2–§3.5, Table 3.1</a:t>
                      </a:r>
                    </a:p>
                  </a:txBody>
                  <a:tcPr marL="54864" marR="54864" marT="18288" marB="18288" anchor="ctr">
                    <a:solidFill>
                      <a:srgbClr val="FFFFFF"/>
                    </a:solidFill>
                  </a:tcPr>
                </a:tc>
                <a:tc>
                  <a:txBody>
                    <a:bodyPr/>
                    <a:lstStyle/>
                    <a:p>
                      <a:r>
                        <a:rPr sz="1000" b="0" i="0">
                          <a:solidFill>
                            <a:srgbClr val="222A3F"/>
                          </a:solidFill>
                          <a:latin typeface="Calibri"/>
                        </a:rPr>
                        <a:t>Data sources, model specifications, validation design</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Tables 4.1–4.2 (p.21–23)</a:t>
                      </a:r>
                    </a:p>
                  </a:txBody>
                  <a:tcPr marL="54864" marR="54864" marT="18288" marB="18288" anchor="ctr">
                    <a:solidFill>
                      <a:srgbClr val="FFFFFF"/>
                    </a:solidFill>
                  </a:tcPr>
                </a:tc>
                <a:tc>
                  <a:txBody>
                    <a:bodyPr/>
                    <a:lstStyle/>
                    <a:p>
                      <a:r>
                        <a:rPr sz="1000" b="0" i="0">
                          <a:solidFill>
                            <a:srgbClr val="222A3F"/>
                          </a:solidFill>
                          <a:latin typeface="Calibri"/>
                        </a:rPr>
                        <a:t>Stage 1 / Stage 2 model comparison results</a:t>
                      </a:r>
                    </a:p>
                  </a:txBody>
                  <a:tcPr marL="54864" marR="54864" marT="18288" marB="18288" anchor="ctr">
                    <a:solidFill>
                      <a:srgbClr val="FFFFFF"/>
                    </a:solidFill>
                  </a:tcPr>
                </a:tc>
                <a:extLst>
                  <a:ext uri="{0D108BD9-81ED-4DB2-BD59-A6C34878D82A}">
                    <a16:rowId xmlns:a16="http://schemas.microsoft.com/office/drawing/2014/main" val="10004"/>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§4.2.1 (p.25)</a:t>
                      </a:r>
                    </a:p>
                  </a:txBody>
                  <a:tcPr marL="54864" marR="54864" marT="18288" marB="18288" anchor="ctr">
                    <a:solidFill>
                      <a:srgbClr val="FFFFFF"/>
                    </a:solidFill>
                  </a:tcPr>
                </a:tc>
                <a:tc>
                  <a:txBody>
                    <a:bodyPr/>
                    <a:lstStyle/>
                    <a:p>
                      <a:r>
                        <a:rPr sz="1000" b="0" i="0">
                          <a:solidFill>
                            <a:srgbClr val="222A3F"/>
                          </a:solidFill>
                          <a:latin typeface="Calibri"/>
                        </a:rPr>
                        <a:t>matched pairwise algorithm-vs-feature decomposition</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Table 4.4 (p.27), §4.5.1</a:t>
                      </a:r>
                    </a:p>
                  </a:txBody>
                  <a:tcPr marL="54864" marR="54864" marT="18288" marB="18288" anchor="ctr">
                    <a:solidFill>
                      <a:srgbClr val="FFFFFF"/>
                    </a:solidFill>
                  </a:tcPr>
                </a:tc>
                <a:tc>
                  <a:txBody>
                    <a:bodyPr/>
                    <a:lstStyle/>
                    <a:p>
                      <a:r>
                        <a:rPr sz="1000" b="0" i="0">
                          <a:solidFill>
                            <a:srgbClr val="222A3F"/>
                          </a:solidFill>
                          <a:latin typeface="Calibri"/>
                        </a:rPr>
                        <a:t>Strict temporal validation (Splits A–C)</a:t>
                      </a:r>
                    </a:p>
                  </a:txBody>
                  <a:tcPr marL="54864" marR="54864" marT="18288" marB="18288" anchor="ctr">
                    <a:solidFill>
                      <a:srgbClr val="FFFFFF"/>
                    </a:solidFill>
                  </a:tcPr>
                </a:tc>
                <a:extLst>
                  <a:ext uri="{0D108BD9-81ED-4DB2-BD59-A6C34878D82A}">
                    <a16:rowId xmlns:a16="http://schemas.microsoft.com/office/drawing/2014/main" val="10006"/>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Figure 4.7 (p.33)</a:t>
                      </a:r>
                    </a:p>
                  </a:txBody>
                  <a:tcPr marL="54864" marR="54864" marT="18288" marB="18288" anchor="ctr">
                    <a:solidFill>
                      <a:srgbClr val="FFFFFF"/>
                    </a:solidFill>
                  </a:tcPr>
                </a:tc>
                <a:tc>
                  <a:txBody>
                    <a:bodyPr/>
                    <a:lstStyle/>
                    <a:p>
                      <a:r>
                        <a:rPr sz="1000" b="0" i="0">
                          <a:solidFill>
                            <a:srgbClr val="222A3F"/>
                          </a:solidFill>
                          <a:latin typeface="Calibri"/>
                        </a:rPr>
                        <a:t>EBM shape functions across two nested training windows</a:t>
                      </a:r>
                    </a:p>
                  </a:txBody>
                  <a:tcPr marL="54864" marR="54864" marT="18288" marB="18288" anchor="ctr">
                    <a:solidFill>
                      <a:srgbClr val="FFFFFF"/>
                    </a:solidFill>
                  </a:tcPr>
                </a:tc>
                <a:extLst>
                  <a:ext uri="{0D108BD9-81ED-4DB2-BD59-A6C34878D82A}">
                    <a16:rowId xmlns:a16="http://schemas.microsoft.com/office/drawing/2014/main" val="10007"/>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§4.9.1, §4.9.4–§4.9.7 (p.35–38)</a:t>
                      </a:r>
                    </a:p>
                  </a:txBody>
                  <a:tcPr marL="54864" marR="54864" marT="18288" marB="18288" anchor="ctr">
                    <a:solidFill>
                      <a:srgbClr val="FFFFFF"/>
                    </a:solidFill>
                  </a:tcPr>
                </a:tc>
                <a:tc>
                  <a:txBody>
                    <a:bodyPr/>
                    <a:lstStyle/>
                    <a:p>
                      <a:r>
                        <a:rPr sz="1000" b="0" i="0">
                          <a:solidFill>
                            <a:srgbClr val="222A3F"/>
                          </a:solidFill>
                          <a:latin typeface="Calibri"/>
                        </a:rPr>
                        <a:t>Multiple-testing corrections; panel logistic; structural break test</a:t>
                      </a:r>
                    </a:p>
                  </a:txBody>
                  <a:tcPr marL="54864" marR="54864" marT="18288" marB="18288" anchor="ctr">
                    <a:solidFill>
                      <a:srgbClr val="FFFFFF"/>
                    </a:solidFill>
                  </a:tcPr>
                </a:tc>
                <a:extLst>
                  <a:ext uri="{0D108BD9-81ED-4DB2-BD59-A6C34878D82A}">
                    <a16:rowId xmlns:a16="http://schemas.microsoft.com/office/drawing/2014/main" val="10008"/>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Figures 4.1, 4.3, 4.11</a:t>
                      </a:r>
                    </a:p>
                  </a:txBody>
                  <a:tcPr marL="54864" marR="54864" marT="18288" marB="18288" anchor="ctr">
                    <a:solidFill>
                      <a:srgbClr val="FFFFFF"/>
                    </a:solidFill>
                  </a:tcPr>
                </a:tc>
                <a:tc>
                  <a:txBody>
                    <a:bodyPr/>
                    <a:lstStyle/>
                    <a:p>
                      <a:r>
                        <a:rPr sz="1000" b="0" i="0">
                          <a:solidFill>
                            <a:srgbClr val="222A3F"/>
                          </a:solidFill>
                          <a:latin typeface="Calibri"/>
                        </a:rPr>
                        <a:t>ROC/PR curves; LOCO; 2007 country ranking</a:t>
                      </a:r>
                    </a:p>
                  </a:txBody>
                  <a:tcPr marL="54864" marR="54864" marT="18288" marB="18288" anchor="ctr">
                    <a:solidFill>
                      <a:srgbClr val="FFFFFF"/>
                    </a:solidFill>
                  </a:tcPr>
                </a:tc>
                <a:extLst>
                  <a:ext uri="{0D108BD9-81ED-4DB2-BD59-A6C34878D82A}">
                    <a16:rowId xmlns:a16="http://schemas.microsoft.com/office/drawing/2014/main" val="10009"/>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§6.2.1, §5.6, §6.4 (p.51–60)</a:t>
                      </a:r>
                    </a:p>
                  </a:txBody>
                  <a:tcPr marL="54864" marR="54864" marT="18288" marB="18288" anchor="ctr">
                    <a:solidFill>
                      <a:srgbClr val="FFFFFF"/>
                    </a:solidFill>
                  </a:tcPr>
                </a:tc>
                <a:tc>
                  <a:txBody>
                    <a:bodyPr/>
                    <a:lstStyle/>
                    <a:p>
                      <a:r>
                        <a:rPr sz="1000" b="0" i="0">
                          <a:solidFill>
                            <a:srgbClr val="222A3F"/>
                          </a:solidFill>
                          <a:latin typeface="Calibri"/>
                        </a:rPr>
                        <a:t>Key conclusions, recommendations, closing reflection</a:t>
                      </a:r>
                    </a:p>
                  </a:txBody>
                  <a:tcPr marL="54864" marR="54864" marT="18288" marB="18288"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411480" y="6035040"/>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All figures and tables are reproduced from Dissertation_V_49; all metrics computed in the accompanying notebooks (Appendix B inventory).</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Original Contributions of This Work (Backup)</a:t>
            </a:r>
          </a:p>
        </p:txBody>
      </p:sp>
      <p:graphicFrame>
        <p:nvGraphicFramePr>
          <p:cNvPr id="4" name="Table 3"/>
          <p:cNvGraphicFramePr>
            <a:graphicFrameLocks noGrp="1"/>
          </p:cNvGraphicFramePr>
          <p:nvPr/>
        </p:nvGraphicFramePr>
        <p:xfrm>
          <a:off x="411480" y="2468880"/>
          <a:ext cx="8321040" cy="34198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10896">
                <a:tc>
                  <a:txBody>
                    <a:bodyPr/>
                    <a:lstStyle/>
                    <a:p>
                      <a:r>
                        <a:rPr sz="1000" b="1" i="0">
                          <a:solidFill>
                            <a:srgbClr val="FFFFFF"/>
                          </a:solidFill>
                          <a:latin typeface="Calibri"/>
                        </a:rPr>
                        <a:t>Contribution</a:t>
                      </a:r>
                    </a:p>
                  </a:txBody>
                  <a:tcPr marL="54864" marR="54864" marT="18288" marB="18288" anchor="ctr">
                    <a:solidFill>
                      <a:srgbClr val="002060"/>
                    </a:solidFill>
                  </a:tcPr>
                </a:tc>
                <a:tc>
                  <a:txBody>
                    <a:bodyPr/>
                    <a:lstStyle/>
                    <a:p>
                      <a:r>
                        <a:rPr sz="1000" b="1" i="0">
                          <a:solidFill>
                            <a:srgbClr val="FFFFFF"/>
                          </a:solidFill>
                          <a:latin typeface="Calibri"/>
                        </a:rPr>
                        <a:t>What is original</a:t>
                      </a:r>
                    </a:p>
                  </a:txBody>
                  <a:tcPr marL="54864" marR="54864" marT="18288" marB="18288" anchor="ctr">
                    <a:solidFill>
                      <a:srgbClr val="002060"/>
                    </a:solidFill>
                  </a:tcPr>
                </a:tc>
                <a:extLst>
                  <a:ext uri="{0D108BD9-81ED-4DB2-BD59-A6C34878D82A}">
                    <a16:rowId xmlns:a16="http://schemas.microsoft.com/office/drawing/2014/main" val="10000"/>
                  </a:ext>
                </a:extLst>
                <a:tc>
                  <a:txBody>
                    <a:bodyPr/>
                    <a:lstStyle/>
                    <a:p>
                      <a:r>
                        <a:rPr sz="1000" b="1" i="0">
                          <a:solidFill>
                            <a:srgbClr val="FFFFFF"/>
                          </a:solidFill>
                          <a:latin typeface="Calibri"/>
                        </a:rPr>
                        <a:t>Anchor evidence</a:t>
                      </a:r>
                    </a:p>
                  </a:txBody>
                  <a:tcPr marL="54864" marR="54864" marT="18288" marB="18288" anchor="ctr">
                    <a:solidFill>
                      <a:srgbClr val="002060"/>
                    </a:solidFill>
                  </a:tcPr>
                </a:tc>
              </a:tr>
              <a:tr h="310896">
                <a:tc>
                  <a:txBody>
                    <a:bodyPr/>
                    <a:lstStyle/>
                    <a:p>
                      <a:r>
                        <a:rPr sz="1000" b="0" i="0">
                          <a:solidFill>
                            <a:srgbClr val="222A3F"/>
                          </a:solidFill>
                          <a:latin typeface="Calibri"/>
                        </a:rPr>
                        <a:t>Empirical</a:t>
                      </a:r>
                    </a:p>
                  </a:txBody>
                  <a:tcPr marL="54864" marR="54864" marT="18288" marB="18288" anchor="ctr">
                    <a:solidFill>
                      <a:srgbClr val="FFFFFF"/>
                    </a:solidFill>
                  </a:tcPr>
                </a:tc>
                <a:tc>
                  <a:txBody>
                    <a:bodyPr/>
                    <a:lstStyle/>
                    <a:p>
                      <a:r>
                        <a:rPr sz="1000" b="0" i="0">
                          <a:solidFill>
                            <a:srgbClr val="222A3F"/>
                          </a:solidFill>
                          <a:latin typeface="Calibri"/>
                        </a:rPr>
                        <a:t>Extending training history does not resolve prospective failure</a:t>
                      </a:r>
                    </a:p>
                  </a:txBody>
                  <a:tcPr marL="54864" marR="54864" marT="18288" marB="18288" anchor="ctr">
                    <a:solidFill>
                      <a:srgbClr val="FFFFFF"/>
                    </a:solidFill>
                  </a:tcPr>
                </a:tc>
                <a:extLst>
                  <a:ext uri="{0D108BD9-81ED-4DB2-BD59-A6C34878D82A}">
                    <a16:rowId xmlns:a16="http://schemas.microsoft.com/office/drawing/2014/main" val="10001"/>
                  </a:ext>
                </a:extLst>
                <a:tc>
                  <a:txBody>
                    <a:bodyPr/>
                    <a:lstStyle/>
                    <a:p>
                      <a:r>
                        <a:rPr sz="1000" b="0" i="0">
                          <a:solidFill>
                            <a:srgbClr val="222A3F"/>
                          </a:solidFill>
                          <a:latin typeface="Calibri"/>
                        </a:rPr>
                        <a:t>Split B: both models below random (§6.2.1)</a:t>
                      </a:r>
                    </a:p>
                  </a:txBody>
                  <a:tcPr marL="54864" marR="54864" marT="18288" marB="18288" anchor="ctr">
                    <a:solidFill>
                      <a:srgbClr val="FFFFFF"/>
                    </a:solidFill>
                  </a:tcPr>
                </a:tc>
              </a:tr>
              <a:tr h="310896">
                <a:tc>
                  <a:txBody>
                    <a:bodyPr/>
                    <a:lstStyle/>
                    <a:p>
                      <a:r>
                        <a:rPr sz="1000" b="0" i="0">
                          <a:solidFill>
                            <a:srgbClr val="222A3F"/>
                          </a:solidFill>
                          <a:latin typeface="Calibri"/>
                        </a:rPr>
                        <a:t>Methodological</a:t>
                      </a:r>
                    </a:p>
                  </a:txBody>
                  <a:tcPr marL="54864" marR="54864" marT="18288" marB="18288" anchor="ctr">
                    <a:solidFill>
                      <a:srgbClr val="FFFFFF"/>
                    </a:solidFill>
                  </a:tcPr>
                </a:tc>
                <a:tc>
                  <a:txBody>
                    <a:bodyPr/>
                    <a:lstStyle/>
                    <a:p>
                      <a:r>
                        <a:rPr sz="1000" b="0" i="0">
                          <a:solidFill>
                            <a:srgbClr val="222A3F"/>
                          </a:solidFill>
                          <a:latin typeface="Calibri"/>
                        </a:rPr>
                        <a:t>Quantifies expanding-window evaluation bias vs strict temporal results</a:t>
                      </a:r>
                    </a:p>
                  </a:txBody>
                  <a:tcPr marL="54864" marR="54864" marT="18288" marB="18288" anchor="ctr">
                    <a:solidFill>
                      <a:srgbClr val="FFFFFF"/>
                    </a:solidFill>
                  </a:tcPr>
                </a:tc>
                <a:extLst>
                  <a:ext uri="{0D108BD9-81ED-4DB2-BD59-A6C34878D82A}">
                    <a16:rowId xmlns:a16="http://schemas.microsoft.com/office/drawing/2014/main" val="10002"/>
                  </a:ext>
                </a:extLst>
                <a:tc>
                  <a:txBody>
                    <a:bodyPr/>
                    <a:lstStyle/>
                    <a:p>
                      <a:r>
                        <a:rPr sz="1000" b="0" i="0">
                          <a:solidFill>
                            <a:srgbClr val="222A3F"/>
                          </a:solidFill>
                          <a:latin typeface="Calibri"/>
                        </a:rPr>
                        <a:t>§4.1 upper bounds vs §4.5 Split B collapse</a:t>
                      </a:r>
                    </a:p>
                  </a:txBody>
                  <a:tcPr marL="54864" marR="54864" marT="18288" marB="18288" anchor="ctr">
                    <a:solidFill>
                      <a:srgbClr val="FFFFFF"/>
                    </a:solidFill>
                  </a:tcPr>
                </a:tc>
              </a:tr>
              <a:tr h="310896">
                <a:tc>
                  <a:txBody>
                    <a:bodyPr/>
                    <a:lstStyle/>
                    <a:p>
                      <a:r>
                        <a:rPr sz="1000" b="0" i="0">
                          <a:solidFill>
                            <a:srgbClr val="222A3F"/>
                          </a:solidFill>
                          <a:latin typeface="Calibri"/>
                        </a:rPr>
                        <a:t>Interpretability</a:t>
                      </a:r>
                    </a:p>
                  </a:txBody>
                  <a:tcPr marL="54864" marR="54864" marT="18288" marB="18288" anchor="ctr">
                    <a:solidFill>
                      <a:srgbClr val="FFFFFF"/>
                    </a:solidFill>
                  </a:tcPr>
                </a:tc>
                <a:tc>
                  <a:txBody>
                    <a:bodyPr/>
                    <a:lstStyle/>
                    <a:p>
                      <a:r>
                        <a:rPr sz="1000" b="0" i="0">
                          <a:solidFill>
                            <a:srgbClr val="222A3F"/>
                          </a:solidFill>
                          <a:latin typeface="Calibri"/>
                        </a:rPr>
                        <a:t>EBM shape functions expose training-window instability — no post-hoc step</a:t>
                      </a:r>
                    </a:p>
                  </a:txBody>
                  <a:tcPr marL="54864" marR="54864" marT="18288" marB="18288" anchor="ctr">
                    <a:solidFill>
                      <a:srgbClr val="FFFFFF"/>
                    </a:solidFill>
                  </a:tcPr>
                </a:tc>
                <a:extLst>
                  <a:ext uri="{0D108BD9-81ED-4DB2-BD59-A6C34878D82A}">
                    <a16:rowId xmlns:a16="http://schemas.microsoft.com/office/drawing/2014/main" val="10003"/>
                  </a:ext>
                </a:extLst>
                <a:tc>
                  <a:txBody>
                    <a:bodyPr/>
                    <a:lstStyle/>
                    <a:p>
                      <a:r>
                        <a:rPr sz="1000" b="0" i="0">
                          <a:solidFill>
                            <a:srgbClr val="222A3F"/>
                          </a:solidFill>
                          <a:latin typeface="Calibri"/>
                        </a:rPr>
                        <a:t>Figure 4.7 sign inversions (§4.7.3)</a:t>
                      </a:r>
                    </a:p>
                  </a:txBody>
                  <a:tcPr marL="54864" marR="54864" marT="18288" marB="18288" anchor="ctr">
                    <a:solidFill>
                      <a:srgbClr val="FFFFFF"/>
                    </a:solidFill>
                  </a:tcPr>
                </a:tc>
              </a:tr>
              <a:tr h="310896">
                <a:tc>
                  <a:txBody>
                    <a:bodyPr/>
                    <a:lstStyle/>
                    <a:p>
                      <a:r>
                        <a:rPr sz="1000" b="0" i="0">
                          <a:solidFill>
                            <a:srgbClr val="222A3F"/>
                          </a:solidFill>
                          <a:latin typeface="Calibri"/>
                        </a:rPr>
                        <a:t>Theoretical</a:t>
                      </a:r>
                    </a:p>
                  </a:txBody>
                  <a:tcPr marL="54864" marR="54864" marT="18288" marB="18288" anchor="ctr">
                    <a:solidFill>
                      <a:srgbClr val="FFFFFF"/>
                    </a:solidFill>
                  </a:tcPr>
                </a:tc>
                <a:tc>
                  <a:txBody>
                    <a:bodyPr/>
                    <a:lstStyle/>
                    <a:p>
                      <a:r>
                        <a:rPr sz="1000" b="0" i="0">
                          <a:solidFill>
                            <a:srgbClr val="222A3F"/>
                          </a:solidFill>
                          <a:latin typeface="Calibri"/>
                        </a:rPr>
                        <a:t>Convergent, mechanism-level evidence consistent with structural non-stationarity rather than algorithm choice; sparse-sample instability not excluded</a:t>
                      </a:r>
                    </a:p>
                  </a:txBody>
                  <a:tcPr marL="54864" marR="54864" marT="18288" marB="18288" anchor="ctr">
                    <a:solidFill>
                      <a:srgbClr val="FFFFFF"/>
                    </a:solidFill>
                  </a:tcPr>
                </a:tc>
                <a:extLst>
                  <a:ext uri="{0D108BD9-81ED-4DB2-BD59-A6C34878D82A}">
                    <a16:rowId xmlns:a16="http://schemas.microsoft.com/office/drawing/2014/main" val="10004"/>
                  </a:ext>
                </a:extLst>
                <a:tc>
                  <a:txBody>
                    <a:bodyPr/>
                    <a:lstStyle/>
                    <a:p>
                      <a:r>
                        <a:rPr sz="1000" b="0" i="0">
                          <a:solidFill>
                            <a:srgbClr val="222A3F"/>
                          </a:solidFill>
                          <a:latin typeface="Calibri"/>
                        </a:rPr>
                        <a:t>Structural break §4.9.7 + panel logistic §4.9.5</a:t>
                      </a:r>
                    </a:p>
                  </a:txBody>
                  <a:tcPr marL="54864" marR="54864" marT="18288" marB="18288" anchor="ctr">
                    <a:solidFill>
                      <a:srgbClr val="FFFFFF"/>
                    </a:solidFill>
                  </a:tcPr>
                </a:tc>
              </a:tr>
            </a:tbl>
          </a:graphicData>
        </a:graphic>
      </p:graphicFrame>
      <p:sp>
        <p:nvSpPr>
          <p:cNvPr id="5" name="TextBox 4"/>
          <p:cNvSpPr txBox="1"/>
          <p:nvPr/>
        </p:nvSpPr>
        <p:spPr>
          <a:xfrm>
            <a:off x="411480" y="6035040"/>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Backup slide — not presented. Four contributions per §1.4, with primary anchor evidence.</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Granger Causality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Granger Causality: Do the Predictors Lead Crisis Onset?</a:t>
            </a:r>
          </a:p>
        </p:txBody>
      </p:sp>
      <p:sp>
        <p:nvSpPr>
          <p:cNvPr id="4" name="TextBox 3"/>
          <p:cNvSpPr txBox="1"/>
          <p:nvPr/>
        </p:nvSpPr>
        <p:spPr>
          <a:xfrm>
            <a:off x="411480" y="2651760"/>
            <a:ext cx="8321040" cy="3291840"/>
          </a:xfrm>
          <a:prstGeom prst="rect">
            <a:avLst/>
          </a:prstGeom>
          <a:noFill/>
        </p:spPr>
        <p:txBody>
          <a:bodyPr wrap="square" lIns="0" tIns="0" rIns="0" bIns="0" anchor="t">
            <a:spAutoFit/>
          </a:bodyPr>
          <a:lstStyle/>
          <a:p>
            <a:pPr>
              <a:spcAft>
                <a:spcPts val="1200"/>
              </a:spcAft>
            </a:pPr>
            <a:r>
              <a:rPr sz="1400" b="1" i="0">
                <a:solidFill>
                  <a:srgbClr val="002060"/>
                </a:solidFill>
                <a:latin typeface="Calibri"/>
              </a:rPr>
              <a:t>–  </a:t>
            </a:r>
            <a:r>
              <a:rPr sz="1600" b="1" i="0">
                <a:solidFill>
                  <a:srgbClr val="002060"/>
                </a:solidFill>
                <a:latin typeface="Calibri"/>
              </a:rPr>
              <a:t>Why run it — </a:t>
            </a:r>
            <a:r>
              <a:rPr sz="1400" b="0" i="0">
                <a:solidFill>
                  <a:srgbClr val="222A3F"/>
                </a:solidFill>
                <a:latin typeface="Calibri"/>
              </a:rPr>
              <a:t>a model-independent check of whether a predictor’s own lagged values improve the prediction of crisis onset beyond the panel’s existing information (F-test on lagged coefficients, demeaned features). It guards against reading in-sample ML attribution (SHAP / EBM importance) as genuine predictive signal.</a:t>
            </a:r>
          </a:p>
          <a:p>
            <a:pPr>
              <a:spcAft>
                <a:spcPts val="1200"/>
              </a:spcAft>
            </a:pPr>
            <a:r>
              <a:rPr sz="1400" b="1" i="0">
                <a:solidFill>
                  <a:srgbClr val="002060"/>
                </a:solidFill>
                <a:latin typeface="Calibri"/>
              </a:rPr>
              <a:t>–  </a:t>
            </a:r>
            <a:r>
              <a:rPr sz="1600" b="1" i="0">
                <a:solidFill>
                  <a:srgbClr val="2E7D45"/>
                </a:solidFill>
                <a:latin typeface="Calibri"/>
              </a:rPr>
              <a:t>84 macro tests — </a:t>
            </a:r>
            <a:r>
              <a:rPr sz="1400" b="0" i="0">
                <a:solidFill>
                  <a:srgbClr val="222A3F"/>
                </a:solidFill>
                <a:latin typeface="Calibri"/>
              </a:rPr>
              <a:t>credit growth and term spread, each at lags 1–3, across 14 of 18 countries (4 dropped: a constant crisis indicator makes the F-test uncomputable). 16 reach nominal 5% significance vs ≈4.2 expected by chance, with term-spread significance clustering at lag 3 (5 countries).</a:t>
            </a:r>
          </a:p>
          <a:p>
            <a:pPr>
              <a:spcAft>
                <a:spcPts val="1200"/>
              </a:spcAft>
            </a:pPr>
            <a:r>
              <a:rPr sz="1400" b="1" i="0">
                <a:solidFill>
                  <a:srgbClr val="002060"/>
                </a:solidFill>
                <a:latin typeface="Calibri"/>
              </a:rPr>
              <a:t>–  </a:t>
            </a:r>
            <a:r>
              <a:rPr sz="1600" b="1" i="0">
                <a:solidFill>
                  <a:srgbClr val="4400A9"/>
                </a:solidFill>
                <a:latin typeface="Calibri"/>
              </a:rPr>
              <a:t>1 / 84 survive correction — </a:t>
            </a:r>
            <a:r>
              <a:rPr sz="1400" b="0" i="0">
                <a:solidFill>
                  <a:srgbClr val="222A3F"/>
                </a:solidFill>
                <a:latin typeface="Calibri"/>
              </a:rPr>
              <a:t>under Bonferroni (α/m ≈ 0.000595) and Benjamini–Hochberg (q = 0.05), only USA credit growth at lag 3 survives (p = 0.000015, clearing the threshold ≈40×). None of the five term_spread_lag3 results survives, so the lag-3 concentration is descriptive — consistent with EBM importance (1.717) but not confirmation; the shape-function reversal (§4.7.3) is the stronger evidence.</a:t>
            </a:r>
          </a:p>
          <a:p>
            <a:pPr>
              <a:spcAft>
                <a:spcPts val="1200"/>
              </a:spcAft>
            </a:pPr>
            <a:r>
              <a:rPr sz="1400" b="1" i="0">
                <a:solidFill>
                  <a:srgbClr val="002060"/>
                </a:solidFill>
                <a:latin typeface="Calibri"/>
              </a:rPr>
              <a:t>–  </a:t>
            </a:r>
            <a:r>
              <a:rPr sz="1600" b="1" i="0">
                <a:solidFill>
                  <a:srgbClr val="9E2A2B"/>
                </a:solidFill>
                <a:latin typeface="Calibri"/>
              </a:rPr>
              <a:t>0 / 156 sentiment tests survive — </a:t>
            </a:r>
            <a:r>
              <a:rPr sz="1400" b="0" i="0">
                <a:solidFill>
                  <a:srgbClr val="222A3F"/>
                </a:solidFill>
                <a:latin typeface="Calibri"/>
              </a:rPr>
              <a:t>FinBERT sentiment on the 2003–2020 panel: 17 of 156 nominally significant (vs 7.8 expected), none surviving BH or Bonferroni. This corroborates the H1 “not confirmed” verdict independently of any model (§4.9.4).</a:t>
            </a:r>
          </a:p>
        </p:txBody>
      </p:sp>
      <p:sp>
        <p:nvSpPr>
          <p:cNvPr id="5" name="TextBox 4"/>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15</a:t>
            </a:r>
          </a:p>
        </p:txBody>
      </p:sp>
    </p:spTree>
    <p:extLst>
      <p:ext uri="{BB962C8B-B14F-4D97-AF65-F5344CB8AC3E}">
        <p14:creationId xmlns:p14="http://schemas.microsoft.com/office/powerpoint/2010/main" val="40666343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20836</TotalTime>
  <Words>3620</Words>
  <Application>Microsoft Office PowerPoint</Application>
  <PresentationFormat>On-screen Show (4:3)</PresentationFormat>
  <Paragraphs>268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Calibri Light</vt:lpstr>
      <vt:lpstr>Lato</vt:lpstr>
      <vt:lpstr>Montserrat</vt:lpstr>
      <vt:lpstr>Montserrat Medium</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Brazier, Suzanne C</dc:creator>
  <cp:lastModifiedBy>pavlos papachristos</cp:lastModifiedBy>
  <cp:revision>413</cp:revision>
  <dcterms:created xsi:type="dcterms:W3CDTF">2019-05-01T15:27:08Z</dcterms:created>
  <dcterms:modified xsi:type="dcterms:W3CDTF">2026-07-19T16:08:53Z</dcterms:modified>
</cp:coreProperties>
</file>